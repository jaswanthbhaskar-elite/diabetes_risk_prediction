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wanth ." userId="969a6a7619fff999" providerId="LiveId" clId="{14BA20F5-09E2-4F04-B0FC-87DADEF85DEA}"/>
    <pc:docChg chg="modSld">
      <pc:chgData name="jaswanth ." userId="969a6a7619fff999" providerId="LiveId" clId="{14BA20F5-09E2-4F04-B0FC-87DADEF85DEA}" dt="2026-08-31T04:15:01.908" v="187" actId="207"/>
      <pc:docMkLst>
        <pc:docMk/>
      </pc:docMkLst>
      <pc:sldChg chg="modSp mod">
        <pc:chgData name="jaswanth ." userId="969a6a7619fff999" providerId="LiveId" clId="{14BA20F5-09E2-4F04-B0FC-87DADEF85DEA}" dt="2026-08-31T04:15:01.908" v="187" actId="207"/>
        <pc:sldMkLst>
          <pc:docMk/>
          <pc:sldMk cId="0" sldId="256"/>
        </pc:sldMkLst>
        <pc:spChg chg="mod">
          <ac:chgData name="jaswanth ." userId="969a6a7619fff999" providerId="LiveId" clId="{14BA20F5-09E2-4F04-B0FC-87DADEF85DEA}" dt="2026-08-31T03:56:05.945" v="65" actId="20577"/>
          <ac:spMkLst>
            <pc:docMk/>
            <pc:sldMk cId="0" sldId="256"/>
            <ac:spMk id="10" creationId="{00000000-0000-0000-0000-000000000000}"/>
          </ac:spMkLst>
        </pc:spChg>
        <pc:spChg chg="mod">
          <ac:chgData name="jaswanth ." userId="969a6a7619fff999" providerId="LiveId" clId="{14BA20F5-09E2-4F04-B0FC-87DADEF85DEA}" dt="2026-08-31T03:56:17.837" v="141" actId="20577"/>
          <ac:spMkLst>
            <pc:docMk/>
            <pc:sldMk cId="0" sldId="256"/>
            <ac:spMk id="11" creationId="{00000000-0000-0000-0000-000000000000}"/>
          </ac:spMkLst>
        </pc:spChg>
        <pc:spChg chg="mod">
          <ac:chgData name="jaswanth ." userId="969a6a7619fff999" providerId="LiveId" clId="{14BA20F5-09E2-4F04-B0FC-87DADEF85DEA}" dt="2026-08-31T03:56:24.682" v="151" actId="20577"/>
          <ac:spMkLst>
            <pc:docMk/>
            <pc:sldMk cId="0" sldId="256"/>
            <ac:spMk id="12" creationId="{00000000-0000-0000-0000-000000000000}"/>
          </ac:spMkLst>
        </pc:spChg>
        <pc:spChg chg="mod">
          <ac:chgData name="jaswanth ." userId="969a6a7619fff999" providerId="LiveId" clId="{14BA20F5-09E2-4F04-B0FC-87DADEF85DEA}" dt="2026-08-31T04:15:01.908" v="187" actId="207"/>
          <ac:spMkLst>
            <pc:docMk/>
            <pc:sldMk cId="0" sldId="256"/>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377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the project title, and mention this is a Machine Learning project comparing Logistic Regression and Random Forest for diabetes risk prediction, guided by [Faculty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diabetes is a widespread chronic disease and that catching risk early helps with timely care. Mention that ML can find patterns in patient data that are hard to spot manually, and that our project predicts diabetes-positive vs diabetes-negative.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in one breath: we use a 100,000-record Kaggle dataset, do preprocessing and EDA, train Logistic Regression and Random Forest, compare them with Stratified 5-Fold Cross-Validation, and evaluate with standard metrics. Emphasize clearly that this is a risk-assessment tool, not a diagnostic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real-world challenge: manually reviewing many patient attributes is hard. Then state our objective: build and compare two ML models to see which predicts diabetes outcome better on this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dataset: 100,000 records, 9 columns. List the 8 input features and mention that 'diabetes' is the binary target (0 = negative, 1 = positive). Point out which features are categorical, binary, and numerical using the 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preprocessing pipeline step by step: loading data, checking missing values/duplicates, encoding categorical features, and splitting into train/test using a Scikit-learn Pipeline to avoid data leakage. Then mention what we explore in EDA: class balance, feature distributions, and correlations. Be clear that we will only report real numbers once we run the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Logistic Regression simply: it estimates class probability and uses a threshold to decide 0 or 1. Then explain Random Forest: many decision trees vote together for a final prediction, and it can capture nonlinear patterns. Finally explain Stratified 5-Fold Cross-Validation as our evaluation method — not an algorithm — that keeps class balance consistent across folds.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flow diagram from left to right, top to bottom: starting from the raw dataset, through cleaning, EDA, train/test split, model training, cross-validation, predictions, evaluation, and finally model comparison.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results table currently shows placeholders because we have not finished running the final models on the new 100,000-record dataset. State that we will fill in Accuracy, Precision, Recall, F1-Score, ROC-AUC and mean CV accuracy for both models once training is complete, and that no fabricated numbers are used.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that this project shows how ML can support diabetes risk prediction, that we compared two different models fairly using cross-validation, and that the best model will be chosen using multiple metrics — not accuracy alone. End by reminding the audience this is a predictive tool, not a medical diagnostic system, and thank them for listening.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a:effectLst/>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028090">
              <a:alpha val="30000"/>
            </a:srgbClr>
          </a:solidFill>
          <a:ln/>
        </p:spPr>
        <p:txBody>
          <a:bodyPr/>
          <a:lstStyle/>
          <a:p>
            <a:endParaRPr lang="en-IN"/>
          </a:p>
        </p:txBody>
      </p:sp>
      <p:sp>
        <p:nvSpPr>
          <p:cNvPr id="3" name="Shape 1"/>
          <p:cNvSpPr/>
          <p:nvPr/>
        </p:nvSpPr>
        <p:spPr>
          <a:xfrm>
            <a:off x="-1371600" y="4389120"/>
            <a:ext cx="3657600" cy="3657600"/>
          </a:xfrm>
          <a:prstGeom prst="ellipse">
            <a:avLst/>
          </a:prstGeom>
          <a:solidFill>
            <a:srgbClr val="00A896">
              <a:alpha val="25000"/>
            </a:srgbClr>
          </a:solidFill>
          <a:ln/>
        </p:spPr>
        <p:txBody>
          <a:bodyPr/>
          <a:lstStyle/>
          <a:p>
            <a:endParaRPr lang="en-IN"/>
          </a:p>
        </p:txBody>
      </p:sp>
      <p:sp>
        <p:nvSpPr>
          <p:cNvPr id="4" name="Shape 2"/>
          <p:cNvSpPr/>
          <p:nvPr/>
        </p:nvSpPr>
        <p:spPr>
          <a:xfrm>
            <a:off x="5440680" y="777240"/>
            <a:ext cx="1280160" cy="1280160"/>
          </a:xfrm>
          <a:prstGeom prst="ellipse">
            <a:avLst/>
          </a:prstGeom>
          <a:solidFill>
            <a:srgbClr val="028090"/>
          </a:solidFill>
          <a:ln/>
        </p:spPr>
        <p:txBody>
          <a:bodyPr/>
          <a:lstStyle/>
          <a:p>
            <a:endParaRPr lang="en-IN"/>
          </a:p>
        </p:txBody>
      </p:sp>
      <p:pic>
        <p:nvPicPr>
          <p:cNvPr id="5" name="Image 0" descr="/home/claude/diabetes_ppt/heartbeat.png"/>
          <p:cNvPicPr>
            <a:picLocks noChangeAspect="1"/>
          </p:cNvPicPr>
          <p:nvPr/>
        </p:nvPicPr>
        <p:blipFill>
          <a:blip r:embed="rId3"/>
          <a:stretch>
            <a:fillRect/>
          </a:stretch>
        </p:blipFill>
        <p:spPr>
          <a:xfrm>
            <a:off x="5773522" y="1110082"/>
            <a:ext cx="614477" cy="614477"/>
          </a:xfrm>
          <a:prstGeom prst="rect">
            <a:avLst/>
          </a:prstGeom>
        </p:spPr>
      </p:pic>
      <p:sp>
        <p:nvSpPr>
          <p:cNvPr id="6" name="Text 3"/>
          <p:cNvSpPr/>
          <p:nvPr/>
        </p:nvSpPr>
        <p:spPr>
          <a:xfrm>
            <a:off x="731520" y="2331720"/>
            <a:ext cx="10698480" cy="64008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DIABETES RISK PREDICTION</a:t>
            </a:r>
            <a:endParaRPr lang="en-US" sz="3400" dirty="0"/>
          </a:p>
        </p:txBody>
      </p:sp>
      <p:sp>
        <p:nvSpPr>
          <p:cNvPr id="7" name="Text 4"/>
          <p:cNvSpPr/>
          <p:nvPr/>
        </p:nvSpPr>
        <p:spPr>
          <a:xfrm>
            <a:off x="1188720" y="2971800"/>
            <a:ext cx="9784080" cy="548640"/>
          </a:xfrm>
          <a:prstGeom prst="rect">
            <a:avLst/>
          </a:prstGeom>
          <a:noFill/>
          <a:ln/>
        </p:spPr>
        <p:txBody>
          <a:bodyPr wrap="square" rtlCol="0" anchor="ctr"/>
          <a:lstStyle/>
          <a:p>
            <a:pPr marL="0" indent="0" algn="ctr">
              <a:buNone/>
            </a:pPr>
            <a:r>
              <a:rPr lang="en-US" sz="1700" i="1" dirty="0">
                <a:solidFill>
                  <a:srgbClr val="CADCDC"/>
                </a:solidFill>
                <a:latin typeface="Calibri" pitchFamily="34" charset="0"/>
                <a:ea typeface="Calibri" pitchFamily="34" charset="-122"/>
                <a:cs typeface="Calibri" pitchFamily="34" charset="-120"/>
              </a:rPr>
              <a:t>Using Logistic Regression and Random Forest with Cross-Validation</a:t>
            </a:r>
            <a:endParaRPr lang="en-US" sz="1700" dirty="0"/>
          </a:p>
        </p:txBody>
      </p:sp>
      <p:sp>
        <p:nvSpPr>
          <p:cNvPr id="8" name="Text 5"/>
          <p:cNvSpPr/>
          <p:nvPr/>
        </p:nvSpPr>
        <p:spPr>
          <a:xfrm>
            <a:off x="1188720" y="3794760"/>
            <a:ext cx="9784080" cy="365760"/>
          </a:xfrm>
          <a:prstGeom prst="rect">
            <a:avLst/>
          </a:prstGeom>
          <a:noFill/>
          <a:ln/>
        </p:spPr>
        <p:txBody>
          <a:bodyPr wrap="square" rtlCol="0" anchor="ctr"/>
          <a:lstStyle/>
          <a:p>
            <a:pPr marL="0" indent="0" algn="ctr">
              <a:buNone/>
            </a:pPr>
            <a:r>
              <a:rPr lang="en-US" sz="1300" dirty="0">
                <a:solidFill>
                  <a:srgbClr val="00A896"/>
                </a:solidFill>
                <a:latin typeface="Calibri" pitchFamily="34" charset="0"/>
                <a:ea typeface="Calibri" pitchFamily="34" charset="-122"/>
                <a:cs typeface="Calibri" pitchFamily="34" charset="-120"/>
              </a:rPr>
              <a:t>Machine Learning Project — College Review</a:t>
            </a:r>
            <a:endParaRPr lang="en-US" sz="1300" dirty="0"/>
          </a:p>
        </p:txBody>
      </p:sp>
      <p:sp>
        <p:nvSpPr>
          <p:cNvPr id="9" name="Shape 6"/>
          <p:cNvSpPr/>
          <p:nvPr/>
        </p:nvSpPr>
        <p:spPr>
          <a:xfrm>
            <a:off x="2880360" y="4434840"/>
            <a:ext cx="6400800" cy="1920240"/>
          </a:xfrm>
          <a:prstGeom prst="roundRect">
            <a:avLst>
              <a:gd name="adj" fmla="val 4762"/>
            </a:avLst>
          </a:prstGeom>
          <a:solidFill>
            <a:srgbClr val="FFFFFF">
              <a:alpha val="8000"/>
            </a:srgbClr>
          </a:solidFill>
          <a:ln w="12700">
            <a:solidFill>
              <a:srgbClr val="FFFFFF">
                <a:alpha val="30000"/>
              </a:srgbClr>
            </a:solidFill>
            <a:prstDash val="solid"/>
          </a:ln>
        </p:spPr>
        <p:txBody>
          <a:bodyPr/>
          <a:lstStyle/>
          <a:p>
            <a:endParaRPr lang="en-IN"/>
          </a:p>
        </p:txBody>
      </p:sp>
      <p:sp>
        <p:nvSpPr>
          <p:cNvPr id="10" name="Text 7"/>
          <p:cNvSpPr/>
          <p:nvPr/>
        </p:nvSpPr>
        <p:spPr>
          <a:xfrm>
            <a:off x="3154680" y="4590288"/>
            <a:ext cx="5852160" cy="292608"/>
          </a:xfrm>
          <a:prstGeom prst="rect">
            <a:avLst/>
          </a:prstGeom>
          <a:noFill/>
          <a:ln/>
        </p:spPr>
        <p:txBody>
          <a:bodyPr wrap="square" rtlCol="0" anchor="ctr"/>
          <a:lstStyle/>
          <a:p>
            <a:pPr marL="0" indent="0" algn="l">
              <a:buNone/>
            </a:pPr>
            <a:r>
              <a:rPr lang="en-US" sz="1250" b="1" dirty="0">
                <a:solidFill>
                  <a:srgbClr val="00A896"/>
                </a:solidFill>
                <a:latin typeface="Calibri" pitchFamily="34" charset="0"/>
                <a:ea typeface="Calibri" pitchFamily="34" charset="-122"/>
                <a:cs typeface="Calibri" pitchFamily="34" charset="-120"/>
              </a:rPr>
              <a:t>Team Members:  </a:t>
            </a:r>
            <a:r>
              <a:rPr lang="en-US" sz="1250" b="1" dirty="0">
                <a:solidFill>
                  <a:srgbClr val="FFFFFF"/>
                </a:solidFill>
                <a:latin typeface="Calibri" pitchFamily="34" charset="0"/>
                <a:ea typeface="Calibri" pitchFamily="34" charset="-122"/>
                <a:cs typeface="Calibri" pitchFamily="34" charset="-120"/>
              </a:rPr>
              <a:t>V Deepak, B Jaswanth Bhaskar</a:t>
            </a:r>
            <a:endParaRPr lang="en-US" sz="1250" dirty="0"/>
          </a:p>
        </p:txBody>
      </p:sp>
      <p:sp>
        <p:nvSpPr>
          <p:cNvPr id="11" name="Text 8"/>
          <p:cNvSpPr/>
          <p:nvPr/>
        </p:nvSpPr>
        <p:spPr>
          <a:xfrm>
            <a:off x="3154680" y="4896612"/>
            <a:ext cx="5852160" cy="292608"/>
          </a:xfrm>
          <a:prstGeom prst="rect">
            <a:avLst/>
          </a:prstGeom>
          <a:noFill/>
          <a:ln/>
        </p:spPr>
        <p:txBody>
          <a:bodyPr wrap="square" rtlCol="0" anchor="ctr"/>
          <a:lstStyle/>
          <a:p>
            <a:pPr marL="0" indent="0" algn="l">
              <a:buNone/>
            </a:pPr>
            <a:r>
              <a:rPr lang="en-US" sz="1250" b="1" dirty="0">
                <a:solidFill>
                  <a:srgbClr val="00A896"/>
                </a:solidFill>
                <a:latin typeface="Calibri" pitchFamily="34" charset="0"/>
                <a:ea typeface="Calibri" pitchFamily="34" charset="-122"/>
                <a:cs typeface="Calibri" pitchFamily="34" charset="-120"/>
              </a:rPr>
              <a:t>Roll Numbers:  </a:t>
            </a:r>
            <a:r>
              <a:rPr lang="en-US" sz="1250" b="1" dirty="0">
                <a:solidFill>
                  <a:srgbClr val="FFFFFF"/>
                </a:solidFill>
                <a:latin typeface="Calibri" pitchFamily="34" charset="0"/>
                <a:ea typeface="Calibri" pitchFamily="34" charset="-122"/>
                <a:cs typeface="Calibri" pitchFamily="34" charset="-120"/>
              </a:rPr>
              <a:t>2520030503, 2520030553</a:t>
            </a:r>
            <a:endParaRPr lang="en-US" sz="1250" dirty="0"/>
          </a:p>
        </p:txBody>
      </p:sp>
      <p:sp>
        <p:nvSpPr>
          <p:cNvPr id="12" name="Text 9"/>
          <p:cNvSpPr/>
          <p:nvPr/>
        </p:nvSpPr>
        <p:spPr>
          <a:xfrm>
            <a:off x="3154680" y="5202936"/>
            <a:ext cx="5852160" cy="292608"/>
          </a:xfrm>
          <a:prstGeom prst="rect">
            <a:avLst/>
          </a:prstGeom>
          <a:noFill/>
          <a:ln/>
        </p:spPr>
        <p:txBody>
          <a:bodyPr wrap="square" rtlCol="0" anchor="ctr"/>
          <a:lstStyle/>
          <a:p>
            <a:pPr marL="0" indent="0" algn="l">
              <a:buNone/>
            </a:pPr>
            <a:r>
              <a:rPr lang="en-US" sz="1250" b="1" dirty="0">
                <a:solidFill>
                  <a:srgbClr val="00A896"/>
                </a:solidFill>
                <a:latin typeface="Calibri" pitchFamily="34" charset="0"/>
                <a:ea typeface="Calibri" pitchFamily="34" charset="-122"/>
                <a:cs typeface="Calibri" pitchFamily="34" charset="-120"/>
              </a:rPr>
              <a:t>Section:  </a:t>
            </a:r>
            <a:r>
              <a:rPr lang="en-US" sz="1250" b="1" dirty="0">
                <a:solidFill>
                  <a:srgbClr val="FFFFFF"/>
                </a:solidFill>
                <a:latin typeface="Calibri" pitchFamily="34" charset="0"/>
                <a:ea typeface="Calibri" pitchFamily="34" charset="-122"/>
                <a:cs typeface="Calibri" pitchFamily="34" charset="-120"/>
              </a:rPr>
              <a:t>9</a:t>
            </a:r>
            <a:endParaRPr lang="en-US" sz="1250" dirty="0"/>
          </a:p>
        </p:txBody>
      </p:sp>
      <p:sp>
        <p:nvSpPr>
          <p:cNvPr id="13" name="Text 10"/>
          <p:cNvSpPr/>
          <p:nvPr/>
        </p:nvSpPr>
        <p:spPr>
          <a:xfrm>
            <a:off x="3154680" y="5509260"/>
            <a:ext cx="5852160" cy="292608"/>
          </a:xfrm>
          <a:prstGeom prst="rect">
            <a:avLst/>
          </a:prstGeom>
          <a:noFill/>
          <a:ln/>
        </p:spPr>
        <p:txBody>
          <a:bodyPr wrap="square" rtlCol="0" anchor="ctr"/>
          <a:lstStyle/>
          <a:p>
            <a:pPr marL="0" indent="0" algn="l">
              <a:buNone/>
            </a:pPr>
            <a:r>
              <a:rPr lang="en-US" sz="1250" b="1" dirty="0">
                <a:solidFill>
                  <a:srgbClr val="00A896"/>
                </a:solidFill>
                <a:latin typeface="Calibri" pitchFamily="34" charset="0"/>
                <a:ea typeface="Calibri" pitchFamily="34" charset="-122"/>
                <a:cs typeface="Calibri" pitchFamily="34" charset="-120"/>
              </a:rPr>
              <a:t>Faculty Guide:  </a:t>
            </a:r>
            <a:r>
              <a:rPr lang="en-US" sz="1250" dirty="0">
                <a:solidFill>
                  <a:srgbClr val="FFFFFF"/>
                </a:solidFill>
                <a:latin typeface="Calibri" pitchFamily="34" charset="0"/>
                <a:ea typeface="Calibri" pitchFamily="34" charset="-122"/>
                <a:cs typeface="Calibri" pitchFamily="34" charset="-120"/>
              </a:rPr>
              <a:t>[Faculty Name]</a:t>
            </a:r>
            <a:endParaRPr lang="en-US" sz="1250" dirty="0"/>
          </a:p>
        </p:txBody>
      </p:sp>
      <p:sp>
        <p:nvSpPr>
          <p:cNvPr id="14" name="Text 11"/>
          <p:cNvSpPr/>
          <p:nvPr/>
        </p:nvSpPr>
        <p:spPr>
          <a:xfrm>
            <a:off x="3154680" y="5815584"/>
            <a:ext cx="5852160" cy="292608"/>
          </a:xfrm>
          <a:prstGeom prst="rect">
            <a:avLst/>
          </a:prstGeom>
          <a:noFill/>
          <a:ln/>
        </p:spPr>
        <p:txBody>
          <a:bodyPr wrap="square" rtlCol="0" anchor="ctr"/>
          <a:lstStyle/>
          <a:p>
            <a:pPr marL="0" indent="0" algn="l">
              <a:buNone/>
            </a:pPr>
            <a:r>
              <a:rPr lang="en-US" sz="1250" b="1" dirty="0">
                <a:solidFill>
                  <a:srgbClr val="00A896"/>
                </a:solidFill>
                <a:latin typeface="Calibri" pitchFamily="34" charset="0"/>
                <a:ea typeface="Calibri" pitchFamily="34" charset="-122"/>
                <a:cs typeface="Calibri" pitchFamily="34" charset="-120"/>
              </a:rPr>
              <a:t>Team :</a:t>
            </a:r>
            <a:r>
              <a:rPr lang="en-US" sz="1250" b="1" dirty="0">
                <a:solidFill>
                  <a:schemeClr val="bg1">
                    <a:lumMod val="95000"/>
                  </a:schemeClr>
                </a:solidFill>
                <a:latin typeface="Calibri" pitchFamily="34" charset="0"/>
                <a:ea typeface="Calibri" pitchFamily="34" charset="-122"/>
                <a:cs typeface="Calibri" pitchFamily="34" charset="-120"/>
              </a:rPr>
              <a:t> 20</a:t>
            </a:r>
            <a:endParaRPr lang="en-US" sz="1250" dirty="0">
              <a:solidFill>
                <a:schemeClr val="bg1">
                  <a:lumMod val="9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28090"/>
          </a:solidFill>
          <a:ln/>
        </p:spPr>
        <p:txBody>
          <a:bodyPr/>
          <a:lstStyle/>
          <a:p>
            <a:endParaRPr lang="en-IN"/>
          </a:p>
        </p:txBody>
      </p:sp>
      <p:pic>
        <p:nvPicPr>
          <p:cNvPr id="3" name="Image 0" descr="/home/claude/diabetes_ppt/filemed.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Introduction</a:t>
            </a:r>
            <a:endParaRPr lang="en-US" sz="3000" dirty="0"/>
          </a:p>
        </p:txBody>
      </p:sp>
      <p:sp>
        <p:nvSpPr>
          <p:cNvPr id="5" name="Shape 2"/>
          <p:cNvSpPr/>
          <p:nvPr/>
        </p:nvSpPr>
        <p:spPr>
          <a:xfrm>
            <a:off x="640080" y="1463040"/>
            <a:ext cx="548640" cy="548640"/>
          </a:xfrm>
          <a:prstGeom prst="ellipse">
            <a:avLst/>
          </a:prstGeom>
          <a:solidFill>
            <a:srgbClr val="028090"/>
          </a:solidFill>
          <a:ln/>
        </p:spPr>
        <p:txBody>
          <a:bodyPr/>
          <a:lstStyle/>
          <a:p>
            <a:endParaRPr lang="en-IN"/>
          </a:p>
        </p:txBody>
      </p:sp>
      <p:pic>
        <p:nvPicPr>
          <p:cNvPr id="6" name="Image 1" descr="/home/claude/diabetes_ppt/heartbeat.png"/>
          <p:cNvPicPr>
            <a:picLocks noChangeAspect="1"/>
          </p:cNvPicPr>
          <p:nvPr/>
        </p:nvPicPr>
        <p:blipFill>
          <a:blip r:embed="rId4"/>
          <a:stretch>
            <a:fillRect/>
          </a:stretch>
        </p:blipFill>
        <p:spPr>
          <a:xfrm>
            <a:off x="782726" y="1605686"/>
            <a:ext cx="263347" cy="263347"/>
          </a:xfrm>
          <a:prstGeom prst="rect">
            <a:avLst/>
          </a:prstGeom>
        </p:spPr>
      </p:pic>
      <p:sp>
        <p:nvSpPr>
          <p:cNvPr id="7" name="Shape 3"/>
          <p:cNvSpPr/>
          <p:nvPr/>
        </p:nvSpPr>
        <p:spPr>
          <a:xfrm>
            <a:off x="1417320" y="1417320"/>
            <a:ext cx="9966960" cy="969264"/>
          </a:xfrm>
          <a:prstGeom prst="roundRect">
            <a:avLst>
              <a:gd name="adj" fmla="val 7547"/>
            </a:avLst>
          </a:prstGeom>
          <a:solidFill>
            <a:srgbClr val="F2F7F7"/>
          </a:solidFill>
          <a:ln/>
        </p:spPr>
        <p:txBody>
          <a:bodyPr/>
          <a:lstStyle/>
          <a:p>
            <a:endParaRPr lang="en-IN"/>
          </a:p>
        </p:txBody>
      </p:sp>
      <p:sp>
        <p:nvSpPr>
          <p:cNvPr id="8" name="Text 4"/>
          <p:cNvSpPr/>
          <p:nvPr/>
        </p:nvSpPr>
        <p:spPr>
          <a:xfrm>
            <a:off x="1691640" y="1417320"/>
            <a:ext cx="9464040" cy="969264"/>
          </a:xfrm>
          <a:prstGeom prst="rect">
            <a:avLst/>
          </a:prstGeom>
          <a:noFill/>
          <a:ln/>
        </p:spPr>
        <p:txBody>
          <a:bodyPr wrap="square" rtlCol="0" anchor="ctr"/>
          <a:lstStyle/>
          <a:p>
            <a:pPr marL="0" indent="0" algn="l">
              <a:buNone/>
            </a:pPr>
            <a:r>
              <a:rPr lang="en-US" sz="1400" dirty="0">
                <a:solidFill>
                  <a:srgbClr val="1A2E35"/>
                </a:solidFill>
                <a:latin typeface="Calibri" pitchFamily="34" charset="0"/>
                <a:ea typeface="Calibri" pitchFamily="34" charset="-122"/>
                <a:cs typeface="Calibri" pitchFamily="34" charset="-120"/>
              </a:rPr>
              <a:t>Diabetes is one of the most common chronic diseases worldwide, affecting people across age groups.</a:t>
            </a:r>
            <a:endParaRPr lang="en-US" sz="1400" dirty="0"/>
          </a:p>
        </p:txBody>
      </p:sp>
      <p:sp>
        <p:nvSpPr>
          <p:cNvPr id="9" name="Shape 5"/>
          <p:cNvSpPr/>
          <p:nvPr/>
        </p:nvSpPr>
        <p:spPr>
          <a:xfrm>
            <a:off x="640080" y="2633472"/>
            <a:ext cx="548640" cy="548640"/>
          </a:xfrm>
          <a:prstGeom prst="ellipse">
            <a:avLst/>
          </a:prstGeom>
          <a:solidFill>
            <a:srgbClr val="00A896"/>
          </a:solidFill>
          <a:ln/>
        </p:spPr>
        <p:txBody>
          <a:bodyPr/>
          <a:lstStyle/>
          <a:p>
            <a:endParaRPr lang="en-IN"/>
          </a:p>
        </p:txBody>
      </p:sp>
      <p:pic>
        <p:nvPicPr>
          <p:cNvPr id="10" name="Image 2" descr="/home/claude/diabetes_ppt/exclaim.png"/>
          <p:cNvPicPr>
            <a:picLocks noChangeAspect="1"/>
          </p:cNvPicPr>
          <p:nvPr/>
        </p:nvPicPr>
        <p:blipFill>
          <a:blip r:embed="rId5"/>
          <a:stretch>
            <a:fillRect/>
          </a:stretch>
        </p:blipFill>
        <p:spPr>
          <a:xfrm>
            <a:off x="782726" y="2776118"/>
            <a:ext cx="263347" cy="263347"/>
          </a:xfrm>
          <a:prstGeom prst="rect">
            <a:avLst/>
          </a:prstGeom>
        </p:spPr>
      </p:pic>
      <p:sp>
        <p:nvSpPr>
          <p:cNvPr id="11" name="Shape 6"/>
          <p:cNvSpPr/>
          <p:nvPr/>
        </p:nvSpPr>
        <p:spPr>
          <a:xfrm>
            <a:off x="1417320" y="2587752"/>
            <a:ext cx="9966960" cy="969264"/>
          </a:xfrm>
          <a:prstGeom prst="roundRect">
            <a:avLst>
              <a:gd name="adj" fmla="val 7547"/>
            </a:avLst>
          </a:prstGeom>
          <a:solidFill>
            <a:srgbClr val="F2F7F7"/>
          </a:solidFill>
          <a:ln/>
        </p:spPr>
        <p:txBody>
          <a:bodyPr/>
          <a:lstStyle/>
          <a:p>
            <a:endParaRPr lang="en-IN"/>
          </a:p>
        </p:txBody>
      </p:sp>
      <p:sp>
        <p:nvSpPr>
          <p:cNvPr id="12" name="Text 7"/>
          <p:cNvSpPr/>
          <p:nvPr/>
        </p:nvSpPr>
        <p:spPr>
          <a:xfrm>
            <a:off x="1691640" y="2587752"/>
            <a:ext cx="9464040" cy="969264"/>
          </a:xfrm>
          <a:prstGeom prst="rect">
            <a:avLst/>
          </a:prstGeom>
          <a:noFill/>
          <a:ln/>
        </p:spPr>
        <p:txBody>
          <a:bodyPr wrap="square" rtlCol="0" anchor="ctr"/>
          <a:lstStyle/>
          <a:p>
            <a:pPr marL="0" indent="0" algn="l">
              <a:buNone/>
            </a:pPr>
            <a:r>
              <a:rPr lang="en-US" sz="1400" dirty="0">
                <a:solidFill>
                  <a:srgbClr val="1A2E35"/>
                </a:solidFill>
                <a:latin typeface="Calibri" pitchFamily="34" charset="0"/>
                <a:ea typeface="Calibri" pitchFamily="34" charset="-122"/>
                <a:cs typeface="Calibri" pitchFamily="34" charset="-120"/>
              </a:rPr>
              <a:t>Early identification of diabetes risk can support timely medical attention and lifestyle intervention.</a:t>
            </a:r>
            <a:endParaRPr lang="en-US" sz="1400" dirty="0"/>
          </a:p>
        </p:txBody>
      </p:sp>
      <p:sp>
        <p:nvSpPr>
          <p:cNvPr id="13" name="Shape 8"/>
          <p:cNvSpPr/>
          <p:nvPr/>
        </p:nvSpPr>
        <p:spPr>
          <a:xfrm>
            <a:off x="640080" y="3803904"/>
            <a:ext cx="548640" cy="548640"/>
          </a:xfrm>
          <a:prstGeom prst="ellipse">
            <a:avLst/>
          </a:prstGeom>
          <a:solidFill>
            <a:srgbClr val="028090"/>
          </a:solidFill>
          <a:ln/>
        </p:spPr>
        <p:txBody>
          <a:bodyPr/>
          <a:lstStyle/>
          <a:p>
            <a:endParaRPr lang="en-IN"/>
          </a:p>
        </p:txBody>
      </p:sp>
      <p:pic>
        <p:nvPicPr>
          <p:cNvPr id="14" name="Image 3" descr="/home/claude/diabetes_ppt/brain.png"/>
          <p:cNvPicPr>
            <a:picLocks noChangeAspect="1"/>
          </p:cNvPicPr>
          <p:nvPr/>
        </p:nvPicPr>
        <p:blipFill>
          <a:blip r:embed="rId6"/>
          <a:stretch>
            <a:fillRect/>
          </a:stretch>
        </p:blipFill>
        <p:spPr>
          <a:xfrm>
            <a:off x="782726" y="3946550"/>
            <a:ext cx="263347" cy="263347"/>
          </a:xfrm>
          <a:prstGeom prst="rect">
            <a:avLst/>
          </a:prstGeom>
        </p:spPr>
      </p:pic>
      <p:sp>
        <p:nvSpPr>
          <p:cNvPr id="15" name="Shape 9"/>
          <p:cNvSpPr/>
          <p:nvPr/>
        </p:nvSpPr>
        <p:spPr>
          <a:xfrm>
            <a:off x="1417320" y="3758184"/>
            <a:ext cx="9966960" cy="969264"/>
          </a:xfrm>
          <a:prstGeom prst="roundRect">
            <a:avLst>
              <a:gd name="adj" fmla="val 7547"/>
            </a:avLst>
          </a:prstGeom>
          <a:solidFill>
            <a:srgbClr val="F2F7F7"/>
          </a:solidFill>
          <a:ln/>
        </p:spPr>
        <p:txBody>
          <a:bodyPr/>
          <a:lstStyle/>
          <a:p>
            <a:endParaRPr lang="en-IN"/>
          </a:p>
        </p:txBody>
      </p:sp>
      <p:sp>
        <p:nvSpPr>
          <p:cNvPr id="16" name="Text 10"/>
          <p:cNvSpPr/>
          <p:nvPr/>
        </p:nvSpPr>
        <p:spPr>
          <a:xfrm>
            <a:off x="1691640" y="3758184"/>
            <a:ext cx="9464040" cy="969264"/>
          </a:xfrm>
          <a:prstGeom prst="rect">
            <a:avLst/>
          </a:prstGeom>
          <a:noFill/>
          <a:ln/>
        </p:spPr>
        <p:txBody>
          <a:bodyPr wrap="square" rtlCol="0" anchor="ctr"/>
          <a:lstStyle/>
          <a:p>
            <a:pPr marL="0" indent="0" algn="l">
              <a:buNone/>
            </a:pPr>
            <a:r>
              <a:rPr lang="en-US" sz="1400" dirty="0">
                <a:solidFill>
                  <a:srgbClr val="1A2E35"/>
                </a:solidFill>
                <a:latin typeface="Calibri" pitchFamily="34" charset="0"/>
                <a:ea typeface="Calibri" pitchFamily="34" charset="-122"/>
                <a:cs typeface="Calibri" pitchFamily="34" charset="-120"/>
              </a:rPr>
              <a:t>Machine Learning can uncover patterns in patient health and demographic data that are difficult to spot manually.</a:t>
            </a:r>
            <a:endParaRPr lang="en-US" sz="1400" dirty="0"/>
          </a:p>
        </p:txBody>
      </p:sp>
      <p:sp>
        <p:nvSpPr>
          <p:cNvPr id="17" name="Shape 11"/>
          <p:cNvSpPr/>
          <p:nvPr/>
        </p:nvSpPr>
        <p:spPr>
          <a:xfrm>
            <a:off x="640080" y="4974336"/>
            <a:ext cx="548640" cy="548640"/>
          </a:xfrm>
          <a:prstGeom prst="ellipse">
            <a:avLst/>
          </a:prstGeom>
          <a:solidFill>
            <a:srgbClr val="00A896"/>
          </a:solidFill>
          <a:ln/>
        </p:spPr>
        <p:txBody>
          <a:bodyPr/>
          <a:lstStyle/>
          <a:p>
            <a:endParaRPr lang="en-IN"/>
          </a:p>
        </p:txBody>
      </p:sp>
      <p:pic>
        <p:nvPicPr>
          <p:cNvPr id="18" name="Image 4" descr="/home/claude/diabetes_ppt/check.png"/>
          <p:cNvPicPr>
            <a:picLocks noChangeAspect="1"/>
          </p:cNvPicPr>
          <p:nvPr/>
        </p:nvPicPr>
        <p:blipFill>
          <a:blip r:embed="rId7"/>
          <a:stretch>
            <a:fillRect/>
          </a:stretch>
        </p:blipFill>
        <p:spPr>
          <a:xfrm>
            <a:off x="782726" y="5116982"/>
            <a:ext cx="263347" cy="263347"/>
          </a:xfrm>
          <a:prstGeom prst="rect">
            <a:avLst/>
          </a:prstGeom>
        </p:spPr>
      </p:pic>
      <p:sp>
        <p:nvSpPr>
          <p:cNvPr id="19" name="Shape 12"/>
          <p:cNvSpPr/>
          <p:nvPr/>
        </p:nvSpPr>
        <p:spPr>
          <a:xfrm>
            <a:off x="1417320" y="4928616"/>
            <a:ext cx="9966960" cy="969264"/>
          </a:xfrm>
          <a:prstGeom prst="roundRect">
            <a:avLst>
              <a:gd name="adj" fmla="val 7547"/>
            </a:avLst>
          </a:prstGeom>
          <a:solidFill>
            <a:srgbClr val="F2F7F7"/>
          </a:solidFill>
          <a:ln/>
        </p:spPr>
        <p:txBody>
          <a:bodyPr/>
          <a:lstStyle/>
          <a:p>
            <a:endParaRPr lang="en-IN"/>
          </a:p>
        </p:txBody>
      </p:sp>
      <p:sp>
        <p:nvSpPr>
          <p:cNvPr id="20" name="Text 13"/>
          <p:cNvSpPr/>
          <p:nvPr/>
        </p:nvSpPr>
        <p:spPr>
          <a:xfrm>
            <a:off x="1691640" y="4928616"/>
            <a:ext cx="9464040" cy="969264"/>
          </a:xfrm>
          <a:prstGeom prst="rect">
            <a:avLst/>
          </a:prstGeom>
          <a:noFill/>
          <a:ln/>
        </p:spPr>
        <p:txBody>
          <a:bodyPr wrap="square" rtlCol="0" anchor="ctr"/>
          <a:lstStyle/>
          <a:p>
            <a:pPr marL="0" indent="0" algn="l">
              <a:buNone/>
            </a:pPr>
            <a:r>
              <a:rPr lang="en-US" sz="1400" dirty="0">
                <a:solidFill>
                  <a:srgbClr val="1A2E35"/>
                </a:solidFill>
                <a:latin typeface="Calibri" pitchFamily="34" charset="0"/>
                <a:ea typeface="Calibri" pitchFamily="34" charset="-122"/>
                <a:cs typeface="Calibri" pitchFamily="34" charset="-120"/>
              </a:rPr>
              <a:t>This project builds a model to predict whether a patient belongs to the diabetes-positive or diabetes-negative class.</a:t>
            </a:r>
            <a:endParaRPr lang="en-US" sz="1400" dirty="0"/>
          </a:p>
        </p:txBody>
      </p:sp>
      <p:sp>
        <p:nvSpPr>
          <p:cNvPr id="21" name="Text 1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22" name="Text 1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0A896"/>
          </a:solidFill>
          <a:ln/>
        </p:spPr>
        <p:txBody>
          <a:bodyPr/>
          <a:lstStyle/>
          <a:p>
            <a:endParaRPr lang="en-IN"/>
          </a:p>
        </p:txBody>
      </p:sp>
      <p:pic>
        <p:nvPicPr>
          <p:cNvPr id="3" name="Image 0" descr="/home/claude/diabetes_ppt/flask.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Abstract</a:t>
            </a:r>
            <a:endParaRPr lang="en-US" sz="3000" dirty="0"/>
          </a:p>
        </p:txBody>
      </p:sp>
      <p:sp>
        <p:nvSpPr>
          <p:cNvPr id="5" name="Shape 2"/>
          <p:cNvSpPr/>
          <p:nvPr/>
        </p:nvSpPr>
        <p:spPr>
          <a:xfrm>
            <a:off x="640080" y="1371600"/>
            <a:ext cx="10881360" cy="4297680"/>
          </a:xfrm>
          <a:prstGeom prst="roundRect">
            <a:avLst>
              <a:gd name="adj" fmla="val 2128"/>
            </a:avLst>
          </a:prstGeom>
          <a:solidFill>
            <a:srgbClr val="F2F7F7"/>
          </a:solidFill>
          <a:ln/>
        </p:spPr>
        <p:txBody>
          <a:bodyPr/>
          <a:lstStyle/>
          <a:p>
            <a:endParaRPr lang="en-IN"/>
          </a:p>
        </p:txBody>
      </p:sp>
      <p:sp>
        <p:nvSpPr>
          <p:cNvPr id="6" name="Text 3"/>
          <p:cNvSpPr/>
          <p:nvPr/>
        </p:nvSpPr>
        <p:spPr>
          <a:xfrm>
            <a:off x="960120" y="1600200"/>
            <a:ext cx="10241280" cy="2514600"/>
          </a:xfrm>
          <a:prstGeom prst="rect">
            <a:avLst/>
          </a:prstGeom>
          <a:noFill/>
          <a:ln/>
        </p:spPr>
        <p:txBody>
          <a:bodyPr wrap="square" rtlCol="0" anchor="t"/>
          <a:lstStyle/>
          <a:p>
            <a:pPr marL="0" indent="0" algn="l">
              <a:lnSpc>
                <a:spcPct val="125000"/>
              </a:lnSpc>
              <a:buNone/>
            </a:pPr>
            <a:r>
              <a:rPr lang="en-US" sz="1400" dirty="0">
                <a:solidFill>
                  <a:srgbClr val="1A2E35"/>
                </a:solidFill>
                <a:latin typeface="Calibri" pitchFamily="34" charset="0"/>
                <a:ea typeface="Calibri" pitchFamily="34" charset="-122"/>
                <a:cs typeface="Calibri" pitchFamily="34" charset="-120"/>
              </a:rPr>
              <a:t>This project aims to build a predictive risk-assessment system for diabetes using patient health and demographic attributes. The Diabetes Prediction Dataset from Kaggle, containing 100,000 patient records, is used for model development. The workflow includes data preprocessing and exploratory data analysis (EDA) to understand feature distributions and relationships. Logistic Regression and Random Forest are applied as binary classification algorithms to predict diabetes outcome. Stratified 5-Fold Cross-Validation is used to fairly compare the performance of both models across the dataset. Models are evaluated using standard classification metrics such as Accuracy, Precision, Recall, F1-Score and ROC-AUC.</a:t>
            </a:r>
            <a:endParaRPr lang="en-US" sz="1400" dirty="0"/>
          </a:p>
        </p:txBody>
      </p:sp>
      <p:sp>
        <p:nvSpPr>
          <p:cNvPr id="7" name="Shape 4"/>
          <p:cNvSpPr/>
          <p:nvPr/>
        </p:nvSpPr>
        <p:spPr>
          <a:xfrm>
            <a:off x="960120" y="4251960"/>
            <a:ext cx="10241280" cy="1234440"/>
          </a:xfrm>
          <a:prstGeom prst="roundRect">
            <a:avLst>
              <a:gd name="adj" fmla="val 5926"/>
            </a:avLst>
          </a:prstGeom>
          <a:solidFill>
            <a:srgbClr val="FFFFFF"/>
          </a:solidFill>
          <a:ln w="15875">
            <a:solidFill>
              <a:srgbClr val="02C39A"/>
            </a:solidFill>
            <a:prstDash val="solid"/>
          </a:ln>
        </p:spPr>
        <p:txBody>
          <a:bodyPr/>
          <a:lstStyle/>
          <a:p>
            <a:endParaRPr lang="en-IN"/>
          </a:p>
        </p:txBody>
      </p:sp>
      <p:sp>
        <p:nvSpPr>
          <p:cNvPr id="8" name="Shape 5"/>
          <p:cNvSpPr/>
          <p:nvPr/>
        </p:nvSpPr>
        <p:spPr>
          <a:xfrm>
            <a:off x="1188720" y="4480560"/>
            <a:ext cx="502920" cy="502920"/>
          </a:xfrm>
          <a:prstGeom prst="ellipse">
            <a:avLst/>
          </a:prstGeom>
          <a:solidFill>
            <a:srgbClr val="02C39A"/>
          </a:solidFill>
          <a:ln/>
        </p:spPr>
        <p:txBody>
          <a:bodyPr/>
          <a:lstStyle/>
          <a:p>
            <a:endParaRPr lang="en-IN"/>
          </a:p>
        </p:txBody>
      </p:sp>
      <p:pic>
        <p:nvPicPr>
          <p:cNvPr id="9" name="Image 1" descr="/home/claude/diabetes_ppt/exclaim.png"/>
          <p:cNvPicPr>
            <a:picLocks noChangeAspect="1"/>
          </p:cNvPicPr>
          <p:nvPr/>
        </p:nvPicPr>
        <p:blipFill>
          <a:blip r:embed="rId4"/>
          <a:stretch>
            <a:fillRect/>
          </a:stretch>
        </p:blipFill>
        <p:spPr>
          <a:xfrm>
            <a:off x="1319479" y="4611319"/>
            <a:ext cx="241402" cy="241402"/>
          </a:xfrm>
          <a:prstGeom prst="rect">
            <a:avLst/>
          </a:prstGeom>
        </p:spPr>
      </p:pic>
      <p:sp>
        <p:nvSpPr>
          <p:cNvPr id="10" name="Text 6"/>
          <p:cNvSpPr/>
          <p:nvPr/>
        </p:nvSpPr>
        <p:spPr>
          <a:xfrm>
            <a:off x="1874520" y="4343400"/>
            <a:ext cx="9052560" cy="1005840"/>
          </a:xfrm>
          <a:prstGeom prst="rect">
            <a:avLst/>
          </a:prstGeom>
          <a:noFill/>
          <a:ln/>
        </p:spPr>
        <p:txBody>
          <a:bodyPr wrap="square" rtlCol="0" anchor="ctr"/>
          <a:lstStyle/>
          <a:p>
            <a:pPr marL="0" indent="0" algn="l">
              <a:buNone/>
            </a:pPr>
            <a:r>
              <a:rPr lang="en-US" sz="1250" b="1" dirty="0">
                <a:solidFill>
                  <a:srgbClr val="013A40"/>
                </a:solidFill>
                <a:latin typeface="Calibri" pitchFamily="34" charset="0"/>
                <a:ea typeface="Calibri" pitchFamily="34" charset="-122"/>
                <a:cs typeface="Calibri" pitchFamily="34" charset="-120"/>
              </a:rPr>
              <a:t>Important: </a:t>
            </a:r>
            <a:r>
              <a:rPr lang="en-US" sz="1250" dirty="0">
                <a:solidFill>
                  <a:srgbClr val="1A2E35"/>
                </a:solidFill>
                <a:latin typeface="Calibri" pitchFamily="34" charset="0"/>
                <a:ea typeface="Calibri" pitchFamily="34" charset="-122"/>
                <a:cs typeface="Calibri" pitchFamily="34" charset="-120"/>
              </a:rPr>
              <a:t>This is a predictive / risk-assessment system and NOT a medical diagnostic system. It should not replace professional clinical judgement.</a:t>
            </a:r>
            <a:endParaRPr lang="en-US" sz="1250" dirty="0"/>
          </a:p>
        </p:txBody>
      </p:sp>
      <p:sp>
        <p:nvSpPr>
          <p:cNvPr id="11" name="Text 7"/>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12" name="Text 8"/>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28090"/>
          </a:solidFill>
          <a:ln/>
        </p:spPr>
        <p:txBody>
          <a:bodyPr/>
          <a:lstStyle/>
          <a:p>
            <a:endParaRPr lang="en-IN"/>
          </a:p>
        </p:txBody>
      </p:sp>
      <p:pic>
        <p:nvPicPr>
          <p:cNvPr id="3" name="Image 0" descr="/home/claude/diabetes_ppt/exclaim.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Problem Statement</a:t>
            </a:r>
            <a:endParaRPr lang="en-US" sz="3000" dirty="0"/>
          </a:p>
        </p:txBody>
      </p:sp>
      <p:sp>
        <p:nvSpPr>
          <p:cNvPr id="5" name="Shape 2"/>
          <p:cNvSpPr/>
          <p:nvPr/>
        </p:nvSpPr>
        <p:spPr>
          <a:xfrm>
            <a:off x="640080" y="1417320"/>
            <a:ext cx="5212080" cy="4251960"/>
          </a:xfrm>
          <a:prstGeom prst="roundRect">
            <a:avLst>
              <a:gd name="adj" fmla="val 2151"/>
            </a:avLst>
          </a:prstGeom>
          <a:solidFill>
            <a:srgbClr val="013A40"/>
          </a:solidFill>
          <a:ln/>
        </p:spPr>
        <p:txBody>
          <a:bodyPr/>
          <a:lstStyle/>
          <a:p>
            <a:endParaRPr lang="en-IN"/>
          </a:p>
        </p:txBody>
      </p:sp>
      <p:sp>
        <p:nvSpPr>
          <p:cNvPr id="6" name="Text 3"/>
          <p:cNvSpPr/>
          <p:nvPr/>
        </p:nvSpPr>
        <p:spPr>
          <a:xfrm>
            <a:off x="914400" y="1645920"/>
            <a:ext cx="4663440" cy="365760"/>
          </a:xfrm>
          <a:prstGeom prst="rect">
            <a:avLst/>
          </a:prstGeom>
          <a:noFill/>
          <a:ln/>
        </p:spPr>
        <p:txBody>
          <a:bodyPr wrap="square" rtlCol="0" anchor="ctr"/>
          <a:lstStyle/>
          <a:p>
            <a:pPr marL="0" indent="0">
              <a:buNone/>
            </a:pPr>
            <a:r>
              <a:rPr lang="en-US" sz="1500" b="1" dirty="0">
                <a:solidFill>
                  <a:srgbClr val="02C39A"/>
                </a:solidFill>
                <a:latin typeface="Cambria" pitchFamily="34" charset="0"/>
                <a:ea typeface="Cambria" pitchFamily="34" charset="-122"/>
                <a:cs typeface="Cambria" pitchFamily="34" charset="-120"/>
              </a:rPr>
              <a:t>THE CHALLENGE</a:t>
            </a:r>
            <a:endParaRPr lang="en-US" sz="1500" dirty="0"/>
          </a:p>
        </p:txBody>
      </p:sp>
      <p:sp>
        <p:nvSpPr>
          <p:cNvPr id="7" name="Text 4"/>
          <p:cNvSpPr/>
          <p:nvPr/>
        </p:nvSpPr>
        <p:spPr>
          <a:xfrm>
            <a:off x="914400" y="2103120"/>
            <a:ext cx="4663440" cy="3383280"/>
          </a:xfrm>
          <a:prstGeom prst="rect">
            <a:avLst/>
          </a:prstGeom>
          <a:noFill/>
          <a:ln/>
        </p:spPr>
        <p:txBody>
          <a:bodyPr wrap="square" rtlCol="0" anchor="t"/>
          <a:lstStyle/>
          <a:p>
            <a:pPr marL="342900" indent="-342900">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Diabetes risk assessment can benefit greatly from data-driven prediction methods.</a:t>
            </a:r>
            <a:endParaRPr lang="en-US" sz="1350" dirty="0"/>
          </a:p>
          <a:p>
            <a:pPr marL="342900" indent="-342900">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Manually analyzing multiple patient attributes together is difficult and inconsistent.</a:t>
            </a:r>
            <a:endParaRPr lang="en-US" sz="1350" dirty="0"/>
          </a:p>
          <a:p>
            <a:pPr marL="342900" indent="-342900">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Clinicians need reliable, scalable tools to flag at-risk patients early.</a:t>
            </a:r>
            <a:endParaRPr lang="en-US" sz="1350" dirty="0"/>
          </a:p>
        </p:txBody>
      </p:sp>
      <p:sp>
        <p:nvSpPr>
          <p:cNvPr id="8" name="Shape 5"/>
          <p:cNvSpPr/>
          <p:nvPr/>
        </p:nvSpPr>
        <p:spPr>
          <a:xfrm>
            <a:off x="6035040" y="1417320"/>
            <a:ext cx="5486400" cy="4251960"/>
          </a:xfrm>
          <a:prstGeom prst="roundRect">
            <a:avLst>
              <a:gd name="adj" fmla="val 2151"/>
            </a:avLst>
          </a:prstGeom>
          <a:solidFill>
            <a:srgbClr val="F2F7F7"/>
          </a:solidFill>
          <a:ln/>
        </p:spPr>
        <p:txBody>
          <a:bodyPr/>
          <a:lstStyle/>
          <a:p>
            <a:endParaRPr lang="en-IN"/>
          </a:p>
        </p:txBody>
      </p:sp>
      <p:sp>
        <p:nvSpPr>
          <p:cNvPr id="9" name="Text 6"/>
          <p:cNvSpPr/>
          <p:nvPr/>
        </p:nvSpPr>
        <p:spPr>
          <a:xfrm>
            <a:off x="6309360" y="1645920"/>
            <a:ext cx="4937760" cy="365760"/>
          </a:xfrm>
          <a:prstGeom prst="rect">
            <a:avLst/>
          </a:prstGeom>
          <a:noFill/>
          <a:ln/>
        </p:spPr>
        <p:txBody>
          <a:bodyPr wrap="square"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OUR OBJECTIVE</a:t>
            </a:r>
            <a:endParaRPr lang="en-US" sz="1500" dirty="0"/>
          </a:p>
        </p:txBody>
      </p:sp>
      <p:sp>
        <p:nvSpPr>
          <p:cNvPr id="10" name="Text 7"/>
          <p:cNvSpPr/>
          <p:nvPr/>
        </p:nvSpPr>
        <p:spPr>
          <a:xfrm>
            <a:off x="6309360" y="2103120"/>
            <a:ext cx="4937760" cy="3383280"/>
          </a:xfrm>
          <a:prstGeom prst="rect">
            <a:avLst/>
          </a:prstGeom>
          <a:noFill/>
          <a:ln/>
        </p:spPr>
        <p:txBody>
          <a:bodyPr wrap="square" rtlCol="0" anchor="t"/>
          <a:lstStyle/>
          <a:p>
            <a:pPr marL="342900" indent="-342900">
              <a:spcAft>
                <a:spcPts val="1400"/>
              </a:spcAft>
              <a:buSzPct val="100000"/>
              <a:buChar char="▪"/>
            </a:pPr>
            <a:r>
              <a:rPr lang="en-US" sz="1350" dirty="0">
                <a:solidFill>
                  <a:srgbClr val="1A2E35"/>
                </a:solidFill>
                <a:latin typeface="Calibri" pitchFamily="34" charset="0"/>
                <a:ea typeface="Calibri" pitchFamily="34" charset="-122"/>
                <a:cs typeface="Calibri" pitchFamily="34" charset="-120"/>
              </a:rPr>
              <a:t>Build a machine learning model that predicts diabetes outcome from patient-related features.</a:t>
            </a:r>
            <a:endParaRPr lang="en-US" sz="1350" dirty="0"/>
          </a:p>
          <a:p>
            <a:pPr marL="342900" indent="-342900">
              <a:spcAft>
                <a:spcPts val="1400"/>
              </a:spcAft>
              <a:buSzPct val="100000"/>
              <a:buChar char="▪"/>
            </a:pPr>
            <a:r>
              <a:rPr lang="en-US" sz="1350" dirty="0">
                <a:solidFill>
                  <a:srgbClr val="1A2E35"/>
                </a:solidFill>
                <a:latin typeface="Calibri" pitchFamily="34" charset="0"/>
                <a:ea typeface="Calibri" pitchFamily="34" charset="-122"/>
                <a:cs typeface="Calibri" pitchFamily="34" charset="-120"/>
              </a:rPr>
              <a:t>Compare Logistic Regression and Random Forest to determine which model performs better on this dataset.</a:t>
            </a:r>
            <a:endParaRPr lang="en-US" sz="1350" dirty="0"/>
          </a:p>
          <a:p>
            <a:pPr marL="342900" indent="-342900">
              <a:spcAft>
                <a:spcPts val="1400"/>
              </a:spcAft>
              <a:buSzPct val="100000"/>
              <a:buChar char="▪"/>
            </a:pPr>
            <a:r>
              <a:rPr lang="en-US" sz="1350" dirty="0">
                <a:solidFill>
                  <a:srgbClr val="1A2E35"/>
                </a:solidFill>
                <a:latin typeface="Calibri" pitchFamily="34" charset="0"/>
                <a:ea typeface="Calibri" pitchFamily="34" charset="-122"/>
                <a:cs typeface="Calibri" pitchFamily="34" charset="-120"/>
              </a:rPr>
              <a:t>Use rigorous cross-validation to ensure the comparison is fair and reliable.</a:t>
            </a:r>
            <a:endParaRPr lang="en-US" sz="1350" dirty="0"/>
          </a:p>
        </p:txBody>
      </p:sp>
      <p:sp>
        <p:nvSpPr>
          <p:cNvPr id="11" name="Text 8"/>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12" name="Text 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0A896"/>
          </a:solidFill>
          <a:ln/>
        </p:spPr>
        <p:txBody>
          <a:bodyPr/>
          <a:lstStyle/>
          <a:p>
            <a:endParaRPr lang="en-IN"/>
          </a:p>
        </p:txBody>
      </p:sp>
      <p:pic>
        <p:nvPicPr>
          <p:cNvPr id="3" name="Image 0" descr="/home/claude/diabetes_ppt/database.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Dataset</a:t>
            </a:r>
            <a:endParaRPr lang="en-US" sz="3000" dirty="0"/>
          </a:p>
        </p:txBody>
      </p:sp>
      <p:sp>
        <p:nvSpPr>
          <p:cNvPr id="5" name="Shape 2"/>
          <p:cNvSpPr/>
          <p:nvPr/>
        </p:nvSpPr>
        <p:spPr>
          <a:xfrm>
            <a:off x="548640" y="1371600"/>
            <a:ext cx="3291840" cy="1051560"/>
          </a:xfrm>
          <a:prstGeom prst="roundRect">
            <a:avLst>
              <a:gd name="adj" fmla="val 6957"/>
            </a:avLst>
          </a:prstGeom>
          <a:solidFill>
            <a:srgbClr val="013A40"/>
          </a:solidFill>
          <a:ln/>
        </p:spPr>
        <p:txBody>
          <a:bodyPr/>
          <a:lstStyle/>
          <a:p>
            <a:endParaRPr lang="en-IN"/>
          </a:p>
        </p:txBody>
      </p:sp>
      <p:sp>
        <p:nvSpPr>
          <p:cNvPr id="6" name="Text 3"/>
          <p:cNvSpPr/>
          <p:nvPr/>
        </p:nvSpPr>
        <p:spPr>
          <a:xfrm>
            <a:off x="731520" y="1444752"/>
            <a:ext cx="2926080" cy="914400"/>
          </a:xfrm>
          <a:prstGeom prst="rect">
            <a:avLst/>
          </a:prstGeom>
          <a:noFill/>
          <a:ln/>
        </p:spPr>
        <p:txBody>
          <a:bodyPr wrap="square" rtlCol="0" anchor="ctr"/>
          <a:lstStyle/>
          <a:p>
            <a:pPr marL="0" indent="0" algn="l">
              <a:buNone/>
            </a:pPr>
            <a:r>
              <a:rPr lang="en-US" sz="2400" b="1" dirty="0">
                <a:solidFill>
                  <a:srgbClr val="02C39A"/>
                </a:solidFill>
                <a:latin typeface="Cambria" pitchFamily="34" charset="0"/>
                <a:ea typeface="Cambria" pitchFamily="34" charset="-122"/>
                <a:cs typeface="Cambria" pitchFamily="34" charset="-120"/>
              </a:rPr>
              <a:t>100,000</a:t>
            </a:r>
            <a:endParaRPr lang="en-US" sz="2400" dirty="0"/>
          </a:p>
          <a:p>
            <a:pPr marL="0" indent="0" algn="l">
              <a:buNone/>
            </a:pPr>
            <a:r>
              <a:rPr lang="en-US" sz="1100" dirty="0">
                <a:solidFill>
                  <a:srgbClr val="FFFFFF"/>
                </a:solidFill>
                <a:latin typeface="Cambria" pitchFamily="34" charset="0"/>
                <a:ea typeface="Cambria" pitchFamily="34" charset="-122"/>
                <a:cs typeface="Cambria" pitchFamily="34" charset="-120"/>
              </a:rPr>
              <a:t>Patient Records</a:t>
            </a:r>
            <a:endParaRPr lang="en-US" sz="2400" dirty="0"/>
          </a:p>
        </p:txBody>
      </p:sp>
      <p:sp>
        <p:nvSpPr>
          <p:cNvPr id="7" name="Shape 4"/>
          <p:cNvSpPr/>
          <p:nvPr/>
        </p:nvSpPr>
        <p:spPr>
          <a:xfrm>
            <a:off x="3977640" y="1371600"/>
            <a:ext cx="3291840" cy="1051560"/>
          </a:xfrm>
          <a:prstGeom prst="roundRect">
            <a:avLst>
              <a:gd name="adj" fmla="val 6957"/>
            </a:avLst>
          </a:prstGeom>
          <a:solidFill>
            <a:srgbClr val="028090"/>
          </a:solidFill>
          <a:ln/>
        </p:spPr>
        <p:txBody>
          <a:bodyPr/>
          <a:lstStyle/>
          <a:p>
            <a:endParaRPr lang="en-IN"/>
          </a:p>
        </p:txBody>
      </p:sp>
      <p:sp>
        <p:nvSpPr>
          <p:cNvPr id="8" name="Text 5"/>
          <p:cNvSpPr/>
          <p:nvPr/>
        </p:nvSpPr>
        <p:spPr>
          <a:xfrm>
            <a:off x="4160520" y="1444752"/>
            <a:ext cx="2926080" cy="9144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9</a:t>
            </a:r>
            <a:endParaRPr lang="en-US" sz="2400" dirty="0"/>
          </a:p>
          <a:p>
            <a:pPr marL="0" indent="0" algn="l">
              <a:buNone/>
            </a:pPr>
            <a:r>
              <a:rPr lang="en-US" sz="1100" dirty="0">
                <a:solidFill>
                  <a:srgbClr val="E6F5F3"/>
                </a:solidFill>
                <a:latin typeface="Cambria" pitchFamily="34" charset="0"/>
                <a:ea typeface="Cambria" pitchFamily="34" charset="-122"/>
                <a:cs typeface="Cambria" pitchFamily="34" charset="-120"/>
              </a:rPr>
              <a:t>Total Columns</a:t>
            </a:r>
            <a:endParaRPr lang="en-US" sz="2400" dirty="0"/>
          </a:p>
        </p:txBody>
      </p:sp>
      <p:sp>
        <p:nvSpPr>
          <p:cNvPr id="9" name="Shape 6"/>
          <p:cNvSpPr/>
          <p:nvPr/>
        </p:nvSpPr>
        <p:spPr>
          <a:xfrm>
            <a:off x="7406640" y="1371600"/>
            <a:ext cx="4206240" cy="1051560"/>
          </a:xfrm>
          <a:prstGeom prst="roundRect">
            <a:avLst>
              <a:gd name="adj" fmla="val 6957"/>
            </a:avLst>
          </a:prstGeom>
          <a:solidFill>
            <a:srgbClr val="00A896"/>
          </a:solidFill>
          <a:ln/>
        </p:spPr>
        <p:txBody>
          <a:bodyPr/>
          <a:lstStyle/>
          <a:p>
            <a:endParaRPr lang="en-IN"/>
          </a:p>
        </p:txBody>
      </p:sp>
      <p:sp>
        <p:nvSpPr>
          <p:cNvPr id="10" name="Text 7"/>
          <p:cNvSpPr/>
          <p:nvPr/>
        </p:nvSpPr>
        <p:spPr>
          <a:xfrm>
            <a:off x="7589520" y="1444752"/>
            <a:ext cx="3840480" cy="91440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Diabetes Prediction Dataset</a:t>
            </a:r>
            <a:endParaRPr lang="en-US" sz="1500" dirty="0"/>
          </a:p>
          <a:p>
            <a:pPr marL="0" indent="0" algn="l">
              <a:buNone/>
            </a:pPr>
            <a:r>
              <a:rPr lang="en-US" sz="1100" dirty="0">
                <a:solidFill>
                  <a:srgbClr val="E6F5F3"/>
                </a:solidFill>
                <a:latin typeface="Cambria" pitchFamily="34" charset="0"/>
                <a:ea typeface="Cambria" pitchFamily="34" charset="-122"/>
                <a:cs typeface="Cambria" pitchFamily="34" charset="-120"/>
              </a:rPr>
              <a:t>Source: Kaggle</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64240" cy="3108960"/>
        </p:xfrm>
        <a:graphic>
          <a:graphicData uri="http://schemas.openxmlformats.org/drawingml/2006/table">
            <a:tbl>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013A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013A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013A40"/>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Gender</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Categorical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Patient demographic attribute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Age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Numerical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Patient demographic attribute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Hypertension</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Binary</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Health condition indicator</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Heart Disease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Binary</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Health condition indicator</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Smoking History</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Categorical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Lifestyle-related attribute</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BMI</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Numerical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Body mass index measurement</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HbA1c Level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Numerical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Average blood sugar indicator</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Blood Glucose Level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Numerical</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dirty="0">
                          <a:solidFill>
                            <a:srgbClr val="1A2E35"/>
                          </a:solidFill>
                          <a:latin typeface="Calibri" pitchFamily="34" charset="0"/>
                          <a:ea typeface="Calibri" pitchFamily="34" charset="-122"/>
                          <a:cs typeface="Calibri" pitchFamily="34" charset="-120"/>
                        </a:rPr>
                        <a:t>Current blood sugar measurement</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50" b="1" dirty="0">
                          <a:solidFill>
                            <a:srgbClr val="013A40"/>
                          </a:solidFill>
                          <a:latin typeface="Calibri" pitchFamily="34" charset="0"/>
                          <a:ea typeface="Calibri" pitchFamily="34" charset="-122"/>
                          <a:cs typeface="Calibri" pitchFamily="34" charset="-120"/>
                        </a:rPr>
                        <a:t>Diabetes</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b="1" dirty="0">
                          <a:solidFill>
                            <a:srgbClr val="013A40"/>
                          </a:solidFill>
                          <a:latin typeface="Calibri" pitchFamily="34" charset="0"/>
                          <a:ea typeface="Calibri" pitchFamily="34" charset="-122"/>
                          <a:cs typeface="Calibri" pitchFamily="34" charset="-120"/>
                        </a:rPr>
                        <a:t>Binary (Target)</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050" b="1" dirty="0">
                          <a:solidFill>
                            <a:srgbClr val="013A40"/>
                          </a:solidFill>
                          <a:latin typeface="Calibri" pitchFamily="34" charset="0"/>
                          <a:ea typeface="Calibri" pitchFamily="34" charset="-122"/>
                          <a:cs typeface="Calibri" pitchFamily="34" charset="-120"/>
                        </a:rPr>
                        <a:t>0 = Negative, 1 = Positive class</a:t>
                      </a:r>
                      <a:endParaRPr lang="en-US" sz="10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2" name="Text 8"/>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13" name="Text 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28090"/>
          </a:solidFill>
          <a:ln/>
        </p:spPr>
        <p:txBody>
          <a:bodyPr/>
          <a:lstStyle/>
          <a:p>
            <a:endParaRPr lang="en-IN"/>
          </a:p>
        </p:txBody>
      </p:sp>
      <p:pic>
        <p:nvPicPr>
          <p:cNvPr id="3" name="Image 0" descr="/home/claude/diabetes_ppt/broom.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Data Preprocessing &amp; EDA</a:t>
            </a:r>
            <a:endParaRPr lang="en-US" sz="3000" dirty="0"/>
          </a:p>
        </p:txBody>
      </p:sp>
      <p:sp>
        <p:nvSpPr>
          <p:cNvPr id="5" name="Text 2"/>
          <p:cNvSpPr/>
          <p:nvPr/>
        </p:nvSpPr>
        <p:spPr>
          <a:xfrm>
            <a:off x="640080" y="1325880"/>
            <a:ext cx="5486400" cy="320040"/>
          </a:xfrm>
          <a:prstGeom prst="rect">
            <a:avLst/>
          </a:prstGeom>
          <a:noFill/>
          <a:ln/>
        </p:spPr>
        <p:txBody>
          <a:bodyPr wrap="square" rtlCol="0" anchor="ctr"/>
          <a:lstStyle/>
          <a:p>
            <a:pPr marL="0" indent="0">
              <a:buNone/>
            </a:pPr>
            <a:r>
              <a:rPr lang="en-US" sz="1400" b="1" dirty="0">
                <a:solidFill>
                  <a:srgbClr val="028090"/>
                </a:solidFill>
                <a:latin typeface="Cambria" pitchFamily="34" charset="0"/>
                <a:ea typeface="Cambria" pitchFamily="34" charset="-122"/>
                <a:cs typeface="Cambria" pitchFamily="34" charset="-120"/>
              </a:rPr>
              <a:t>PREPROCESSING PIPELINE</a:t>
            </a:r>
            <a:endParaRPr lang="en-US" sz="1400" dirty="0"/>
          </a:p>
        </p:txBody>
      </p:sp>
      <p:sp>
        <p:nvSpPr>
          <p:cNvPr id="6" name="Shape 3"/>
          <p:cNvSpPr/>
          <p:nvPr/>
        </p:nvSpPr>
        <p:spPr>
          <a:xfrm>
            <a:off x="640080" y="1737360"/>
            <a:ext cx="292608" cy="292608"/>
          </a:xfrm>
          <a:prstGeom prst="ellipse">
            <a:avLst/>
          </a:prstGeom>
          <a:solidFill>
            <a:srgbClr val="00A896"/>
          </a:solidFill>
          <a:ln/>
        </p:spPr>
        <p:txBody>
          <a:bodyPr/>
          <a:lstStyle/>
          <a:p>
            <a:endParaRPr lang="en-IN"/>
          </a:p>
        </p:txBody>
      </p:sp>
      <p:sp>
        <p:nvSpPr>
          <p:cNvPr id="7" name="Text 4"/>
          <p:cNvSpPr/>
          <p:nvPr/>
        </p:nvSpPr>
        <p:spPr>
          <a:xfrm>
            <a:off x="640080" y="173736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1097280" y="1682496"/>
            <a:ext cx="4937760" cy="402336"/>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Load and inspect the dataset</a:t>
            </a:r>
            <a:endParaRPr lang="en-US" sz="1200" dirty="0"/>
          </a:p>
        </p:txBody>
      </p:sp>
      <p:sp>
        <p:nvSpPr>
          <p:cNvPr id="9" name="Shape 6"/>
          <p:cNvSpPr/>
          <p:nvPr/>
        </p:nvSpPr>
        <p:spPr>
          <a:xfrm>
            <a:off x="640080" y="2240280"/>
            <a:ext cx="292608" cy="292608"/>
          </a:xfrm>
          <a:prstGeom prst="ellipse">
            <a:avLst/>
          </a:prstGeom>
          <a:solidFill>
            <a:srgbClr val="00A896"/>
          </a:solidFill>
          <a:ln/>
        </p:spPr>
        <p:txBody>
          <a:bodyPr/>
          <a:lstStyle/>
          <a:p>
            <a:endParaRPr lang="en-IN"/>
          </a:p>
        </p:txBody>
      </p:sp>
      <p:sp>
        <p:nvSpPr>
          <p:cNvPr id="10" name="Text 7"/>
          <p:cNvSpPr/>
          <p:nvPr/>
        </p:nvSpPr>
        <p:spPr>
          <a:xfrm>
            <a:off x="640080" y="224028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8"/>
          <p:cNvSpPr/>
          <p:nvPr/>
        </p:nvSpPr>
        <p:spPr>
          <a:xfrm>
            <a:off x="1097280" y="2185416"/>
            <a:ext cx="4937760" cy="402336"/>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Check for missing values and duplicate records</a:t>
            </a:r>
            <a:endParaRPr lang="en-US" sz="1200" dirty="0"/>
          </a:p>
        </p:txBody>
      </p:sp>
      <p:sp>
        <p:nvSpPr>
          <p:cNvPr id="12" name="Shape 9"/>
          <p:cNvSpPr/>
          <p:nvPr/>
        </p:nvSpPr>
        <p:spPr>
          <a:xfrm>
            <a:off x="640080" y="2743200"/>
            <a:ext cx="292608" cy="292608"/>
          </a:xfrm>
          <a:prstGeom prst="ellipse">
            <a:avLst/>
          </a:prstGeom>
          <a:solidFill>
            <a:srgbClr val="00A896"/>
          </a:solidFill>
          <a:ln/>
        </p:spPr>
        <p:txBody>
          <a:bodyPr/>
          <a:lstStyle/>
          <a:p>
            <a:endParaRPr lang="en-IN"/>
          </a:p>
        </p:txBody>
      </p:sp>
      <p:sp>
        <p:nvSpPr>
          <p:cNvPr id="13" name="Text 10"/>
          <p:cNvSpPr/>
          <p:nvPr/>
        </p:nvSpPr>
        <p:spPr>
          <a:xfrm>
            <a:off x="640080" y="274320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1"/>
          <p:cNvSpPr/>
          <p:nvPr/>
        </p:nvSpPr>
        <p:spPr>
          <a:xfrm>
            <a:off x="1097280" y="2688336"/>
            <a:ext cx="4937760" cy="402336"/>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Encode categorical variables appropriately</a:t>
            </a:r>
            <a:endParaRPr lang="en-US" sz="1200" dirty="0"/>
          </a:p>
        </p:txBody>
      </p:sp>
      <p:sp>
        <p:nvSpPr>
          <p:cNvPr id="15" name="Shape 12"/>
          <p:cNvSpPr/>
          <p:nvPr/>
        </p:nvSpPr>
        <p:spPr>
          <a:xfrm>
            <a:off x="640080" y="3246120"/>
            <a:ext cx="292608" cy="292608"/>
          </a:xfrm>
          <a:prstGeom prst="ellipse">
            <a:avLst/>
          </a:prstGeom>
          <a:solidFill>
            <a:srgbClr val="00A896"/>
          </a:solidFill>
          <a:ln/>
        </p:spPr>
        <p:txBody>
          <a:bodyPr/>
          <a:lstStyle/>
          <a:p>
            <a:endParaRPr lang="en-IN"/>
          </a:p>
        </p:txBody>
      </p:sp>
      <p:sp>
        <p:nvSpPr>
          <p:cNvPr id="16" name="Text 13"/>
          <p:cNvSpPr/>
          <p:nvPr/>
        </p:nvSpPr>
        <p:spPr>
          <a:xfrm>
            <a:off x="640080" y="324612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4"/>
          <p:cNvSpPr/>
          <p:nvPr/>
        </p:nvSpPr>
        <p:spPr>
          <a:xfrm>
            <a:off x="1097280" y="3191256"/>
            <a:ext cx="4937760" cy="402336"/>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Handle missing / invalid values where necessary</a:t>
            </a:r>
            <a:endParaRPr lang="en-US" sz="1200" dirty="0"/>
          </a:p>
        </p:txBody>
      </p:sp>
      <p:sp>
        <p:nvSpPr>
          <p:cNvPr id="18" name="Shape 15"/>
          <p:cNvSpPr/>
          <p:nvPr/>
        </p:nvSpPr>
        <p:spPr>
          <a:xfrm>
            <a:off x="640080" y="3749040"/>
            <a:ext cx="292608" cy="292608"/>
          </a:xfrm>
          <a:prstGeom prst="ellipse">
            <a:avLst/>
          </a:prstGeom>
          <a:solidFill>
            <a:srgbClr val="00A896"/>
          </a:solidFill>
          <a:ln/>
        </p:spPr>
        <p:txBody>
          <a:bodyPr/>
          <a:lstStyle/>
          <a:p>
            <a:endParaRPr lang="en-IN"/>
          </a:p>
        </p:txBody>
      </p:sp>
      <p:sp>
        <p:nvSpPr>
          <p:cNvPr id="19" name="Text 16"/>
          <p:cNvSpPr/>
          <p:nvPr/>
        </p:nvSpPr>
        <p:spPr>
          <a:xfrm>
            <a:off x="640080" y="374904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p:nvPr/>
        </p:nvSpPr>
        <p:spPr>
          <a:xfrm>
            <a:off x="1097280" y="3694176"/>
            <a:ext cx="4937760" cy="402336"/>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Split dataset into training and testing sets</a:t>
            </a:r>
            <a:endParaRPr lang="en-US" sz="1200" dirty="0"/>
          </a:p>
        </p:txBody>
      </p:sp>
      <p:sp>
        <p:nvSpPr>
          <p:cNvPr id="21" name="Shape 18"/>
          <p:cNvSpPr/>
          <p:nvPr/>
        </p:nvSpPr>
        <p:spPr>
          <a:xfrm>
            <a:off x="640080" y="4251960"/>
            <a:ext cx="292608" cy="292608"/>
          </a:xfrm>
          <a:prstGeom prst="ellipse">
            <a:avLst/>
          </a:prstGeom>
          <a:solidFill>
            <a:srgbClr val="00A896"/>
          </a:solidFill>
          <a:ln/>
        </p:spPr>
        <p:txBody>
          <a:bodyPr/>
          <a:lstStyle/>
          <a:p>
            <a:endParaRPr lang="en-IN"/>
          </a:p>
        </p:txBody>
      </p:sp>
      <p:sp>
        <p:nvSpPr>
          <p:cNvPr id="22" name="Text 19"/>
          <p:cNvSpPr/>
          <p:nvPr/>
        </p:nvSpPr>
        <p:spPr>
          <a:xfrm>
            <a:off x="640080" y="425196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0"/>
          <p:cNvSpPr/>
          <p:nvPr/>
        </p:nvSpPr>
        <p:spPr>
          <a:xfrm>
            <a:off x="1097280" y="4197096"/>
            <a:ext cx="4937760" cy="402336"/>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Apply preprocessing inside a Scikit-learn Pipeline to avoid data leakage</a:t>
            </a:r>
            <a:endParaRPr lang="en-US" sz="1200" dirty="0"/>
          </a:p>
        </p:txBody>
      </p:sp>
      <p:sp>
        <p:nvSpPr>
          <p:cNvPr id="24" name="Shape 21"/>
          <p:cNvSpPr/>
          <p:nvPr/>
        </p:nvSpPr>
        <p:spPr>
          <a:xfrm>
            <a:off x="6309360" y="1325880"/>
            <a:ext cx="5212080" cy="4343400"/>
          </a:xfrm>
          <a:prstGeom prst="roundRect">
            <a:avLst>
              <a:gd name="adj" fmla="val 2105"/>
            </a:avLst>
          </a:prstGeom>
          <a:solidFill>
            <a:srgbClr val="F2F7F7"/>
          </a:solidFill>
          <a:ln/>
        </p:spPr>
        <p:txBody>
          <a:bodyPr/>
          <a:lstStyle/>
          <a:p>
            <a:endParaRPr lang="en-IN"/>
          </a:p>
        </p:txBody>
      </p:sp>
      <p:sp>
        <p:nvSpPr>
          <p:cNvPr id="25" name="Text 22"/>
          <p:cNvSpPr/>
          <p:nvPr/>
        </p:nvSpPr>
        <p:spPr>
          <a:xfrm>
            <a:off x="6583680" y="1508760"/>
            <a:ext cx="4663440" cy="320040"/>
          </a:xfrm>
          <a:prstGeom prst="rect">
            <a:avLst/>
          </a:prstGeom>
          <a:noFill/>
          <a:ln/>
        </p:spPr>
        <p:txBody>
          <a:bodyPr wrap="square" rtlCol="0" anchor="ctr"/>
          <a:lstStyle/>
          <a:p>
            <a:pPr marL="0" indent="0">
              <a:buNone/>
            </a:pPr>
            <a:r>
              <a:rPr lang="en-US" sz="1400" b="1" dirty="0">
                <a:solidFill>
                  <a:srgbClr val="00A896"/>
                </a:solidFill>
                <a:latin typeface="Cambria" pitchFamily="34" charset="0"/>
                <a:ea typeface="Cambria" pitchFamily="34" charset="-122"/>
                <a:cs typeface="Cambria" pitchFamily="34" charset="-120"/>
              </a:rPr>
              <a:t>EDA FOCUS AREAS</a:t>
            </a:r>
            <a:endParaRPr lang="en-US" sz="1400" dirty="0"/>
          </a:p>
        </p:txBody>
      </p:sp>
      <p:sp>
        <p:nvSpPr>
          <p:cNvPr id="26" name="Text 23"/>
          <p:cNvSpPr/>
          <p:nvPr/>
        </p:nvSpPr>
        <p:spPr>
          <a:xfrm>
            <a:off x="6583680" y="1965960"/>
            <a:ext cx="4663440" cy="777240"/>
          </a:xfrm>
          <a:prstGeom prst="rect">
            <a:avLst/>
          </a:prstGeom>
          <a:noFill/>
          <a:ln/>
        </p:spPr>
        <p:txBody>
          <a:bodyPr wrap="square" rtlCol="0" anchor="t"/>
          <a:lstStyle/>
          <a:p>
            <a:pPr marL="0" indent="0">
              <a:buNone/>
            </a:pPr>
            <a:r>
              <a:rPr lang="en-US" sz="1300" b="1" dirty="0">
                <a:solidFill>
                  <a:srgbClr val="013A40"/>
                </a:solidFill>
                <a:latin typeface="Calibri" pitchFamily="34" charset="0"/>
                <a:ea typeface="Calibri" pitchFamily="34" charset="-122"/>
                <a:cs typeface="Calibri" pitchFamily="34" charset="-120"/>
              </a:rPr>
              <a:t>Target / class distribution</a:t>
            </a:r>
            <a:endParaRPr lang="en-US" sz="1300" dirty="0"/>
          </a:p>
          <a:p>
            <a:pPr marL="0" indent="0">
              <a:buNone/>
            </a:pPr>
            <a:r>
              <a:rPr lang="en-US" sz="1150" dirty="0">
                <a:solidFill>
                  <a:srgbClr val="5A6E74"/>
                </a:solidFill>
                <a:latin typeface="Calibri" pitchFamily="34" charset="0"/>
                <a:ea typeface="Calibri" pitchFamily="34" charset="-122"/>
                <a:cs typeface="Calibri" pitchFamily="34" charset="-120"/>
              </a:rPr>
              <a:t>Understand balance between diabetes-positive and negative cases</a:t>
            </a:r>
            <a:endParaRPr lang="en-US" sz="1300" dirty="0"/>
          </a:p>
        </p:txBody>
      </p:sp>
      <p:sp>
        <p:nvSpPr>
          <p:cNvPr id="27" name="Text 24"/>
          <p:cNvSpPr/>
          <p:nvPr/>
        </p:nvSpPr>
        <p:spPr>
          <a:xfrm>
            <a:off x="6583680" y="2834640"/>
            <a:ext cx="4663440" cy="777240"/>
          </a:xfrm>
          <a:prstGeom prst="rect">
            <a:avLst/>
          </a:prstGeom>
          <a:noFill/>
          <a:ln/>
        </p:spPr>
        <p:txBody>
          <a:bodyPr wrap="square" rtlCol="0" anchor="t"/>
          <a:lstStyle/>
          <a:p>
            <a:pPr marL="0" indent="0">
              <a:buNone/>
            </a:pPr>
            <a:r>
              <a:rPr lang="en-US" sz="1300" b="1" dirty="0">
                <a:solidFill>
                  <a:srgbClr val="013A40"/>
                </a:solidFill>
                <a:latin typeface="Calibri" pitchFamily="34" charset="0"/>
                <a:ea typeface="Calibri" pitchFamily="34" charset="-122"/>
                <a:cs typeface="Calibri" pitchFamily="34" charset="-120"/>
              </a:rPr>
              <a:t>Feature distributions</a:t>
            </a:r>
            <a:endParaRPr lang="en-US" sz="1300" dirty="0"/>
          </a:p>
          <a:p>
            <a:pPr marL="0" indent="0">
              <a:buNone/>
            </a:pPr>
            <a:r>
              <a:rPr lang="en-US" sz="1150" dirty="0">
                <a:solidFill>
                  <a:srgbClr val="5A6E74"/>
                </a:solidFill>
                <a:latin typeface="Calibri" pitchFamily="34" charset="0"/>
                <a:ea typeface="Calibri" pitchFamily="34" charset="-122"/>
                <a:cs typeface="Calibri" pitchFamily="34" charset="-120"/>
              </a:rPr>
              <a:t>Explore spread of Age, BMI, HbA1c, and Glucose values</a:t>
            </a:r>
            <a:endParaRPr lang="en-US" sz="1300" dirty="0"/>
          </a:p>
        </p:txBody>
      </p:sp>
      <p:sp>
        <p:nvSpPr>
          <p:cNvPr id="28" name="Text 25"/>
          <p:cNvSpPr/>
          <p:nvPr/>
        </p:nvSpPr>
        <p:spPr>
          <a:xfrm>
            <a:off x="6583680" y="3703320"/>
            <a:ext cx="4663440" cy="777240"/>
          </a:xfrm>
          <a:prstGeom prst="rect">
            <a:avLst/>
          </a:prstGeom>
          <a:noFill/>
          <a:ln/>
        </p:spPr>
        <p:txBody>
          <a:bodyPr wrap="square" rtlCol="0" anchor="t"/>
          <a:lstStyle/>
          <a:p>
            <a:pPr marL="0" indent="0">
              <a:buNone/>
            </a:pPr>
            <a:r>
              <a:rPr lang="en-US" sz="1300" b="1" dirty="0">
                <a:solidFill>
                  <a:srgbClr val="013A40"/>
                </a:solidFill>
                <a:latin typeface="Calibri" pitchFamily="34" charset="0"/>
                <a:ea typeface="Calibri" pitchFamily="34" charset="-122"/>
                <a:cs typeface="Calibri" pitchFamily="34" charset="-120"/>
              </a:rPr>
              <a:t>Correlation analysis</a:t>
            </a:r>
            <a:endParaRPr lang="en-US" sz="1300" dirty="0"/>
          </a:p>
          <a:p>
            <a:pPr marL="0" indent="0">
              <a:buNone/>
            </a:pPr>
            <a:r>
              <a:rPr lang="en-US" sz="1150" dirty="0">
                <a:solidFill>
                  <a:srgbClr val="5A6E74"/>
                </a:solidFill>
                <a:latin typeface="Calibri" pitchFamily="34" charset="0"/>
                <a:ea typeface="Calibri" pitchFamily="34" charset="-122"/>
                <a:cs typeface="Calibri" pitchFamily="34" charset="-120"/>
              </a:rPr>
              <a:t>Identify how features relate to each other and to the target</a:t>
            </a:r>
            <a:endParaRPr lang="en-US" sz="1300" dirty="0"/>
          </a:p>
        </p:txBody>
      </p:sp>
      <p:sp>
        <p:nvSpPr>
          <p:cNvPr id="29" name="Text 26"/>
          <p:cNvSpPr/>
          <p:nvPr/>
        </p:nvSpPr>
        <p:spPr>
          <a:xfrm>
            <a:off x="6583680" y="4572000"/>
            <a:ext cx="4663440" cy="777240"/>
          </a:xfrm>
          <a:prstGeom prst="rect">
            <a:avLst/>
          </a:prstGeom>
          <a:noFill/>
          <a:ln/>
        </p:spPr>
        <p:txBody>
          <a:bodyPr wrap="square" rtlCol="0" anchor="t"/>
          <a:lstStyle/>
          <a:p>
            <a:pPr marL="0" indent="0">
              <a:buNone/>
            </a:pPr>
            <a:r>
              <a:rPr lang="en-US" sz="1300" b="1" dirty="0">
                <a:solidFill>
                  <a:srgbClr val="013A40"/>
                </a:solidFill>
                <a:latin typeface="Calibri" pitchFamily="34" charset="0"/>
                <a:ea typeface="Calibri" pitchFamily="34" charset="-122"/>
                <a:cs typeface="Calibri" pitchFamily="34" charset="-120"/>
              </a:rPr>
              <a:t>Health–outcome relationships</a:t>
            </a:r>
            <a:endParaRPr lang="en-US" sz="1300" dirty="0"/>
          </a:p>
          <a:p>
            <a:pPr marL="0" indent="0">
              <a:buNone/>
            </a:pPr>
            <a:r>
              <a:rPr lang="en-US" sz="1150" dirty="0">
                <a:solidFill>
                  <a:srgbClr val="5A6E74"/>
                </a:solidFill>
                <a:latin typeface="Calibri" pitchFamily="34" charset="0"/>
                <a:ea typeface="Calibri" pitchFamily="34" charset="-122"/>
                <a:cs typeface="Calibri" pitchFamily="34" charset="-120"/>
              </a:rPr>
              <a:t>Study associations between health features and diabetes outcome</a:t>
            </a:r>
            <a:endParaRPr lang="en-US" sz="1300" dirty="0"/>
          </a:p>
        </p:txBody>
      </p:sp>
      <p:sp>
        <p:nvSpPr>
          <p:cNvPr id="30" name="Shape 27"/>
          <p:cNvSpPr/>
          <p:nvPr/>
        </p:nvSpPr>
        <p:spPr>
          <a:xfrm>
            <a:off x="640080" y="5029200"/>
            <a:ext cx="5212080" cy="685800"/>
          </a:xfrm>
          <a:prstGeom prst="roundRect">
            <a:avLst>
              <a:gd name="adj" fmla="val 9333"/>
            </a:avLst>
          </a:prstGeom>
          <a:solidFill>
            <a:srgbClr val="FFF4E5"/>
          </a:solidFill>
          <a:ln w="12700">
            <a:solidFill>
              <a:srgbClr val="F0C674"/>
            </a:solidFill>
            <a:prstDash val="solid"/>
          </a:ln>
        </p:spPr>
        <p:txBody>
          <a:bodyPr/>
          <a:lstStyle/>
          <a:p>
            <a:endParaRPr lang="en-IN"/>
          </a:p>
        </p:txBody>
      </p:sp>
      <p:sp>
        <p:nvSpPr>
          <p:cNvPr id="31" name="Text 28"/>
          <p:cNvSpPr/>
          <p:nvPr/>
        </p:nvSpPr>
        <p:spPr>
          <a:xfrm>
            <a:off x="822960" y="5029200"/>
            <a:ext cx="4846320" cy="685800"/>
          </a:xfrm>
          <a:prstGeom prst="rect">
            <a:avLst/>
          </a:prstGeom>
          <a:noFill/>
          <a:ln/>
        </p:spPr>
        <p:txBody>
          <a:bodyPr wrap="square" rtlCol="0" anchor="ctr"/>
          <a:lstStyle/>
          <a:p>
            <a:pPr marL="0" indent="0">
              <a:buNone/>
            </a:pPr>
            <a:r>
              <a:rPr lang="en-US" sz="1000" i="1" dirty="0">
                <a:solidFill>
                  <a:srgbClr val="7A5A00"/>
                </a:solidFill>
                <a:latin typeface="Calibri" pitchFamily="34" charset="0"/>
                <a:ea typeface="Calibri" pitchFamily="34" charset="-122"/>
                <a:cs typeface="Calibri" pitchFamily="34" charset="-120"/>
              </a:rPr>
              <a:t>Note: Only preprocessing/EDA results actually obtained from the dataset will be reported — no invented values.</a:t>
            </a:r>
            <a:endParaRPr lang="en-US" sz="1000" dirty="0"/>
          </a:p>
        </p:txBody>
      </p:sp>
      <p:sp>
        <p:nvSpPr>
          <p:cNvPr id="32" name="Text 29"/>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33" name="Text 3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0A896"/>
          </a:solidFill>
          <a:ln/>
        </p:spPr>
        <p:txBody>
          <a:bodyPr/>
          <a:lstStyle/>
          <a:p>
            <a:endParaRPr lang="en-IN"/>
          </a:p>
        </p:txBody>
      </p:sp>
      <p:pic>
        <p:nvPicPr>
          <p:cNvPr id="3" name="Image 0" descr="/home/claude/diabetes_ppt/sitemap.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Algorithms Used</a:t>
            </a:r>
            <a:endParaRPr lang="en-US" sz="3000" dirty="0"/>
          </a:p>
        </p:txBody>
      </p:sp>
      <p:sp>
        <p:nvSpPr>
          <p:cNvPr id="5" name="Shape 2"/>
          <p:cNvSpPr/>
          <p:nvPr/>
        </p:nvSpPr>
        <p:spPr>
          <a:xfrm>
            <a:off x="548640" y="1371600"/>
            <a:ext cx="5349240" cy="3063240"/>
          </a:xfrm>
          <a:prstGeom prst="roundRect">
            <a:avLst>
              <a:gd name="adj" fmla="val 2985"/>
            </a:avLst>
          </a:prstGeom>
          <a:solidFill>
            <a:srgbClr val="028090"/>
          </a:solidFill>
          <a:ln/>
        </p:spPr>
        <p:txBody>
          <a:bodyPr/>
          <a:lstStyle/>
          <a:p>
            <a:endParaRPr lang="en-IN"/>
          </a:p>
        </p:txBody>
      </p:sp>
      <p:sp>
        <p:nvSpPr>
          <p:cNvPr id="6" name="Shape 3"/>
          <p:cNvSpPr/>
          <p:nvPr/>
        </p:nvSpPr>
        <p:spPr>
          <a:xfrm>
            <a:off x="822960" y="1600200"/>
            <a:ext cx="548640" cy="548640"/>
          </a:xfrm>
          <a:prstGeom prst="ellipse">
            <a:avLst/>
          </a:prstGeom>
          <a:solidFill>
            <a:srgbClr val="013A40"/>
          </a:solidFill>
          <a:ln/>
        </p:spPr>
        <p:txBody>
          <a:bodyPr/>
          <a:lstStyle/>
          <a:p>
            <a:endParaRPr lang="en-IN"/>
          </a:p>
        </p:txBody>
      </p:sp>
      <p:pic>
        <p:nvPicPr>
          <p:cNvPr id="7" name="Image 1" descr="/home/claude/diabetes_ppt/chart.png"/>
          <p:cNvPicPr>
            <a:picLocks noChangeAspect="1"/>
          </p:cNvPicPr>
          <p:nvPr/>
        </p:nvPicPr>
        <p:blipFill>
          <a:blip r:embed="rId4"/>
          <a:stretch>
            <a:fillRect/>
          </a:stretch>
        </p:blipFill>
        <p:spPr>
          <a:xfrm>
            <a:off x="965606" y="1742846"/>
            <a:ext cx="263347" cy="263347"/>
          </a:xfrm>
          <a:prstGeom prst="rect">
            <a:avLst/>
          </a:prstGeom>
        </p:spPr>
      </p:pic>
      <p:sp>
        <p:nvSpPr>
          <p:cNvPr id="8" name="Text 4"/>
          <p:cNvSpPr/>
          <p:nvPr/>
        </p:nvSpPr>
        <p:spPr>
          <a:xfrm>
            <a:off x="1508760" y="1627632"/>
            <a:ext cx="4206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Logistic Regression</a:t>
            </a:r>
            <a:endParaRPr lang="en-US" sz="1600" dirty="0"/>
          </a:p>
        </p:txBody>
      </p:sp>
      <p:sp>
        <p:nvSpPr>
          <p:cNvPr id="9" name="Text 5"/>
          <p:cNvSpPr/>
          <p:nvPr/>
        </p:nvSpPr>
        <p:spPr>
          <a:xfrm>
            <a:off x="868680" y="2286000"/>
            <a:ext cx="4754880" cy="2011680"/>
          </a:xfrm>
          <a:prstGeom prst="rect">
            <a:avLst/>
          </a:prstGeom>
          <a:noFill/>
          <a:ln/>
        </p:spPr>
        <p:txBody>
          <a:bodyPr wrap="square" rtlCol="0" anchor="t"/>
          <a:lstStyle/>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Supervised machine learning algorithm</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Used for binary classification tasks</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Estimates the probability of a sample belonging to a class</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 classification threshold converts probability into class 0 or 1</a:t>
            </a:r>
            <a:endParaRPr lang="en-US" sz="1200" dirty="0"/>
          </a:p>
        </p:txBody>
      </p:sp>
      <p:sp>
        <p:nvSpPr>
          <p:cNvPr id="10" name="Shape 6"/>
          <p:cNvSpPr/>
          <p:nvPr/>
        </p:nvSpPr>
        <p:spPr>
          <a:xfrm>
            <a:off x="6172200" y="1371600"/>
            <a:ext cx="5349240" cy="3063240"/>
          </a:xfrm>
          <a:prstGeom prst="roundRect">
            <a:avLst>
              <a:gd name="adj" fmla="val 2985"/>
            </a:avLst>
          </a:prstGeom>
          <a:solidFill>
            <a:srgbClr val="00A896"/>
          </a:solidFill>
          <a:ln/>
        </p:spPr>
        <p:txBody>
          <a:bodyPr/>
          <a:lstStyle/>
          <a:p>
            <a:endParaRPr lang="en-IN"/>
          </a:p>
        </p:txBody>
      </p:sp>
      <p:sp>
        <p:nvSpPr>
          <p:cNvPr id="11" name="Shape 7"/>
          <p:cNvSpPr/>
          <p:nvPr/>
        </p:nvSpPr>
        <p:spPr>
          <a:xfrm>
            <a:off x="6446520" y="1600200"/>
            <a:ext cx="548640" cy="548640"/>
          </a:xfrm>
          <a:prstGeom prst="ellipse">
            <a:avLst/>
          </a:prstGeom>
          <a:solidFill>
            <a:srgbClr val="013A40"/>
          </a:solidFill>
          <a:ln/>
        </p:spPr>
        <p:txBody>
          <a:bodyPr/>
          <a:lstStyle/>
          <a:p>
            <a:endParaRPr lang="en-IN"/>
          </a:p>
        </p:txBody>
      </p:sp>
      <p:pic>
        <p:nvPicPr>
          <p:cNvPr id="12" name="Image 2" descr="/home/claude/diabetes_ppt/layer.png"/>
          <p:cNvPicPr>
            <a:picLocks noChangeAspect="1"/>
          </p:cNvPicPr>
          <p:nvPr/>
        </p:nvPicPr>
        <p:blipFill>
          <a:blip r:embed="rId5"/>
          <a:stretch>
            <a:fillRect/>
          </a:stretch>
        </p:blipFill>
        <p:spPr>
          <a:xfrm>
            <a:off x="6589166" y="1742846"/>
            <a:ext cx="263347" cy="263347"/>
          </a:xfrm>
          <a:prstGeom prst="rect">
            <a:avLst/>
          </a:prstGeom>
        </p:spPr>
      </p:pic>
      <p:sp>
        <p:nvSpPr>
          <p:cNvPr id="13" name="Text 8"/>
          <p:cNvSpPr/>
          <p:nvPr/>
        </p:nvSpPr>
        <p:spPr>
          <a:xfrm>
            <a:off x="7132320" y="1627632"/>
            <a:ext cx="4206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Random Forest</a:t>
            </a:r>
            <a:endParaRPr lang="en-US" sz="1600" dirty="0"/>
          </a:p>
        </p:txBody>
      </p:sp>
      <p:sp>
        <p:nvSpPr>
          <p:cNvPr id="14" name="Text 9"/>
          <p:cNvSpPr/>
          <p:nvPr/>
        </p:nvSpPr>
        <p:spPr>
          <a:xfrm>
            <a:off x="6492240" y="2286000"/>
            <a:ext cx="4754880" cy="2011680"/>
          </a:xfrm>
          <a:prstGeom prst="rect">
            <a:avLst/>
          </a:prstGeom>
          <a:noFill/>
          <a:ln/>
        </p:spPr>
        <p:txBody>
          <a:bodyPr wrap="square" rtlCol="0" anchor="t"/>
          <a:lstStyle/>
          <a:p>
            <a:pPr marL="342900" indent="-3429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Supervised ensemble learning algorithm</a:t>
            </a:r>
            <a:endParaRPr lang="en-US" sz="1150" dirty="0"/>
          </a:p>
          <a:p>
            <a:pPr marL="342900" indent="-3429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Consists of multiple decision trees</a:t>
            </a:r>
            <a:endParaRPr lang="en-US" sz="1150" dirty="0"/>
          </a:p>
          <a:p>
            <a:pPr marL="342900" indent="-3429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Each tree produces its own prediction</a:t>
            </a:r>
            <a:endParaRPr lang="en-US" sz="1150" dirty="0"/>
          </a:p>
          <a:p>
            <a:pPr marL="342900" indent="-3429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Final class chosen mainly by majority voting across trees</a:t>
            </a:r>
            <a:endParaRPr lang="en-US" sz="1150" dirty="0"/>
          </a:p>
          <a:p>
            <a:pPr marL="342900" indent="-3429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Can capture nonlinear relationships between features</a:t>
            </a:r>
            <a:endParaRPr lang="en-US" sz="1150" dirty="0"/>
          </a:p>
        </p:txBody>
      </p:sp>
      <p:sp>
        <p:nvSpPr>
          <p:cNvPr id="15" name="Shape 10"/>
          <p:cNvSpPr/>
          <p:nvPr/>
        </p:nvSpPr>
        <p:spPr>
          <a:xfrm>
            <a:off x="548640" y="4617720"/>
            <a:ext cx="10972800" cy="1417320"/>
          </a:xfrm>
          <a:prstGeom prst="roundRect">
            <a:avLst>
              <a:gd name="adj" fmla="val 6452"/>
            </a:avLst>
          </a:prstGeom>
          <a:solidFill>
            <a:srgbClr val="F2F7F7"/>
          </a:solidFill>
          <a:ln/>
        </p:spPr>
        <p:txBody>
          <a:bodyPr/>
          <a:lstStyle/>
          <a:p>
            <a:endParaRPr lang="en-IN"/>
          </a:p>
        </p:txBody>
      </p:sp>
      <p:sp>
        <p:nvSpPr>
          <p:cNvPr id="16" name="Shape 11"/>
          <p:cNvSpPr/>
          <p:nvPr/>
        </p:nvSpPr>
        <p:spPr>
          <a:xfrm>
            <a:off x="777240" y="4828032"/>
            <a:ext cx="566928" cy="566928"/>
          </a:xfrm>
          <a:prstGeom prst="ellipse">
            <a:avLst/>
          </a:prstGeom>
          <a:solidFill>
            <a:srgbClr val="02C39A"/>
          </a:solidFill>
          <a:ln/>
        </p:spPr>
        <p:txBody>
          <a:bodyPr/>
          <a:lstStyle/>
          <a:p>
            <a:endParaRPr lang="en-IN"/>
          </a:p>
        </p:txBody>
      </p:sp>
      <p:pic>
        <p:nvPicPr>
          <p:cNvPr id="17" name="Image 3" descr="/home/claude/diabetes_ppt/project.png"/>
          <p:cNvPicPr>
            <a:picLocks noChangeAspect="1"/>
          </p:cNvPicPr>
          <p:nvPr/>
        </p:nvPicPr>
        <p:blipFill>
          <a:blip r:embed="rId6"/>
          <a:stretch>
            <a:fillRect/>
          </a:stretch>
        </p:blipFill>
        <p:spPr>
          <a:xfrm>
            <a:off x="924641" y="4975433"/>
            <a:ext cx="272125" cy="272125"/>
          </a:xfrm>
          <a:prstGeom prst="rect">
            <a:avLst/>
          </a:prstGeom>
        </p:spPr>
      </p:pic>
      <p:sp>
        <p:nvSpPr>
          <p:cNvPr id="18" name="Text 12"/>
          <p:cNvSpPr/>
          <p:nvPr/>
        </p:nvSpPr>
        <p:spPr>
          <a:xfrm>
            <a:off x="1554480" y="4709160"/>
            <a:ext cx="9784080" cy="1234440"/>
          </a:xfrm>
          <a:prstGeom prst="rect">
            <a:avLst/>
          </a:prstGeom>
          <a:noFill/>
          <a:ln/>
        </p:spPr>
        <p:txBody>
          <a:bodyPr wrap="square" rtlCol="0" anchor="ctr"/>
          <a:lstStyle/>
          <a:p>
            <a:pPr marL="0" indent="0">
              <a:lnSpc>
                <a:spcPct val="115000"/>
              </a:lnSpc>
              <a:buNone/>
            </a:pPr>
            <a:r>
              <a:rPr lang="en-US" sz="1350" b="1" dirty="0">
                <a:solidFill>
                  <a:srgbClr val="013A40"/>
                </a:solidFill>
                <a:latin typeface="Calibri" pitchFamily="34" charset="0"/>
                <a:ea typeface="Calibri" pitchFamily="34" charset="-122"/>
                <a:cs typeface="Calibri" pitchFamily="34" charset="-120"/>
              </a:rPr>
              <a:t>Stratified 5-Fold Cross-Validation  </a:t>
            </a:r>
            <a:endParaRPr lang="en-US" sz="1350" dirty="0"/>
          </a:p>
          <a:p>
            <a:pPr marL="0" indent="0">
              <a:lnSpc>
                <a:spcPct val="115000"/>
              </a:lnSpc>
              <a:buNone/>
            </a:pPr>
            <a:r>
              <a:rPr lang="en-US" sz="1150" dirty="0">
                <a:solidFill>
                  <a:srgbClr val="1A2E35"/>
                </a:solidFill>
                <a:latin typeface="Calibri" pitchFamily="34" charset="0"/>
                <a:ea typeface="Calibri" pitchFamily="34" charset="-122"/>
                <a:cs typeface="Calibri" pitchFamily="34" charset="-120"/>
              </a:rPr>
              <a:t>A validation/evaluation technique (not a ML algorithm). Training data is split into 5 folds — each fold is used once for validation while the remaining four train the model. Stratification keeps roughly the same class distribution in every fold.</a:t>
            </a:r>
            <a:endParaRPr lang="en-US" sz="1350" dirty="0"/>
          </a:p>
        </p:txBody>
      </p:sp>
      <p:sp>
        <p:nvSpPr>
          <p:cNvPr id="19" name="Text 13"/>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20" name="Text 1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28090"/>
          </a:solidFill>
          <a:ln/>
        </p:spPr>
        <p:txBody>
          <a:bodyPr/>
          <a:lstStyle/>
          <a:p>
            <a:endParaRPr lang="en-IN"/>
          </a:p>
        </p:txBody>
      </p:sp>
      <p:pic>
        <p:nvPicPr>
          <p:cNvPr id="3" name="Image 0" descr="/home/claude/diabetes_ppt/project.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System / ML Workflow</a:t>
            </a:r>
            <a:endParaRPr lang="en-US" sz="3000" dirty="0"/>
          </a:p>
        </p:txBody>
      </p:sp>
      <p:sp>
        <p:nvSpPr>
          <p:cNvPr id="5" name="Shape 2"/>
          <p:cNvSpPr/>
          <p:nvPr/>
        </p:nvSpPr>
        <p:spPr>
          <a:xfrm>
            <a:off x="685800" y="1417320"/>
            <a:ext cx="3337560" cy="1170432"/>
          </a:xfrm>
          <a:prstGeom prst="roundRect">
            <a:avLst>
              <a:gd name="adj" fmla="val 7031"/>
            </a:avLst>
          </a:prstGeom>
          <a:solidFill>
            <a:srgbClr val="028090"/>
          </a:solidFill>
          <a:ln/>
        </p:spPr>
        <p:txBody>
          <a:bodyPr/>
          <a:lstStyle/>
          <a:p>
            <a:endParaRPr lang="en-IN"/>
          </a:p>
        </p:txBody>
      </p:sp>
      <p:sp>
        <p:nvSpPr>
          <p:cNvPr id="6" name="Text 3"/>
          <p:cNvSpPr/>
          <p:nvPr/>
        </p:nvSpPr>
        <p:spPr>
          <a:xfrm>
            <a:off x="795528" y="1490472"/>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4"/>
          <p:cNvSpPr/>
          <p:nvPr/>
        </p:nvSpPr>
        <p:spPr>
          <a:xfrm>
            <a:off x="868680" y="1691640"/>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8" name="Shape 5"/>
          <p:cNvSpPr/>
          <p:nvPr/>
        </p:nvSpPr>
        <p:spPr>
          <a:xfrm>
            <a:off x="4050792" y="1901952"/>
            <a:ext cx="356616" cy="201168"/>
          </a:xfrm>
          <a:prstGeom prst="rightArrow">
            <a:avLst/>
          </a:prstGeom>
          <a:solidFill>
            <a:srgbClr val="5A6E74"/>
          </a:solidFill>
          <a:ln/>
        </p:spPr>
        <p:txBody>
          <a:bodyPr/>
          <a:lstStyle/>
          <a:p>
            <a:endParaRPr lang="en-IN"/>
          </a:p>
        </p:txBody>
      </p:sp>
      <p:sp>
        <p:nvSpPr>
          <p:cNvPr id="9" name="Shape 6"/>
          <p:cNvSpPr/>
          <p:nvPr/>
        </p:nvSpPr>
        <p:spPr>
          <a:xfrm>
            <a:off x="4434840" y="1417320"/>
            <a:ext cx="3337560" cy="1170432"/>
          </a:xfrm>
          <a:prstGeom prst="roundRect">
            <a:avLst>
              <a:gd name="adj" fmla="val 7031"/>
            </a:avLst>
          </a:prstGeom>
          <a:solidFill>
            <a:srgbClr val="00A896"/>
          </a:solidFill>
          <a:ln/>
        </p:spPr>
        <p:txBody>
          <a:bodyPr/>
          <a:lstStyle/>
          <a:p>
            <a:endParaRPr lang="en-IN"/>
          </a:p>
        </p:txBody>
      </p:sp>
      <p:sp>
        <p:nvSpPr>
          <p:cNvPr id="10" name="Text 7"/>
          <p:cNvSpPr/>
          <p:nvPr/>
        </p:nvSpPr>
        <p:spPr>
          <a:xfrm>
            <a:off x="4544568" y="1490472"/>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8"/>
          <p:cNvSpPr/>
          <p:nvPr/>
        </p:nvSpPr>
        <p:spPr>
          <a:xfrm>
            <a:off x="4617720" y="1691640"/>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Cleaning &amp;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p>
        </p:txBody>
      </p:sp>
      <p:sp>
        <p:nvSpPr>
          <p:cNvPr id="12" name="Shape 9"/>
          <p:cNvSpPr/>
          <p:nvPr/>
        </p:nvSpPr>
        <p:spPr>
          <a:xfrm>
            <a:off x="7799832" y="1901952"/>
            <a:ext cx="356616" cy="201168"/>
          </a:xfrm>
          <a:prstGeom prst="rightArrow">
            <a:avLst/>
          </a:prstGeom>
          <a:solidFill>
            <a:srgbClr val="5A6E74"/>
          </a:solidFill>
          <a:ln/>
        </p:spPr>
        <p:txBody>
          <a:bodyPr/>
          <a:lstStyle/>
          <a:p>
            <a:endParaRPr lang="en-IN"/>
          </a:p>
        </p:txBody>
      </p:sp>
      <p:sp>
        <p:nvSpPr>
          <p:cNvPr id="13" name="Shape 10"/>
          <p:cNvSpPr/>
          <p:nvPr/>
        </p:nvSpPr>
        <p:spPr>
          <a:xfrm>
            <a:off x="8183880" y="1417320"/>
            <a:ext cx="3337560" cy="1170432"/>
          </a:xfrm>
          <a:prstGeom prst="roundRect">
            <a:avLst>
              <a:gd name="adj" fmla="val 7031"/>
            </a:avLst>
          </a:prstGeom>
          <a:solidFill>
            <a:srgbClr val="02C39A"/>
          </a:solidFill>
          <a:ln/>
        </p:spPr>
        <p:txBody>
          <a:bodyPr/>
          <a:lstStyle/>
          <a:p>
            <a:endParaRPr lang="en-IN"/>
          </a:p>
        </p:txBody>
      </p:sp>
      <p:sp>
        <p:nvSpPr>
          <p:cNvPr id="14" name="Text 11"/>
          <p:cNvSpPr/>
          <p:nvPr/>
        </p:nvSpPr>
        <p:spPr>
          <a:xfrm>
            <a:off x="8293608" y="1490472"/>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2"/>
          <p:cNvSpPr/>
          <p:nvPr/>
        </p:nvSpPr>
        <p:spPr>
          <a:xfrm>
            <a:off x="8366760" y="1691640"/>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Exploratory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Data Analysis</a:t>
            </a:r>
            <a:endParaRPr lang="en-US" sz="1300" dirty="0"/>
          </a:p>
        </p:txBody>
      </p:sp>
      <p:sp>
        <p:nvSpPr>
          <p:cNvPr id="16" name="Shape 13"/>
          <p:cNvSpPr/>
          <p:nvPr/>
        </p:nvSpPr>
        <p:spPr>
          <a:xfrm>
            <a:off x="685800" y="2907792"/>
            <a:ext cx="3337560" cy="1170432"/>
          </a:xfrm>
          <a:prstGeom prst="roundRect">
            <a:avLst>
              <a:gd name="adj" fmla="val 7031"/>
            </a:avLst>
          </a:prstGeom>
          <a:solidFill>
            <a:srgbClr val="028090"/>
          </a:solidFill>
          <a:ln/>
        </p:spPr>
        <p:txBody>
          <a:bodyPr/>
          <a:lstStyle/>
          <a:p>
            <a:endParaRPr lang="en-IN"/>
          </a:p>
        </p:txBody>
      </p:sp>
      <p:sp>
        <p:nvSpPr>
          <p:cNvPr id="17" name="Text 14"/>
          <p:cNvSpPr/>
          <p:nvPr/>
        </p:nvSpPr>
        <p:spPr>
          <a:xfrm>
            <a:off x="795528" y="2980944"/>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8" name="Text 15"/>
          <p:cNvSpPr/>
          <p:nvPr/>
        </p:nvSpPr>
        <p:spPr>
          <a:xfrm>
            <a:off x="868680" y="3182112"/>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Train / Test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Split</a:t>
            </a:r>
            <a:endParaRPr lang="en-US" sz="1300" dirty="0"/>
          </a:p>
        </p:txBody>
      </p:sp>
      <p:sp>
        <p:nvSpPr>
          <p:cNvPr id="19" name="Shape 16"/>
          <p:cNvSpPr/>
          <p:nvPr/>
        </p:nvSpPr>
        <p:spPr>
          <a:xfrm>
            <a:off x="4050792" y="3392424"/>
            <a:ext cx="356616" cy="201168"/>
          </a:xfrm>
          <a:prstGeom prst="rightArrow">
            <a:avLst/>
          </a:prstGeom>
          <a:solidFill>
            <a:srgbClr val="5A6E74"/>
          </a:solidFill>
          <a:ln/>
        </p:spPr>
        <p:txBody>
          <a:bodyPr/>
          <a:lstStyle/>
          <a:p>
            <a:endParaRPr lang="en-IN"/>
          </a:p>
        </p:txBody>
      </p:sp>
      <p:sp>
        <p:nvSpPr>
          <p:cNvPr id="20" name="Shape 17"/>
          <p:cNvSpPr/>
          <p:nvPr/>
        </p:nvSpPr>
        <p:spPr>
          <a:xfrm>
            <a:off x="4434840" y="2907792"/>
            <a:ext cx="3337560" cy="1170432"/>
          </a:xfrm>
          <a:prstGeom prst="roundRect">
            <a:avLst>
              <a:gd name="adj" fmla="val 7031"/>
            </a:avLst>
          </a:prstGeom>
          <a:solidFill>
            <a:srgbClr val="00A896"/>
          </a:solidFill>
          <a:ln/>
        </p:spPr>
        <p:txBody>
          <a:bodyPr/>
          <a:lstStyle/>
          <a:p>
            <a:endParaRPr lang="en-IN"/>
          </a:p>
        </p:txBody>
      </p:sp>
      <p:sp>
        <p:nvSpPr>
          <p:cNvPr id="21" name="Text 18"/>
          <p:cNvSpPr/>
          <p:nvPr/>
        </p:nvSpPr>
        <p:spPr>
          <a:xfrm>
            <a:off x="4544568" y="2980944"/>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2" name="Text 19"/>
          <p:cNvSpPr/>
          <p:nvPr/>
        </p:nvSpPr>
        <p:spPr>
          <a:xfrm>
            <a:off x="4617720" y="3182112"/>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 Random Forest</a:t>
            </a:r>
            <a:endParaRPr lang="en-US" sz="1300" dirty="0"/>
          </a:p>
        </p:txBody>
      </p:sp>
      <p:sp>
        <p:nvSpPr>
          <p:cNvPr id="23" name="Shape 20"/>
          <p:cNvSpPr/>
          <p:nvPr/>
        </p:nvSpPr>
        <p:spPr>
          <a:xfrm>
            <a:off x="7799832" y="3392424"/>
            <a:ext cx="356616" cy="201168"/>
          </a:xfrm>
          <a:prstGeom prst="rightArrow">
            <a:avLst/>
          </a:prstGeom>
          <a:solidFill>
            <a:srgbClr val="5A6E74"/>
          </a:solidFill>
          <a:ln/>
        </p:spPr>
        <p:txBody>
          <a:bodyPr/>
          <a:lstStyle/>
          <a:p>
            <a:endParaRPr lang="en-IN"/>
          </a:p>
        </p:txBody>
      </p:sp>
      <p:sp>
        <p:nvSpPr>
          <p:cNvPr id="24" name="Shape 21"/>
          <p:cNvSpPr/>
          <p:nvPr/>
        </p:nvSpPr>
        <p:spPr>
          <a:xfrm>
            <a:off x="8183880" y="2907792"/>
            <a:ext cx="3337560" cy="1170432"/>
          </a:xfrm>
          <a:prstGeom prst="roundRect">
            <a:avLst>
              <a:gd name="adj" fmla="val 7031"/>
            </a:avLst>
          </a:prstGeom>
          <a:solidFill>
            <a:srgbClr val="02C39A"/>
          </a:solidFill>
          <a:ln/>
        </p:spPr>
        <p:txBody>
          <a:bodyPr/>
          <a:lstStyle/>
          <a:p>
            <a:endParaRPr lang="en-IN"/>
          </a:p>
        </p:txBody>
      </p:sp>
      <p:sp>
        <p:nvSpPr>
          <p:cNvPr id="25" name="Text 22"/>
          <p:cNvSpPr/>
          <p:nvPr/>
        </p:nvSpPr>
        <p:spPr>
          <a:xfrm>
            <a:off x="8293608" y="2980944"/>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6" name="Text 23"/>
          <p:cNvSpPr/>
          <p:nvPr/>
        </p:nvSpPr>
        <p:spPr>
          <a:xfrm>
            <a:off x="8366760" y="3182112"/>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Stratified 5-Fold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Cross-Validation</a:t>
            </a:r>
            <a:endParaRPr lang="en-US" sz="1300" dirty="0"/>
          </a:p>
        </p:txBody>
      </p:sp>
      <p:sp>
        <p:nvSpPr>
          <p:cNvPr id="27" name="Shape 24"/>
          <p:cNvSpPr/>
          <p:nvPr/>
        </p:nvSpPr>
        <p:spPr>
          <a:xfrm>
            <a:off x="685800" y="4398264"/>
            <a:ext cx="3337560" cy="1170432"/>
          </a:xfrm>
          <a:prstGeom prst="roundRect">
            <a:avLst>
              <a:gd name="adj" fmla="val 7031"/>
            </a:avLst>
          </a:prstGeom>
          <a:solidFill>
            <a:srgbClr val="028090"/>
          </a:solidFill>
          <a:ln/>
        </p:spPr>
        <p:txBody>
          <a:bodyPr/>
          <a:lstStyle/>
          <a:p>
            <a:endParaRPr lang="en-IN"/>
          </a:p>
        </p:txBody>
      </p:sp>
      <p:sp>
        <p:nvSpPr>
          <p:cNvPr id="28" name="Text 25"/>
          <p:cNvSpPr/>
          <p:nvPr/>
        </p:nvSpPr>
        <p:spPr>
          <a:xfrm>
            <a:off x="795528" y="4471416"/>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9" name="Text 26"/>
          <p:cNvSpPr/>
          <p:nvPr/>
        </p:nvSpPr>
        <p:spPr>
          <a:xfrm>
            <a:off x="868680" y="4672584"/>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Predictions</a:t>
            </a:r>
            <a:endParaRPr lang="en-US" sz="1300" dirty="0"/>
          </a:p>
        </p:txBody>
      </p:sp>
      <p:sp>
        <p:nvSpPr>
          <p:cNvPr id="30" name="Shape 27"/>
          <p:cNvSpPr/>
          <p:nvPr/>
        </p:nvSpPr>
        <p:spPr>
          <a:xfrm>
            <a:off x="4050792" y="4882896"/>
            <a:ext cx="356616" cy="201168"/>
          </a:xfrm>
          <a:prstGeom prst="rightArrow">
            <a:avLst/>
          </a:prstGeom>
          <a:solidFill>
            <a:srgbClr val="5A6E74"/>
          </a:solidFill>
          <a:ln/>
        </p:spPr>
        <p:txBody>
          <a:bodyPr/>
          <a:lstStyle/>
          <a:p>
            <a:endParaRPr lang="en-IN"/>
          </a:p>
        </p:txBody>
      </p:sp>
      <p:sp>
        <p:nvSpPr>
          <p:cNvPr id="31" name="Shape 28"/>
          <p:cNvSpPr/>
          <p:nvPr/>
        </p:nvSpPr>
        <p:spPr>
          <a:xfrm>
            <a:off x="4434840" y="4398264"/>
            <a:ext cx="3337560" cy="1170432"/>
          </a:xfrm>
          <a:prstGeom prst="roundRect">
            <a:avLst>
              <a:gd name="adj" fmla="val 7031"/>
            </a:avLst>
          </a:prstGeom>
          <a:solidFill>
            <a:srgbClr val="00A896"/>
          </a:solidFill>
          <a:ln/>
        </p:spPr>
        <p:txBody>
          <a:bodyPr/>
          <a:lstStyle/>
          <a:p>
            <a:endParaRPr lang="en-IN"/>
          </a:p>
        </p:txBody>
      </p:sp>
      <p:sp>
        <p:nvSpPr>
          <p:cNvPr id="32" name="Text 29"/>
          <p:cNvSpPr/>
          <p:nvPr/>
        </p:nvSpPr>
        <p:spPr>
          <a:xfrm>
            <a:off x="4544568" y="4471416"/>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33" name="Text 30"/>
          <p:cNvSpPr/>
          <p:nvPr/>
        </p:nvSpPr>
        <p:spPr>
          <a:xfrm>
            <a:off x="4617720" y="4672584"/>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Performance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p:txBody>
      </p:sp>
      <p:sp>
        <p:nvSpPr>
          <p:cNvPr id="34" name="Shape 31"/>
          <p:cNvSpPr/>
          <p:nvPr/>
        </p:nvSpPr>
        <p:spPr>
          <a:xfrm>
            <a:off x="7799832" y="4882896"/>
            <a:ext cx="356616" cy="201168"/>
          </a:xfrm>
          <a:prstGeom prst="rightArrow">
            <a:avLst/>
          </a:prstGeom>
          <a:solidFill>
            <a:srgbClr val="5A6E74"/>
          </a:solidFill>
          <a:ln/>
        </p:spPr>
        <p:txBody>
          <a:bodyPr/>
          <a:lstStyle/>
          <a:p>
            <a:endParaRPr lang="en-IN"/>
          </a:p>
        </p:txBody>
      </p:sp>
      <p:sp>
        <p:nvSpPr>
          <p:cNvPr id="35" name="Shape 32"/>
          <p:cNvSpPr/>
          <p:nvPr/>
        </p:nvSpPr>
        <p:spPr>
          <a:xfrm>
            <a:off x="8183880" y="4398264"/>
            <a:ext cx="3337560" cy="1170432"/>
          </a:xfrm>
          <a:prstGeom prst="roundRect">
            <a:avLst>
              <a:gd name="adj" fmla="val 7031"/>
            </a:avLst>
          </a:prstGeom>
          <a:solidFill>
            <a:srgbClr val="02C39A"/>
          </a:solidFill>
          <a:ln/>
        </p:spPr>
        <p:txBody>
          <a:bodyPr/>
          <a:lstStyle/>
          <a:p>
            <a:endParaRPr lang="en-IN"/>
          </a:p>
        </p:txBody>
      </p:sp>
      <p:sp>
        <p:nvSpPr>
          <p:cNvPr id="36" name="Text 33"/>
          <p:cNvSpPr/>
          <p:nvPr/>
        </p:nvSpPr>
        <p:spPr>
          <a:xfrm>
            <a:off x="8293608" y="4471416"/>
            <a:ext cx="457200" cy="320040"/>
          </a:xfrm>
          <a:prstGeom prst="rect">
            <a:avLst/>
          </a:prstGeom>
          <a:noFill/>
          <a:ln/>
        </p:spPr>
        <p:txBody>
          <a:bodyPr wrap="square"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37" name="Text 34"/>
          <p:cNvSpPr/>
          <p:nvPr/>
        </p:nvSpPr>
        <p:spPr>
          <a:xfrm>
            <a:off x="8366760" y="4672584"/>
            <a:ext cx="2971800"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Comparison</a:t>
            </a:r>
            <a:endParaRPr lang="en-US" sz="1300" dirty="0"/>
          </a:p>
        </p:txBody>
      </p:sp>
      <p:sp>
        <p:nvSpPr>
          <p:cNvPr id="38" name="Shape 35"/>
          <p:cNvSpPr/>
          <p:nvPr/>
        </p:nvSpPr>
        <p:spPr>
          <a:xfrm>
            <a:off x="9752076" y="2615184"/>
            <a:ext cx="201168" cy="265176"/>
          </a:xfrm>
          <a:prstGeom prst="downArrow">
            <a:avLst/>
          </a:prstGeom>
          <a:solidFill>
            <a:srgbClr val="5A6E74"/>
          </a:solidFill>
          <a:ln/>
        </p:spPr>
        <p:txBody>
          <a:bodyPr/>
          <a:lstStyle/>
          <a:p>
            <a:endParaRPr lang="en-IN"/>
          </a:p>
        </p:txBody>
      </p:sp>
      <p:sp>
        <p:nvSpPr>
          <p:cNvPr id="39" name="Shape 36"/>
          <p:cNvSpPr/>
          <p:nvPr/>
        </p:nvSpPr>
        <p:spPr>
          <a:xfrm>
            <a:off x="2253996" y="4105656"/>
            <a:ext cx="201168" cy="265176"/>
          </a:xfrm>
          <a:prstGeom prst="downArrow">
            <a:avLst/>
          </a:prstGeom>
          <a:solidFill>
            <a:srgbClr val="5A6E74"/>
          </a:solidFill>
          <a:ln/>
        </p:spPr>
        <p:txBody>
          <a:bodyPr/>
          <a:lstStyle/>
          <a:p>
            <a:endParaRPr lang="en-IN"/>
          </a:p>
        </p:txBody>
      </p:sp>
      <p:sp>
        <p:nvSpPr>
          <p:cNvPr id="40" name="Text 37"/>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41" name="Text 38"/>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0A896"/>
          </a:solidFill>
          <a:ln/>
        </p:spPr>
        <p:txBody>
          <a:bodyPr/>
          <a:lstStyle/>
          <a:p>
            <a:endParaRPr lang="en-IN"/>
          </a:p>
        </p:txBody>
      </p:sp>
      <p:pic>
        <p:nvPicPr>
          <p:cNvPr id="3" name="Image 0" descr="/home/claude/diabetes_ppt/chart.png"/>
          <p:cNvPicPr>
            <a:picLocks noChangeAspect="1"/>
          </p:cNvPicPr>
          <p:nvPr/>
        </p:nvPicPr>
        <p:blipFill>
          <a:blip r:embed="rId3"/>
          <a:stretch>
            <a:fillRect/>
          </a:stretch>
        </p:blipFill>
        <p:spPr>
          <a:xfrm>
            <a:off x="696041" y="604601"/>
            <a:ext cx="272125" cy="272125"/>
          </a:xfrm>
          <a:prstGeom prst="rect">
            <a:avLst/>
          </a:prstGeom>
        </p:spPr>
      </p:pic>
      <p:sp>
        <p:nvSpPr>
          <p:cNvPr id="4" name="Text 1"/>
          <p:cNvSpPr/>
          <p:nvPr/>
        </p:nvSpPr>
        <p:spPr>
          <a:xfrm>
            <a:off x="1280160" y="411480"/>
            <a:ext cx="10332720" cy="640080"/>
          </a:xfrm>
          <a:prstGeom prst="rect">
            <a:avLst/>
          </a:prstGeom>
          <a:noFill/>
          <a:ln/>
        </p:spPr>
        <p:txBody>
          <a:bodyPr wrap="square" rtlCol="0" anchor="ctr"/>
          <a:lstStyle/>
          <a:p>
            <a:pPr marL="0" indent="0">
              <a:buNone/>
            </a:pPr>
            <a:r>
              <a:rPr lang="en-US" sz="3000" b="1" dirty="0">
                <a:solidFill>
                  <a:srgbClr val="1A2E35"/>
                </a:solidFill>
                <a:latin typeface="Cambria" pitchFamily="34" charset="0"/>
                <a:ea typeface="Cambria" pitchFamily="34" charset="-122"/>
                <a:cs typeface="Cambria" pitchFamily="34" charset="-120"/>
              </a:rPr>
              <a:t>Results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320040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013A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Logistic Regression</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013A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013A40"/>
                    </a:solidFill>
                  </a:tcPr>
                </a:tc>
                <a:extLst>
                  <a:ext uri="{0D108BD9-81ED-4DB2-BD59-A6C34878D82A}">
                    <a16:rowId xmlns:a16="http://schemas.microsoft.com/office/drawing/2014/main" val="10000"/>
                  </a:ext>
                </a:extLst>
              </a:tr>
              <a:tr h="457200">
                <a:tc>
                  <a:txBody>
                    <a:bodyPr/>
                    <a:lstStyle/>
                    <a:p>
                      <a:pPr marL="0" indent="0">
                        <a:buNone/>
                      </a:pPr>
                      <a:r>
                        <a:rPr lang="en-US" sz="1150" dirty="0">
                          <a:solidFill>
                            <a:srgbClr val="1A2E35"/>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dirty="0">
                          <a:solidFill>
                            <a:srgbClr val="1A2E35"/>
                          </a:solidFill>
                          <a:latin typeface="Calibri" pitchFamily="34" charset="0"/>
                          <a:ea typeface="Calibri" pitchFamily="34" charset="-122"/>
                          <a:cs typeface="Calibri" pitchFamily="34" charset="-120"/>
                        </a:rPr>
                        <a:t>Precision</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dirty="0">
                          <a:solidFill>
                            <a:srgbClr val="1A2E35"/>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dirty="0">
                          <a:solidFill>
                            <a:srgbClr val="1A2E35"/>
                          </a:solidFill>
                          <a:latin typeface="Calibri" pitchFamily="34" charset="0"/>
                          <a:ea typeface="Calibri" pitchFamily="34" charset="-122"/>
                          <a:cs typeface="Calibri" pitchFamily="34" charset="-120"/>
                        </a:rPr>
                        <a:t>F1-Score</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dirty="0">
                          <a:solidFill>
                            <a:srgbClr val="1A2E35"/>
                          </a:solidFill>
                          <a:latin typeface="Calibri" pitchFamily="34" charset="0"/>
                          <a:ea typeface="Calibri" pitchFamily="34" charset="-122"/>
                          <a:cs typeface="Calibri" pitchFamily="34" charset="-120"/>
                        </a:rPr>
                        <a:t>ROC-AUC</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dirty="0">
                          <a:solidFill>
                            <a:srgbClr val="1A2E35"/>
                          </a:solidFill>
                          <a:latin typeface="Calibri" pitchFamily="34" charset="0"/>
                          <a:ea typeface="Calibri" pitchFamily="34" charset="-122"/>
                          <a:cs typeface="Calibri" pitchFamily="34" charset="-120"/>
                        </a:rPr>
                        <a:t>Mean CV Accuracy (5-Fold)</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5A6E7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anchor="ctr">
                    <a:lnL w="9525" cap="flat" cmpd="sng" algn="ctr">
                      <a:solidFill>
                        <a:srgbClr val="D8E4E4"/>
                      </a:solidFill>
                      <a:prstDash val="solid"/>
                      <a:round/>
                      <a:headEnd type="none" w="med" len="med"/>
                      <a:tailEnd type="none" w="med" len="med"/>
                    </a:lnL>
                    <a:lnR w="9525" cap="flat" cmpd="sng" algn="ctr">
                      <a:solidFill>
                        <a:srgbClr val="D8E4E4"/>
                      </a:solidFill>
                      <a:prstDash val="solid"/>
                      <a:round/>
                      <a:headEnd type="none" w="med" len="med"/>
                      <a:tailEnd type="none" w="med" len="med"/>
                    </a:lnR>
                    <a:lnT w="9525" cap="flat" cmpd="sng" algn="ctr">
                      <a:solidFill>
                        <a:srgbClr val="D8E4E4"/>
                      </a:solidFill>
                      <a:prstDash val="solid"/>
                      <a:round/>
                      <a:headEnd type="none" w="med" len="med"/>
                      <a:tailEnd type="none" w="med" len="med"/>
                    </a:lnT>
                    <a:lnB w="9525" cap="flat" cmpd="sng" algn="ctr">
                      <a:solidFill>
                        <a:srgbClr val="D8E4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2"/>
          <p:cNvSpPr/>
          <p:nvPr/>
        </p:nvSpPr>
        <p:spPr>
          <a:xfrm>
            <a:off x="6858000" y="1371600"/>
            <a:ext cx="4754880" cy="3200400"/>
          </a:xfrm>
          <a:prstGeom prst="roundRect">
            <a:avLst>
              <a:gd name="adj" fmla="val 2857"/>
            </a:avLst>
          </a:prstGeom>
          <a:solidFill>
            <a:srgbClr val="F2F7F7"/>
          </a:solidFill>
          <a:ln w="12700">
            <a:solidFill>
              <a:srgbClr val="D8E4E4"/>
            </a:solidFill>
            <a:prstDash val="solid"/>
          </a:ln>
        </p:spPr>
        <p:txBody>
          <a:bodyPr/>
          <a:lstStyle/>
          <a:p>
            <a:endParaRPr lang="en-IN"/>
          </a:p>
        </p:txBody>
      </p:sp>
      <p:sp>
        <p:nvSpPr>
          <p:cNvPr id="7" name="Shape 3"/>
          <p:cNvSpPr/>
          <p:nvPr/>
        </p:nvSpPr>
        <p:spPr>
          <a:xfrm>
            <a:off x="8778240" y="1828800"/>
            <a:ext cx="822960" cy="822960"/>
          </a:xfrm>
          <a:prstGeom prst="ellipse">
            <a:avLst/>
          </a:prstGeom>
          <a:solidFill>
            <a:srgbClr val="028090"/>
          </a:solidFill>
          <a:ln/>
        </p:spPr>
        <p:txBody>
          <a:bodyPr/>
          <a:lstStyle/>
          <a:p>
            <a:endParaRPr lang="en-IN"/>
          </a:p>
        </p:txBody>
      </p:sp>
      <p:pic>
        <p:nvPicPr>
          <p:cNvPr id="8" name="Image 1" descr="/home/claude/diabetes_ppt/chart.png"/>
          <p:cNvPicPr>
            <a:picLocks noChangeAspect="1"/>
          </p:cNvPicPr>
          <p:nvPr/>
        </p:nvPicPr>
        <p:blipFill>
          <a:blip r:embed="rId3"/>
          <a:stretch>
            <a:fillRect/>
          </a:stretch>
        </p:blipFill>
        <p:spPr>
          <a:xfrm>
            <a:off x="8992210" y="2042770"/>
            <a:ext cx="395021" cy="395021"/>
          </a:xfrm>
          <a:prstGeom prst="rect">
            <a:avLst/>
          </a:prstGeom>
        </p:spPr>
      </p:pic>
      <p:sp>
        <p:nvSpPr>
          <p:cNvPr id="9" name="Text 4"/>
          <p:cNvSpPr/>
          <p:nvPr/>
        </p:nvSpPr>
        <p:spPr>
          <a:xfrm>
            <a:off x="7040880" y="2788920"/>
            <a:ext cx="4389120" cy="320040"/>
          </a:xfrm>
          <a:prstGeom prst="rect">
            <a:avLst/>
          </a:prstGeom>
          <a:noFill/>
          <a:ln/>
        </p:spPr>
        <p:txBody>
          <a:bodyPr wrap="square" rtlCol="0" anchor="ctr"/>
          <a:lstStyle/>
          <a:p>
            <a:pPr marL="0" indent="0" algn="ctr">
              <a:buNone/>
            </a:pPr>
            <a:r>
              <a:rPr lang="en-US" sz="1300" b="1" dirty="0">
                <a:solidFill>
                  <a:srgbClr val="013A40"/>
                </a:solidFill>
                <a:latin typeface="Cambria" pitchFamily="34" charset="0"/>
                <a:ea typeface="Cambria" pitchFamily="34" charset="-122"/>
                <a:cs typeface="Cambria" pitchFamily="34" charset="-120"/>
              </a:rPr>
              <a:t>Bar Chart — Model Comparison</a:t>
            </a:r>
            <a:endParaRPr lang="en-US" sz="1300" dirty="0"/>
          </a:p>
        </p:txBody>
      </p:sp>
      <p:sp>
        <p:nvSpPr>
          <p:cNvPr id="5" name="Text 5"/>
          <p:cNvSpPr/>
          <p:nvPr/>
        </p:nvSpPr>
        <p:spPr>
          <a:xfrm>
            <a:off x="7040880" y="3154680"/>
            <a:ext cx="4389120" cy="1188720"/>
          </a:xfrm>
          <a:prstGeom prst="rect">
            <a:avLst/>
          </a:prstGeom>
          <a:noFill/>
          <a:ln/>
        </p:spPr>
        <p:txBody>
          <a:bodyPr wrap="square" rtlCol="0" anchor="ctr"/>
          <a:lstStyle/>
          <a:p>
            <a:pPr marL="0" indent="0" algn="ctr">
              <a:buNone/>
            </a:pPr>
            <a:r>
              <a:rPr lang="en-US" sz="1100" i="1" dirty="0">
                <a:solidFill>
                  <a:srgbClr val="5A6E74"/>
                </a:solidFill>
                <a:latin typeface="Calibri" pitchFamily="34" charset="0"/>
                <a:ea typeface="Calibri" pitchFamily="34" charset="-122"/>
                <a:cs typeface="Calibri" pitchFamily="34" charset="-120"/>
              </a:rPr>
              <a:t>[Placeholder — to be inserted after running</a:t>
            </a:r>
            <a:endParaRPr lang="en-US" sz="1100" dirty="0"/>
          </a:p>
          <a:p>
            <a:pPr marL="0" indent="0" algn="ctr">
              <a:buNone/>
            </a:pPr>
            <a:r>
              <a:rPr lang="en-US" sz="1100" i="1" dirty="0">
                <a:solidFill>
                  <a:srgbClr val="5A6E74"/>
                </a:solidFill>
                <a:latin typeface="Calibri" pitchFamily="34" charset="0"/>
                <a:ea typeface="Calibri" pitchFamily="34" charset="-122"/>
                <a:cs typeface="Calibri" pitchFamily="34" charset="-120"/>
              </a:rPr>
              <a:t>final models on the 100,000-record dataset]</a:t>
            </a:r>
            <a:endParaRPr lang="en-US" sz="1100" dirty="0"/>
          </a:p>
        </p:txBody>
      </p:sp>
      <p:sp>
        <p:nvSpPr>
          <p:cNvPr id="11" name="Shape 6"/>
          <p:cNvSpPr/>
          <p:nvPr/>
        </p:nvSpPr>
        <p:spPr>
          <a:xfrm>
            <a:off x="548640" y="4800600"/>
            <a:ext cx="11064240" cy="1051560"/>
          </a:xfrm>
          <a:prstGeom prst="roundRect">
            <a:avLst>
              <a:gd name="adj" fmla="val 6957"/>
            </a:avLst>
          </a:prstGeom>
          <a:solidFill>
            <a:srgbClr val="FFF4E5"/>
          </a:solidFill>
          <a:ln w="12700">
            <a:solidFill>
              <a:srgbClr val="F0C674"/>
            </a:solidFill>
            <a:prstDash val="solid"/>
          </a:ln>
        </p:spPr>
        <p:txBody>
          <a:bodyPr/>
          <a:lstStyle/>
          <a:p>
            <a:endParaRPr lang="en-IN"/>
          </a:p>
        </p:txBody>
      </p:sp>
      <p:sp>
        <p:nvSpPr>
          <p:cNvPr id="12" name="Shape 7"/>
          <p:cNvSpPr/>
          <p:nvPr/>
        </p:nvSpPr>
        <p:spPr>
          <a:xfrm>
            <a:off x="777240" y="4983480"/>
            <a:ext cx="502920" cy="502920"/>
          </a:xfrm>
          <a:prstGeom prst="ellipse">
            <a:avLst/>
          </a:prstGeom>
          <a:solidFill>
            <a:srgbClr val="D99000"/>
          </a:solidFill>
          <a:ln/>
        </p:spPr>
        <p:txBody>
          <a:bodyPr/>
          <a:lstStyle/>
          <a:p>
            <a:endParaRPr lang="en-IN"/>
          </a:p>
        </p:txBody>
      </p:sp>
      <p:pic>
        <p:nvPicPr>
          <p:cNvPr id="13" name="Image 2" descr="/home/claude/diabetes_ppt/exclaim.png"/>
          <p:cNvPicPr>
            <a:picLocks noChangeAspect="1"/>
          </p:cNvPicPr>
          <p:nvPr/>
        </p:nvPicPr>
        <p:blipFill>
          <a:blip r:embed="rId4"/>
          <a:stretch>
            <a:fillRect/>
          </a:stretch>
        </p:blipFill>
        <p:spPr>
          <a:xfrm>
            <a:off x="907999" y="5114239"/>
            <a:ext cx="241402" cy="241402"/>
          </a:xfrm>
          <a:prstGeom prst="rect">
            <a:avLst/>
          </a:prstGeom>
        </p:spPr>
      </p:pic>
      <p:sp>
        <p:nvSpPr>
          <p:cNvPr id="14" name="Text 8"/>
          <p:cNvSpPr/>
          <p:nvPr/>
        </p:nvSpPr>
        <p:spPr>
          <a:xfrm>
            <a:off x="1463040" y="4892040"/>
            <a:ext cx="9966960" cy="868680"/>
          </a:xfrm>
          <a:prstGeom prst="rect">
            <a:avLst/>
          </a:prstGeom>
          <a:noFill/>
          <a:ln/>
        </p:spPr>
        <p:txBody>
          <a:bodyPr wrap="square" rtlCol="0" anchor="ctr"/>
          <a:lstStyle/>
          <a:p>
            <a:pPr marL="0" indent="0">
              <a:buNone/>
            </a:pPr>
            <a:r>
              <a:rPr lang="en-US" sz="1050" dirty="0">
                <a:solidFill>
                  <a:srgbClr val="7A5A00"/>
                </a:solidFill>
                <a:latin typeface="Calibri" pitchFamily="34" charset="0"/>
                <a:ea typeface="Calibri" pitchFamily="34" charset="-122"/>
                <a:cs typeface="Calibri" pitchFamily="34" charset="-120"/>
              </a:rPr>
              <a:t>Results shown are placeholders. Actual values will be generated after running Logistic Regression and Random Forest with Stratified 5-Fold Cross-Validation on the 100,000-record Kaggle dataset — no fabricated statistics are used.</a:t>
            </a:r>
            <a:endParaRPr lang="en-US" sz="1050" dirty="0"/>
          </a:p>
        </p:txBody>
      </p:sp>
      <p:sp>
        <p:nvSpPr>
          <p:cNvPr id="15" name="Text 9"/>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16" name="Text 1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13A40"/>
        </a:solidFill>
        <a:effectLst/>
      </p:bgPr>
    </p:bg>
    <p:spTree>
      <p:nvGrpSpPr>
        <p:cNvPr id="1" name=""/>
        <p:cNvGrpSpPr/>
        <p:nvPr/>
      </p:nvGrpSpPr>
      <p:grpSpPr>
        <a:xfrm>
          <a:off x="0" y="0"/>
          <a:ext cx="0" cy="0"/>
          <a:chOff x="0" y="0"/>
          <a:chExt cx="0" cy="0"/>
        </a:xfrm>
      </p:grpSpPr>
      <p:sp>
        <p:nvSpPr>
          <p:cNvPr id="2" name="Shape 0"/>
          <p:cNvSpPr/>
          <p:nvPr/>
        </p:nvSpPr>
        <p:spPr>
          <a:xfrm>
            <a:off x="9692640" y="4206240"/>
            <a:ext cx="3840480" cy="3840480"/>
          </a:xfrm>
          <a:prstGeom prst="ellipse">
            <a:avLst/>
          </a:prstGeom>
          <a:solidFill>
            <a:srgbClr val="028090">
              <a:alpha val="28000"/>
            </a:srgbClr>
          </a:solidFill>
          <a:ln/>
        </p:spPr>
        <p:txBody>
          <a:bodyPr/>
          <a:lstStyle/>
          <a:p>
            <a:endParaRPr lang="en-IN"/>
          </a:p>
        </p:txBody>
      </p:sp>
      <p:sp>
        <p:nvSpPr>
          <p:cNvPr id="3" name="Shape 1"/>
          <p:cNvSpPr/>
          <p:nvPr/>
        </p:nvSpPr>
        <p:spPr>
          <a:xfrm>
            <a:off x="548640" y="502920"/>
            <a:ext cx="566928" cy="566928"/>
          </a:xfrm>
          <a:prstGeom prst="ellipse">
            <a:avLst/>
          </a:prstGeom>
          <a:solidFill>
            <a:srgbClr val="02C39A"/>
          </a:solidFill>
          <a:ln/>
        </p:spPr>
        <p:txBody>
          <a:bodyPr/>
          <a:lstStyle/>
          <a:p>
            <a:endParaRPr lang="en-IN"/>
          </a:p>
        </p:txBody>
      </p:sp>
      <p:pic>
        <p:nvPicPr>
          <p:cNvPr id="4" name="Image 0" descr="/home/claude/diabetes_ppt/check.png"/>
          <p:cNvPicPr>
            <a:picLocks noChangeAspect="1"/>
          </p:cNvPicPr>
          <p:nvPr/>
        </p:nvPicPr>
        <p:blipFill>
          <a:blip r:embed="rId3"/>
          <a:stretch>
            <a:fillRect/>
          </a:stretch>
        </p:blipFill>
        <p:spPr>
          <a:xfrm>
            <a:off x="696041" y="650321"/>
            <a:ext cx="272125" cy="272125"/>
          </a:xfrm>
          <a:prstGeom prst="rect">
            <a:avLst/>
          </a:prstGeom>
        </p:spPr>
      </p:pic>
      <p:sp>
        <p:nvSpPr>
          <p:cNvPr id="5" name="Text 2"/>
          <p:cNvSpPr/>
          <p:nvPr/>
        </p:nvSpPr>
        <p:spPr>
          <a:xfrm>
            <a:off x="1280160" y="45720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6" name="Shape 3"/>
          <p:cNvSpPr/>
          <p:nvPr/>
        </p:nvSpPr>
        <p:spPr>
          <a:xfrm>
            <a:off x="685800" y="1527048"/>
            <a:ext cx="310896" cy="310896"/>
          </a:xfrm>
          <a:prstGeom prst="ellipse">
            <a:avLst/>
          </a:prstGeom>
          <a:solidFill>
            <a:srgbClr val="02C39A"/>
          </a:solidFill>
          <a:ln/>
        </p:spPr>
        <p:txBody>
          <a:bodyPr/>
          <a:lstStyle/>
          <a:p>
            <a:endParaRPr lang="en-IN"/>
          </a:p>
        </p:txBody>
      </p:sp>
      <p:sp>
        <p:nvSpPr>
          <p:cNvPr id="7" name="Text 4"/>
          <p:cNvSpPr/>
          <p:nvPr/>
        </p:nvSpPr>
        <p:spPr>
          <a:xfrm>
            <a:off x="685800" y="1527048"/>
            <a:ext cx="310896" cy="310896"/>
          </a:xfrm>
          <a:prstGeom prst="rect">
            <a:avLst/>
          </a:prstGeom>
          <a:noFill/>
          <a:ln/>
        </p:spPr>
        <p:txBody>
          <a:bodyPr wrap="square" rtlCol="0" anchor="ctr"/>
          <a:lstStyle/>
          <a:p>
            <a:pPr marL="0" indent="0" algn="ctr">
              <a:buNone/>
            </a:pPr>
            <a:r>
              <a:rPr lang="en-US" sz="1200" b="1" dirty="0">
                <a:solidFill>
                  <a:srgbClr val="013A40"/>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1188720" y="1435608"/>
            <a:ext cx="103327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Demonstrates the use of supervised machine learning for diabetes risk prediction.</a:t>
            </a:r>
            <a:endParaRPr lang="en-US" sz="1450" dirty="0"/>
          </a:p>
        </p:txBody>
      </p:sp>
      <p:sp>
        <p:nvSpPr>
          <p:cNvPr id="9" name="Shape 6"/>
          <p:cNvSpPr/>
          <p:nvPr/>
        </p:nvSpPr>
        <p:spPr>
          <a:xfrm>
            <a:off x="685800" y="2331720"/>
            <a:ext cx="310896" cy="310896"/>
          </a:xfrm>
          <a:prstGeom prst="ellipse">
            <a:avLst/>
          </a:prstGeom>
          <a:solidFill>
            <a:srgbClr val="02C39A"/>
          </a:solidFill>
          <a:ln/>
        </p:spPr>
        <p:txBody>
          <a:bodyPr/>
          <a:lstStyle/>
          <a:p>
            <a:endParaRPr lang="en-IN"/>
          </a:p>
        </p:txBody>
      </p:sp>
      <p:sp>
        <p:nvSpPr>
          <p:cNvPr id="10" name="Text 7"/>
          <p:cNvSpPr/>
          <p:nvPr/>
        </p:nvSpPr>
        <p:spPr>
          <a:xfrm>
            <a:off x="685800" y="2331720"/>
            <a:ext cx="310896" cy="310896"/>
          </a:xfrm>
          <a:prstGeom prst="rect">
            <a:avLst/>
          </a:prstGeom>
          <a:noFill/>
          <a:ln/>
        </p:spPr>
        <p:txBody>
          <a:bodyPr wrap="square" rtlCol="0" anchor="ctr"/>
          <a:lstStyle/>
          <a:p>
            <a:pPr marL="0" indent="0" algn="ctr">
              <a:buNone/>
            </a:pPr>
            <a:r>
              <a:rPr lang="en-US" sz="1200" b="1" dirty="0">
                <a:solidFill>
                  <a:srgbClr val="013A40"/>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1188720" y="2240280"/>
            <a:ext cx="103327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Logistic Regression and Random Forest provide two different, complementary classification approaches.</a:t>
            </a:r>
            <a:endParaRPr lang="en-US" sz="1450" dirty="0"/>
          </a:p>
        </p:txBody>
      </p:sp>
      <p:sp>
        <p:nvSpPr>
          <p:cNvPr id="12" name="Shape 9"/>
          <p:cNvSpPr/>
          <p:nvPr/>
        </p:nvSpPr>
        <p:spPr>
          <a:xfrm>
            <a:off x="685800" y="3136392"/>
            <a:ext cx="310896" cy="310896"/>
          </a:xfrm>
          <a:prstGeom prst="ellipse">
            <a:avLst/>
          </a:prstGeom>
          <a:solidFill>
            <a:srgbClr val="02C39A"/>
          </a:solidFill>
          <a:ln/>
        </p:spPr>
        <p:txBody>
          <a:bodyPr/>
          <a:lstStyle/>
          <a:p>
            <a:endParaRPr lang="en-IN"/>
          </a:p>
        </p:txBody>
      </p:sp>
      <p:sp>
        <p:nvSpPr>
          <p:cNvPr id="13" name="Text 10"/>
          <p:cNvSpPr/>
          <p:nvPr/>
        </p:nvSpPr>
        <p:spPr>
          <a:xfrm>
            <a:off x="685800" y="3136392"/>
            <a:ext cx="310896" cy="310896"/>
          </a:xfrm>
          <a:prstGeom prst="rect">
            <a:avLst/>
          </a:prstGeom>
          <a:noFill/>
          <a:ln/>
        </p:spPr>
        <p:txBody>
          <a:bodyPr wrap="square" rtlCol="0" anchor="ctr"/>
          <a:lstStyle/>
          <a:p>
            <a:pPr marL="0" indent="0" algn="ctr">
              <a:buNone/>
            </a:pPr>
            <a:r>
              <a:rPr lang="en-US" sz="1200" b="1" dirty="0">
                <a:solidFill>
                  <a:srgbClr val="013A40"/>
                </a:solidFill>
                <a:latin typeface="Calibri" pitchFamily="34" charset="0"/>
                <a:ea typeface="Calibri" pitchFamily="34" charset="-122"/>
                <a:cs typeface="Calibri" pitchFamily="34" charset="-120"/>
              </a:rPr>
              <a:t>3</a:t>
            </a:r>
            <a:endParaRPr lang="en-US" sz="1200" dirty="0"/>
          </a:p>
        </p:txBody>
      </p:sp>
      <p:sp>
        <p:nvSpPr>
          <p:cNvPr id="14" name="Text 11"/>
          <p:cNvSpPr/>
          <p:nvPr/>
        </p:nvSpPr>
        <p:spPr>
          <a:xfrm>
            <a:off x="1188720" y="3044952"/>
            <a:ext cx="103327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Stratified Cross-Validation provides a more reliable comparison of model performance.</a:t>
            </a:r>
            <a:endParaRPr lang="en-US" sz="1450" dirty="0"/>
          </a:p>
        </p:txBody>
      </p:sp>
      <p:sp>
        <p:nvSpPr>
          <p:cNvPr id="15" name="Shape 12"/>
          <p:cNvSpPr/>
          <p:nvPr/>
        </p:nvSpPr>
        <p:spPr>
          <a:xfrm>
            <a:off x="685800" y="3941064"/>
            <a:ext cx="310896" cy="310896"/>
          </a:xfrm>
          <a:prstGeom prst="ellipse">
            <a:avLst/>
          </a:prstGeom>
          <a:solidFill>
            <a:srgbClr val="02C39A"/>
          </a:solidFill>
          <a:ln/>
        </p:spPr>
        <p:txBody>
          <a:bodyPr/>
          <a:lstStyle/>
          <a:p>
            <a:endParaRPr lang="en-IN"/>
          </a:p>
        </p:txBody>
      </p:sp>
      <p:sp>
        <p:nvSpPr>
          <p:cNvPr id="16" name="Text 13"/>
          <p:cNvSpPr/>
          <p:nvPr/>
        </p:nvSpPr>
        <p:spPr>
          <a:xfrm>
            <a:off x="685800" y="3941064"/>
            <a:ext cx="310896" cy="310896"/>
          </a:xfrm>
          <a:prstGeom prst="rect">
            <a:avLst/>
          </a:prstGeom>
          <a:noFill/>
          <a:ln/>
        </p:spPr>
        <p:txBody>
          <a:bodyPr wrap="square" rtlCol="0" anchor="ctr"/>
          <a:lstStyle/>
          <a:p>
            <a:pPr marL="0" indent="0" algn="ctr">
              <a:buNone/>
            </a:pPr>
            <a:r>
              <a:rPr lang="en-US" sz="1200" b="1" dirty="0">
                <a:solidFill>
                  <a:srgbClr val="013A40"/>
                </a:solidFill>
                <a:latin typeface="Calibri" pitchFamily="34" charset="0"/>
                <a:ea typeface="Calibri" pitchFamily="34" charset="-122"/>
                <a:cs typeface="Calibri" pitchFamily="34" charset="-120"/>
              </a:rPr>
              <a:t>4</a:t>
            </a:r>
            <a:endParaRPr lang="en-US" sz="1200" dirty="0"/>
          </a:p>
        </p:txBody>
      </p:sp>
      <p:sp>
        <p:nvSpPr>
          <p:cNvPr id="17" name="Text 14"/>
          <p:cNvSpPr/>
          <p:nvPr/>
        </p:nvSpPr>
        <p:spPr>
          <a:xfrm>
            <a:off x="1188720" y="3849624"/>
            <a:ext cx="103327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The final model should be chosen based on multiple evaluation metrics — not accuracy alone.</a:t>
            </a:r>
            <a:endParaRPr lang="en-US" sz="1450" dirty="0"/>
          </a:p>
        </p:txBody>
      </p:sp>
      <p:sp>
        <p:nvSpPr>
          <p:cNvPr id="18" name="Shape 15"/>
          <p:cNvSpPr/>
          <p:nvPr/>
        </p:nvSpPr>
        <p:spPr>
          <a:xfrm>
            <a:off x="685800" y="4745736"/>
            <a:ext cx="310896" cy="310896"/>
          </a:xfrm>
          <a:prstGeom prst="ellipse">
            <a:avLst/>
          </a:prstGeom>
          <a:solidFill>
            <a:srgbClr val="02C39A"/>
          </a:solidFill>
          <a:ln/>
        </p:spPr>
        <p:txBody>
          <a:bodyPr/>
          <a:lstStyle/>
          <a:p>
            <a:endParaRPr lang="en-IN"/>
          </a:p>
        </p:txBody>
      </p:sp>
      <p:sp>
        <p:nvSpPr>
          <p:cNvPr id="19" name="Text 16"/>
          <p:cNvSpPr/>
          <p:nvPr/>
        </p:nvSpPr>
        <p:spPr>
          <a:xfrm>
            <a:off x="685800" y="4745736"/>
            <a:ext cx="310896" cy="310896"/>
          </a:xfrm>
          <a:prstGeom prst="rect">
            <a:avLst/>
          </a:prstGeom>
          <a:noFill/>
          <a:ln/>
        </p:spPr>
        <p:txBody>
          <a:bodyPr wrap="square" rtlCol="0" anchor="ctr"/>
          <a:lstStyle/>
          <a:p>
            <a:pPr marL="0" indent="0" algn="ctr">
              <a:buNone/>
            </a:pPr>
            <a:r>
              <a:rPr lang="en-US" sz="1200" b="1" dirty="0">
                <a:solidFill>
                  <a:srgbClr val="013A40"/>
                </a:solidFill>
                <a:latin typeface="Calibri" pitchFamily="34" charset="0"/>
                <a:ea typeface="Calibri" pitchFamily="34" charset="-122"/>
                <a:cs typeface="Calibri" pitchFamily="34" charset="-120"/>
              </a:rPr>
              <a:t>5</a:t>
            </a:r>
            <a:endParaRPr lang="en-US" sz="1200" dirty="0"/>
          </a:p>
        </p:txBody>
      </p:sp>
      <p:sp>
        <p:nvSpPr>
          <p:cNvPr id="20" name="Text 17"/>
          <p:cNvSpPr/>
          <p:nvPr/>
        </p:nvSpPr>
        <p:spPr>
          <a:xfrm>
            <a:off x="1188720" y="4654296"/>
            <a:ext cx="103327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Intended for predictive analysis only, and is not a replacement for professional medical diagnosis.</a:t>
            </a:r>
            <a:endParaRPr lang="en-US" sz="1450" dirty="0"/>
          </a:p>
        </p:txBody>
      </p:sp>
      <p:sp>
        <p:nvSpPr>
          <p:cNvPr id="21" name="Text 18"/>
          <p:cNvSpPr/>
          <p:nvPr/>
        </p:nvSpPr>
        <p:spPr>
          <a:xfrm>
            <a:off x="548640" y="5989320"/>
            <a:ext cx="5486400" cy="457200"/>
          </a:xfrm>
          <a:prstGeom prst="rect">
            <a:avLst/>
          </a:prstGeom>
          <a:noFill/>
          <a:ln/>
        </p:spPr>
        <p:txBody>
          <a:bodyPr wrap="square" rtlCol="0" anchor="ctr"/>
          <a:lstStyle/>
          <a:p>
            <a:pPr marL="0" indent="0">
              <a:buNone/>
            </a:pPr>
            <a:r>
              <a:rPr lang="en-US" sz="1600" i="1" dirty="0">
                <a:solidFill>
                  <a:srgbClr val="00A896"/>
                </a:solidFill>
                <a:latin typeface="Cambria" pitchFamily="34" charset="0"/>
                <a:ea typeface="Cambria" pitchFamily="34" charset="-122"/>
                <a:cs typeface="Cambria" pitchFamily="34" charset="-120"/>
              </a:rPr>
              <a:t>Thank You</a:t>
            </a:r>
            <a:endParaRPr lang="en-US" sz="1600" dirty="0"/>
          </a:p>
        </p:txBody>
      </p:sp>
      <p:sp>
        <p:nvSpPr>
          <p:cNvPr id="22" name="Text 19"/>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A6E74"/>
                </a:solidFill>
                <a:latin typeface="Calibri" pitchFamily="34" charset="0"/>
                <a:ea typeface="Calibri" pitchFamily="34" charset="-122"/>
                <a:cs typeface="Calibri" pitchFamily="34" charset="-120"/>
              </a:rPr>
              <a:t>Diabetes Risk Prediction — ML Project</a:t>
            </a:r>
            <a:endParaRPr lang="en-US" sz="900" dirty="0"/>
          </a:p>
        </p:txBody>
      </p:sp>
      <p:sp>
        <p:nvSpPr>
          <p:cNvPr id="23" name="Text 2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5A6E7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1445</Words>
  <Application>Microsoft Office PowerPoint</Application>
  <PresentationFormat>Widescreen</PresentationFormat>
  <Paragraphs>202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jaswanth .</cp:lastModifiedBy>
  <cp:revision>1</cp:revision>
  <dcterms:created xsi:type="dcterms:W3CDTF">2026-08-31T03:53:53Z</dcterms:created>
  <dcterms:modified xsi:type="dcterms:W3CDTF">2026-08-31T04:15:09Z</dcterms:modified>
</cp:coreProperties>
</file>