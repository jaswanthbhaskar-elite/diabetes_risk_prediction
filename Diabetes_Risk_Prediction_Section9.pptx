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eef4556-ba8a-a977-b3fd-a7414d9e9dfc}">
          <p14:sldIdLst>
            <p14:sldId id="256"/>
          </p14:sldIdLst>
        </p14:section>
        <p14:section name="Background" id="{47bc8ac8-d351-b967-9f30-b10515695967}">
          <p14:sldIdLst>
            <p14:sldId id="257"/>
            <p14:sldId id="258"/>
          </p14:sldIdLst>
        </p14:section>
        <p14:section name="Data and Method" id="{c1d72352-4ffb-3436-d9ec-bbb0984683d0}">
          <p14:sldIdLst>
            <p14:sldId id="259"/>
            <p14:sldId id="260"/>
            <p14:sldId id="261"/>
            <p14:sldId id="262"/>
          </p14:sldIdLst>
        </p14:section>
        <p14:section name="Results and Demo" id="{22cd7eb3-88f0-c08c-dd90-832ce1b6b5ac}">
          <p14:sldIdLst>
            <p14:sldId id="263"/>
            <p14:sldId id="264"/>
          </p14:sldIdLst>
        </p14:section>
        <p14:section name="Implementation and Wrap-up" id="{9659e573-5d5e-5bf3-223c-c77d0022619b}">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Probability</c:v>
                </c:pt>
              </c:strCache>
            </c:strRef>
          </c:tx>
          <c:spPr>
            <a:solidFill>
              <a:srgbClr val="0E7490"/>
            </a:solidFill>
            <a:ln w="38100" cap="flat">
              <a:solidFill>
                <a:srgbClr val="0E74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490"/>
              </a:solidFill>
              <a:ln w="9525" cap="flat">
                <a:solidFill>
                  <a:srgbClr val="0E7490"/>
                </a:solidFill>
                <a:prstDash val="solid"/>
                <a:round/>
              </a:ln>
              <a:effectLst/>
            </c:spPr>
          </c:marker>
          <c:cat>
            <c:multiLvlStrRef>
              <c:f>Sheet1!$A$2:$A$26</c:f>
              <c:multiLvlStrCache>
                <c:ptCount val="25"/>
                <c:lvl>
                  <c:pt idx="0">
                    <c:v>-6.0</c:v>
                  </c:pt>
                  <c:pt idx="1">
                    <c:v>-5.5</c:v>
                  </c:pt>
                  <c:pt idx="2">
                    <c:v>-5.0</c:v>
                  </c:pt>
                  <c:pt idx="3">
                    <c:v>-4.5</c:v>
                  </c:pt>
                  <c:pt idx="4">
                    <c:v>-4.0</c:v>
                  </c:pt>
                  <c:pt idx="5">
                    <c:v>-3.5</c:v>
                  </c:pt>
                  <c:pt idx="6">
                    <c:v>-3.0</c:v>
                  </c:pt>
                  <c:pt idx="7">
                    <c:v>-2.5</c:v>
                  </c:pt>
                  <c:pt idx="8">
                    <c:v>-2.0</c:v>
                  </c:pt>
                  <c:pt idx="9">
                    <c:v>-1.5</c:v>
                  </c:pt>
                  <c:pt idx="10">
                    <c:v>-1.0</c:v>
                  </c:pt>
                  <c:pt idx="11">
                    <c:v>-0.5</c:v>
                  </c:pt>
                  <c:pt idx="12">
                    <c:v>0.0</c:v>
                  </c:pt>
                  <c:pt idx="13">
                    <c:v>0.5</c:v>
                  </c:pt>
                  <c:pt idx="14">
                    <c:v>1.0</c:v>
                  </c:pt>
                  <c:pt idx="15">
                    <c:v>1.5</c:v>
                  </c:pt>
                  <c:pt idx="16">
                    <c:v>2.0</c:v>
                  </c:pt>
                  <c:pt idx="17">
                    <c:v>2.5</c:v>
                  </c:pt>
                  <c:pt idx="18">
                    <c:v>3.0</c:v>
                  </c:pt>
                  <c:pt idx="19">
                    <c:v>3.5</c:v>
                  </c:pt>
                  <c:pt idx="20">
                    <c:v>4.0</c:v>
                  </c:pt>
                  <c:pt idx="21">
                    <c:v>4.5</c:v>
                  </c:pt>
                  <c:pt idx="22">
                    <c:v>5.0</c:v>
                  </c:pt>
                  <c:pt idx="23">
                    <c:v>5.5</c:v>
                  </c:pt>
                  <c:pt idx="24">
                    <c:v>6.0</c:v>
                  </c:pt>
                </c:lvl>
              </c:multiLvlStrCache>
            </c:multiLvlStrRef>
          </c:cat>
          <c:val>
            <c:numRef>
              <c:f>Sheet1!$B$2:$B$26</c:f>
              <c:numCache>
                <c:formatCode>General</c:formatCode>
                <c:ptCount val="25"/>
                <c:pt idx="0">
                  <c:v>0.0025</c:v>
                </c:pt>
                <c:pt idx="1">
                  <c:v>0.0041</c:v>
                </c:pt>
                <c:pt idx="2">
                  <c:v>0.0067</c:v>
                </c:pt>
                <c:pt idx="3">
                  <c:v>0.011</c:v>
                </c:pt>
                <c:pt idx="4">
                  <c:v>0.018</c:v>
                </c:pt>
                <c:pt idx="5">
                  <c:v>0.0293</c:v>
                </c:pt>
                <c:pt idx="6">
                  <c:v>0.0474</c:v>
                </c:pt>
                <c:pt idx="7">
                  <c:v>0.0759</c:v>
                </c:pt>
                <c:pt idx="8">
                  <c:v>0.1192</c:v>
                </c:pt>
                <c:pt idx="9">
                  <c:v>0.1824</c:v>
                </c:pt>
                <c:pt idx="10">
                  <c:v>0.2689</c:v>
                </c:pt>
                <c:pt idx="11">
                  <c:v>0.3775</c:v>
                </c:pt>
                <c:pt idx="12">
                  <c:v>0.5</c:v>
                </c:pt>
                <c:pt idx="13">
                  <c:v>0.6225</c:v>
                </c:pt>
                <c:pt idx="14">
                  <c:v>0.7311</c:v>
                </c:pt>
                <c:pt idx="15">
                  <c:v>0.8176</c:v>
                </c:pt>
                <c:pt idx="16">
                  <c:v>0.8808</c:v>
                </c:pt>
                <c:pt idx="17">
                  <c:v>0.9241</c:v>
                </c:pt>
                <c:pt idx="18">
                  <c:v>0.9526</c:v>
                </c:pt>
                <c:pt idx="19">
                  <c:v>0.9707</c:v>
                </c:pt>
                <c:pt idx="20">
                  <c:v>0.982</c:v>
                </c:pt>
                <c:pt idx="21">
                  <c:v>0.989</c:v>
                </c:pt>
                <c:pt idx="22">
                  <c:v>0.9933</c:v>
                </c:pt>
                <c:pt idx="23">
                  <c:v>0.9959</c:v>
                </c:pt>
                <c:pt idx="24">
                  <c:v>0.9975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Reported metrics (%)</a:t>
            </a:r>
          </a:p>
        </c:rich>
      </c:tx>
      <c:layout/>
      <c:overlay val="0"/>
    </c:title>
    <c:autoTitleDeleted val="0"/>
    <c:plotArea>
      <c:layout/>
      <c:barChart>
        <c:barDir val="bar"/>
        <c:grouping val="clustered"/>
        <c:varyColors val="0"/>
        <c:ser>
          <c:idx val="0"/>
          <c:order val="0"/>
          <c:tx>
            <c:strRef>
              <c:f>Sheet1!$B$1</c:f>
              <c:strCache>
                <c:ptCount val="1"/>
                <c:pt idx="0">
                  <c:v>Logistic Regression</c:v>
                </c:pt>
              </c:strCache>
            </c:strRef>
          </c:tx>
          <c:spPr>
            <a:solidFill>
              <a:srgbClr val="3B82F6"/>
            </a:solidFill>
            <a:effectLst/>
          </c:spPr>
          <c:invertIfNegative val="0"/>
          <c:dLbls>
            <c:numFmt formatCode="0.00&quot;%&quot;"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cat>
            <c:multiLvlStrRef>
              <c:f>Sheet1!$A$2:$A$7</c:f>
              <c:multiLvlStrCache>
                <c:ptCount val="6"/>
                <c:lvl>
                  <c:pt idx="0">
                    <c:v>Accuracy</c:v>
                  </c:pt>
                  <c:pt idx="1">
                    <c:v>Precision</c:v>
                  </c:pt>
                  <c:pt idx="2">
                    <c:v>Recall</c:v>
                  </c:pt>
                  <c:pt idx="3">
                    <c:v>F1-score</c:v>
                  </c:pt>
                  <c:pt idx="4">
                    <c:v>ROC-AUC</c:v>
                  </c:pt>
                  <c:pt idx="5">
                    <c:v>Mean CV Accuracy</c:v>
                  </c:pt>
                </c:lvl>
              </c:multiLvlStrCache>
            </c:multiLvlStrRef>
          </c:cat>
          <c:val>
            <c:numRef>
              <c:f>Sheet1!$B$2:$B$7</c:f>
              <c:numCache>
                <c:formatCode>General</c:formatCode>
                <c:ptCount val="6"/>
                <c:pt idx="0">
                  <c:v>95.96</c:v>
                </c:pt>
                <c:pt idx="1">
                  <c:v>86.92</c:v>
                </c:pt>
                <c:pt idx="2">
                  <c:v>63.86</c:v>
                </c:pt>
                <c:pt idx="3">
                  <c:v>73.62</c:v>
                </c:pt>
                <c:pt idx="4">
                  <c:v>95.99</c:v>
                </c:pt>
                <c:pt idx="5">
                  <c:v>95.87</c:v>
                </c:pt>
              </c:numCache>
            </c:numRef>
          </c:val>
        </c:ser>
        <c:ser>
          <c:idx val="1"/>
          <c:order val="1"/>
          <c:tx>
            <c:strRef>
              <c:f>Sheet1!$C$1</c:f>
              <c:strCache>
                <c:ptCount val="1"/>
                <c:pt idx="0">
                  <c:v>Random Forest</c:v>
                </c:pt>
              </c:strCache>
            </c:strRef>
          </c:tx>
          <c:spPr>
            <a:solidFill>
              <a:srgbClr val="14B8A6"/>
            </a:solidFill>
            <a:effectLst/>
          </c:spPr>
          <c:invertIfNegative val="0"/>
          <c:dLbls>
            <c:numFmt formatCode="0.00&quot;%&quot;"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cat>
            <c:multiLvlStrRef>
              <c:f>Sheet1!$A$2:$A$7</c:f>
              <c:multiLvlStrCache>
                <c:ptCount val="6"/>
                <c:lvl>
                  <c:pt idx="0">
                    <c:v>Accuracy</c:v>
                  </c:pt>
                  <c:pt idx="1">
                    <c:v>Precision</c:v>
                  </c:pt>
                  <c:pt idx="2">
                    <c:v>Recall</c:v>
                  </c:pt>
                  <c:pt idx="3">
                    <c:v>F1-score</c:v>
                  </c:pt>
                  <c:pt idx="4">
                    <c:v>ROC-AUC</c:v>
                  </c:pt>
                  <c:pt idx="5">
                    <c:v>Mean CV Accuracy</c:v>
                  </c:pt>
                </c:lvl>
              </c:multiLvlStrCache>
            </c:multiLvlStrRef>
          </c:cat>
          <c:val>
            <c:numRef>
              <c:f>Sheet1!$C$2:$C$7</c:f>
              <c:numCache>
                <c:formatCode>General</c:formatCode>
                <c:ptCount val="6"/>
                <c:pt idx="0">
                  <c:v>96.94</c:v>
                </c:pt>
                <c:pt idx="1">
                  <c:v>95.04</c:v>
                </c:pt>
                <c:pt idx="2">
                  <c:v>68.87</c:v>
                </c:pt>
                <c:pt idx="3">
                  <c:v>79.86</c:v>
                </c:pt>
                <c:pt idx="4">
                  <c:v>95.62</c:v>
                </c:pt>
                <c:pt idx="5">
                  <c:v>96.82</c:v>
                </c:pt>
              </c:numCache>
            </c:numRef>
          </c:val>
        </c:ser>
        <c:dLbls>
          <c:numFmt formatCode="0.00&quot;%&quot;"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AND TEAM (about 30 seconds)
"Good morning/afternoon everyone. We are Section 9. I am Jaswanth Bhaskar, and this is my teammate Deepak. Our project is 'Diabetes Risk Prediction Using Machine Learning'.
In this project we trained two machine learning models on health and demographic data, and then built an interactive Streamlit application that estimates whether a person may be at risk of diabetes. Today we will walk you through the problem, the data, the models, their evaluation results, and a short live demonstration."
Tip: Introduce both team members clearly. The IDs on the slide are 2520030553-B (Jaswanth Bhaskar) and 2520030503-V (Deepak).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STATEMENT AND MOTIVATION (about 45 seconds)
"Diabetes risk is something people often want to understand early, because early awareness can lead to timely follow-up with a doctor. At the same time, many health records already contain routine measurements such as age, BMI, blood glucose and HbA1c.
Our idea is to use data-driven screening support: a machine learning model learns patterns from past records and gives a quick, consistent estimate of risk. The problem we address is simple: given eight health and demographic inputs, can we build an application that predicts whether a person may be at risk of diabetes and shows a model-estimated probability?
It is important to say this is screening support. It does not replace a medical diagnosis."
Tip: Do not quote prevalence statistics unless you can cite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PROJECT OBJECTIVES (about 40 seconds)
"We set five objectives. First, build a machine learning-based diabetes prediction application. Second, process the relevant demographic and health attributes. Third, train and evaluate two classification algorithms. Fourth, compare the outputs of those two models. And fifth, provide a simple interactive interface so anyone can try the models.
The end result is a Streamlit app that loads two saved, trained models and lets the user choose between them or compare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DATASET AND FEATURES (about 45 seconds)
"After cleaning, our dataset contains approximately 96,146 records. We use eight input features, and the prediction target is diabetes.
We can group the features into four categories. Demographic: gender and age. Medical history: hypertension and heart disease. Lifestyle: smoking history. And clinical measurements: BMI, HbA1c level and blood glucose level.
The model takes these eight values and predicts the target variable, diabetes."
Notes for presenter: The slide intentionally does not state a train/test split ratio or class distribution - only mention them if you can read them from your notebook. If asked about the data source, state the source named in your notebook (confirm the exact citation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DATA PREPARATION AND EXPLORATORY ANALYSIS (about 45 seconds)
"Before training, we prepared the data. The workflow is: load the dataset into Pandas, inspect it for data types, missing or invalid values and duplicates, clean it to obtain the final dataset of approximately 96,146 records, and then explore it using descriptive statistics, distributions and relationships between features. Finally the features are prepared for the machine learning pipelines.
The three panels at the bottom are placeholders - [PRESENTER: replace them with the actual charts from your Colab notebook, for example a distribution plot, a correlation or relationship view, and the descriptive statistics table]."
Important: This slide deliberately contains no invented findings. Only describe patterns that you can actually see in your own notebook outputs. If you do not have charts ready, say the EDA was used to understand the data before modelling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SYSTEM ARCHITECTURE AND WORKFLOW (about 60 seconds)
"This diagram separates training from inference.
The top row is training. It happened offline in Google Colab: we trained the Logistic Regression and Random Forest pipelines, then saved them as pickle files together with the feature metadata.
The bottom row is inference - what happens when someone uses our app, which we developed in Visual Studio Code. The user enters the inputs, the Streamlit interface collects them, the features are prepared in the format the model expects, and the trained pipeline produces a prediction and an estimated probability. The result is then displayed.
The dashed arrow shows the key point: the app loads the saved pickle files at run time. It does not retrain the models every time it runs, which keeps the application fast and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ALGORITHMS USED (about 60 seconds)
"We used two algorithms.
Logistic Regression is a classification model that estimates the probability of the positive class - here, the probability that a person is at risk of diabetes. It produces an S-shaped curve that maps the inputs to a probability between 0 and 1.
Random Forest is an ensemble of decision trees. Each tree makes its own prediction, and the forest combines them into one final prediction.
Why compare two? They learn in different ways, so putting them side by side on the same data shows how each behaves and gives us a more informed view than relying on a single model."
Note: both diagrams on this slide are conceptual illustrations, not results from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MODEL EVALUATION AND COMPARISON (about 60 seconds)
"This slide compares the two models using the reported metrics.
Logistic Regression: accuracy 95.96%, precision 86.92%, recall 63.86%, F1-score 73.62%, ROC-AUC 95.99%, and mean cross-validation accuracy 95.87%.
Random Forest: accuracy 96.94%, precision 95.04%, recall 68.87%, F1-score 79.86%, ROC-AUC 95.62%, and mean cross-validation accuracy 96.82%.
In these reported results, Random Forest is higher on accuracy, precision, recall, F1-score and cross-validation accuracy, while Logistic Regression has a slightly higher ROC-AUC. So we do not claim that either model is universally better - they have different strengths.
Notice that recall is below 70% for both models, meaning some positive cases may be missed. We come back to this in the limitations slide."
Quick metric definitions: precision = of the people predicted at risk, how many really are; recall = of the people who really are at risk, how many we catch; F1 balances both; ROC-AUC measures how well the model ranks positive cases above negative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APPLICATION DEMONSTRATION (about 60 seconds, plus live demo)
"The application follows five steps. One: enter the input features. Two: select a model - Logistic Regression or Random Forest. Three: generate the prediction. Four: view the model-estimated probability. Five: use 'Compare Both' to compare the outputs of the two models side by side."
[PRESENTER: replace the three dashed placeholders with real screenshots of your Streamlit app - the input form, the prediction/probability result, and the Compare Both view.]
LIVE-DEMO SCRIPT (about 2 minutes)
1. Before presenting: open a terminal in the project folder (where app.py is) and start the app with "streamlit run app.py". Keep the browser tab open and make sure the three .pkl files are in the same folder.
2. Say: "This is our Streamlit application. The models are loaded from saved pickle files, so nothing is retrained now."
3. Enter a sample set of values for gender, age, hypertension, heart disease, smoking history, BMI, HbA1c level and blood glucose level. Use illustrative values only and say so.
4. Select Logistic Regression and generate the prediction. Point out the predicted result and the estimated probability.
5. Switch to Random Forest with the same inputs. Generate the prediction and point out any difference in probability.
6. Open "Compare Both" and show both models' outputs together. Say: "The probabilities can differ because the two algorithms learn different decision rules."
7. Close with: "This is a screening-support tool, not a medical diagnosis."
Backup plan: if the app fails to start, show the screenshots on this slide and walk through the same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IMPLEMENTATION AND TECHNOLOGY STACK (about 45 seconds)
"Here is how the technologies fit together.
Train: we used Python with Pandas and NumPy for data processing, and Scikit-learn for model development. Training was done in Google Colab.
Persist: the trained pipelines and the feature metadata were saved as pickle files using Joblib/pickle, so the app can load them without retraining.
Serve: the interactive application is built with Streamlit and was developed in Visual Studio Code. The app, app.py, loads the saved pipelines.
At the bottom are our project files: app.py, the two pipeline pickle files, the feature metadata pickle file, requirements.txt and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LIMITATIONS AND FUTURE ENHANCEMENTS (about 60 seconds)
"We want to be honest about the limitations. First, predictions depend on the quality and representativeness of the training data. Second, the model-estimated probabilities are not guaranteed to represent calibrated real-world medical risk. Third, recall is below 70% for both models - 63.86% for Logistic Regression and 68.87% for Random Forest - so some positive cases may be missed. And finally, this tool is not a substitute for medical diagnosis.
For future work, we would validate performance on independent external datasets, evaluate probability calibration and decision thresholds, try to improve recall while monitoring false positives, improve the interface's accessibility and usability, and consider appropriate clinical validation before any real-world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CONCLUSION AND Q&amp;A (about 30 seconds, then questions)
"To conclude: we completed a machine learning workflow from data preparation through training and evaluation; we compared two trained models, Logistic Regression and Random Forest, using accuracy, precision, recall, F1-score, ROC-AUC and cross-validation; and we built an interactive Streamlit application that shows a prediction and an estimated probability, with a Compare Both feature. Thank you - we are happy to take your questions."
LIKELY FACULTY QUESTIONS AND SUGGESTED ANSWERS
1. Why did you choose Logistic Regression and Random Forest?
Logistic Regression is a simple, widely used classification model that directly estimates a probability, so it is a good baseline. Random Forest is an ensemble of decision trees that can capture more complex patterns in the data. Using two different approaches lets us compare how each performs on the same data.
2. What is the difference between precision and recall?
Precision asks: of all the people the model predicted as at risk, how many really were? Recall asks: of all the people who really are at risk, how many did the model find? In our results, Random Forest precision is 95.04% and recall is 68.87%.
3. Why is accuracy alone insufficient?
Accuracy only tells us the share of all predictions that are correct. Our models have accuracy around 96-97% but recall of only about 64-69%, so a high accuracy can hide the fact that some positive cases are missed. That is why we also report precision, recall, F1-score and ROC-AUC.
4. Why can the displayed probability differ between models?
The two algorithms learn different decision rules. Logistic Regression estimates probability from a smooth mathematical function of the inputs, while Random Forest combines the predictions of many decision trees. So the same inputs can produce different probabilities, and neither is guaranteed to be perfectly calibrated.
5. Why is this application not a medical diagnosis tool?
It is trained on a dataset and estimates risk from only eight attributes. It has not been clinically validated, its recall is below 70%, and its probabilities are not guaranteed to reflect real-world medical risk. A diagnosis requires a qualified healthcare professional and proper clinical tests.
6. What are the limitations of the project?
Results depend on data quality and representativeness; probabilities may not be calibrated; recall is below 70% for both models so some positive cases may be missed; performance has not been validated on external datasets; and it is not a substitute for medical diagnosis. Future work includes external validation, calibration and threshold evaluation, improving recall, accessibility improvements and clinical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Diabetes Risk Prediction Using Machine Learning  |  Section 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indent="0" marL="0">
              <a:buNone/>
              <a:defRPr lang="en-US" sz="3800" b="1" dirty="0">
                <a:solidFill>
                  <a:schemeClr val="tx1"/>
                </a:solidFill>
              </a:defRPr>
            </a:lvl1pPr>
          </a:lstStyle>
          <a:p>
            <a:pPr indent="0" marL="0">
              <a:buNone/>
            </a:pPr>
            <a:endParaRPr lang="en-US" sz="38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Diabetes Risk Prediction Using Machine Learning  |  Section 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4.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slideLayout" Target="../slideLayouts/slideLayout4.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slideLayout" Target="../slideLayouts/slideLayout4.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FaHeartbeat"/>
          <p:cNvSpPr/>
          <p:nvPr/>
        </p:nvSpPr>
        <p:spPr>
          <a:xfrm>
            <a:off x="731520" y="640080"/>
            <a:ext cx="502920" cy="502920"/>
          </a:xfrm>
          <a:prstGeom prst="ellipse">
            <a:avLst/>
          </a:prstGeom>
          <a:solidFill>
            <a:schemeClr val="accent1"/>
          </a:solidFill>
          <a:ln/>
        </p:spPr>
      </p:sp>
      <p:pic>
        <p:nvPicPr>
          <p:cNvPr id="3" name="Image 0" descr="Heartbeat icon">    </p:cNvPr>
          <p:cNvPicPr>
            <a:picLocks noChangeAspect="1"/>
          </p:cNvPicPr>
          <p:nvPr/>
        </p:nvPicPr>
        <p:blipFill>
          <a:blip r:embed="rId1"/>
          <a:stretch>
            <a:fillRect/>
          </a:stretch>
        </p:blipFill>
        <p:spPr>
          <a:xfrm>
            <a:off x="857250" y="765810"/>
            <a:ext cx="251460" cy="251460"/>
          </a:xfrm>
          <a:prstGeom prst="rect">
            <a:avLst/>
          </a:prstGeom>
        </p:spPr>
      </p:pic>
      <p:sp>
        <p:nvSpPr>
          <p:cNvPr id="4" name="Text 1"/>
          <p:cNvSpPr txBox="1"/>
          <p:nvPr/>
        </p:nvSpPr>
        <p:spPr>
          <a:xfrm>
            <a:off x="1371600" y="640080"/>
            <a:ext cx="5943600" cy="502920"/>
          </a:xfrm>
          <a:prstGeom prst="rect">
            <a:avLst/>
          </a:prstGeom>
          <a:noFill/>
          <a:ln/>
        </p:spPr>
        <p:txBody>
          <a:bodyPr wrap="square" lIns="0" tIns="0" rIns="0" bIns="0" rtlCol="0" anchor="ctr"/>
          <a:lstStyle/>
          <a:p>
            <a:pPr indent="0" marL="0">
              <a:buNone/>
            </a:pPr>
            <a:r>
              <a:rPr lang="en-US" sz="1400" b="1" spc="300" kern="0" dirty="0">
                <a:solidFill>
                  <a:schemeClr val="accent2"/>
                </a:solidFill>
              </a:rPr>
              <a:t>COLLEGE PROJECT DEMONSTRATION</a:t>
            </a:r>
            <a:endParaRPr lang="en-US" sz="1400" dirty="0"/>
          </a:p>
        </p:txBody>
      </p:sp>
      <p:sp>
        <p:nvSpPr>
          <p:cNvPr id="5" name="Text 2"/>
          <p:cNvSpPr txBox="1"/>
          <p:nvPr/>
        </p:nvSpPr>
        <p:spPr>
          <a:xfrm>
            <a:off x="731520" y="1508760"/>
            <a:ext cx="6766560" cy="2103120"/>
          </a:xfrm>
          <a:prstGeom prst="rect">
            <a:avLst/>
          </a:prstGeom>
          <a:noFill/>
          <a:ln/>
        </p:spPr>
        <p:txBody>
          <a:bodyPr wrap="square" lIns="0" tIns="0" rIns="0" bIns="0" rtlCol="0" anchor="t"/>
          <a:lstStyle/>
          <a:p>
            <a:pPr indent="0" marL="0">
              <a:buNone/>
            </a:pPr>
            <a:r>
              <a:rPr lang="en-US" sz="4600" b="1" dirty="0">
                <a:solidFill>
                  <a:schemeClr val="bg1"/>
                </a:solidFill>
              </a:rPr>
              <a:t>Diabetes Risk Prediction</a:t>
            </a:r>
            <a:endParaRPr lang="en-US" sz="4600" dirty="0"/>
          </a:p>
          <a:p>
            <a:pPr indent="0" marL="0">
              <a:buNone/>
            </a:pPr>
            <a:r>
              <a:rPr lang="en-US" sz="4600" b="1" dirty="0">
                <a:solidFill>
                  <a:schemeClr val="bg1"/>
                </a:solidFill>
              </a:rPr>
              <a:t>Using Machine Learning</a:t>
            </a:r>
            <a:endParaRPr lang="en-US" sz="4600" dirty="0"/>
          </a:p>
        </p:txBody>
      </p:sp>
      <p:sp>
        <p:nvSpPr>
          <p:cNvPr id="6" name="Text 3"/>
          <p:cNvSpPr txBox="1"/>
          <p:nvPr/>
        </p:nvSpPr>
        <p:spPr>
          <a:xfrm>
            <a:off x="731520" y="3429000"/>
            <a:ext cx="6309360" cy="457200"/>
          </a:xfrm>
          <a:prstGeom prst="rect">
            <a:avLst/>
          </a:prstGeom>
          <a:noFill/>
          <a:ln/>
        </p:spPr>
        <p:txBody>
          <a:bodyPr wrap="square" lIns="0" tIns="0" rIns="0" bIns="0" rtlCol="0" anchor="t"/>
          <a:lstStyle/>
          <a:p>
            <a:pPr indent="0" marL="0">
              <a:buNone/>
            </a:pPr>
            <a:r>
              <a:rPr lang="en-US" sz="1800" dirty="0">
                <a:solidFill>
                  <a:schemeClr val="bg2"/>
                </a:solidFill>
              </a:rPr>
              <a:t>Estimating diabetes risk from health and demographic attributes</a:t>
            </a:r>
            <a:endParaRPr lang="en-US" sz="1800" dirty="0"/>
          </a:p>
        </p:txBody>
      </p:sp>
      <p:sp>
        <p:nvSpPr>
          <p:cNvPr id="7" name="Section pill"/>
          <p:cNvSpPr/>
          <p:nvPr/>
        </p:nvSpPr>
        <p:spPr>
          <a:xfrm>
            <a:off x="731520" y="4114800"/>
            <a:ext cx="2194560" cy="566928"/>
          </a:xfrm>
          <a:prstGeom prst="roundRect">
            <a:avLst>
              <a:gd name="adj" fmla="val 50000"/>
            </a:avLst>
          </a:prstGeom>
          <a:solidFill>
            <a:schemeClr val="accent1"/>
          </a:solidFill>
          <a:ln/>
        </p:spPr>
      </p:sp>
      <p:sp>
        <p:nvSpPr>
          <p:cNvPr id="8" name="Text 5"/>
          <p:cNvSpPr txBox="1"/>
          <p:nvPr/>
        </p:nvSpPr>
        <p:spPr>
          <a:xfrm>
            <a:off x="731520" y="4114800"/>
            <a:ext cx="2194560" cy="566928"/>
          </a:xfrm>
          <a:prstGeom prst="rect">
            <a:avLst/>
          </a:prstGeom>
          <a:noFill/>
          <a:ln/>
        </p:spPr>
        <p:txBody>
          <a:bodyPr wrap="square" lIns="0" tIns="0" rIns="0" bIns="0" rtlCol="0" anchor="ctr"/>
          <a:lstStyle/>
          <a:p>
            <a:pPr algn="ctr" indent="0" marL="0">
              <a:buNone/>
            </a:pPr>
            <a:r>
              <a:rPr lang="en-US" sz="2000" b="1" spc="200" kern="0" dirty="0">
                <a:solidFill>
                  <a:schemeClr val="tx1"/>
                </a:solidFill>
              </a:rPr>
              <a:t>SECTION 9</a:t>
            </a:r>
            <a:endParaRPr lang="en-US" sz="2000" dirty="0"/>
          </a:p>
        </p:txBody>
      </p:sp>
      <p:sp>
        <p:nvSpPr>
          <p:cNvPr id="9" name="Team card"/>
          <p:cNvSpPr/>
          <p:nvPr/>
        </p:nvSpPr>
        <p:spPr>
          <a:xfrm>
            <a:off x="731520" y="4937760"/>
            <a:ext cx="6126480" cy="1280160"/>
          </a:xfrm>
          <a:prstGeom prst="roundRect">
            <a:avLst>
              <a:gd name="adj" fmla="val 8571"/>
            </a:avLst>
          </a:prstGeom>
          <a:solidFill>
            <a:schemeClr val="tx2"/>
          </a:solidFill>
          <a:ln/>
        </p:spPr>
      </p:sp>
      <p:sp>
        <p:nvSpPr>
          <p:cNvPr id="10" name="Icon circle FaUsers"/>
          <p:cNvSpPr/>
          <p:nvPr/>
        </p:nvSpPr>
        <p:spPr>
          <a:xfrm>
            <a:off x="1005840" y="5394960"/>
            <a:ext cx="502920" cy="502920"/>
          </a:xfrm>
          <a:prstGeom prst="ellipse">
            <a:avLst/>
          </a:prstGeom>
          <a:solidFill>
            <a:schemeClr val="accent1"/>
          </a:solidFill>
          <a:ln/>
        </p:spPr>
      </p:sp>
      <p:pic>
        <p:nvPicPr>
          <p:cNvPr id="11" name="Image 1" descr="Users icon">    </p:cNvPr>
          <p:cNvPicPr>
            <a:picLocks noChangeAspect="1"/>
          </p:cNvPicPr>
          <p:nvPr/>
        </p:nvPicPr>
        <p:blipFill>
          <a:blip r:embed="rId2"/>
          <a:stretch>
            <a:fillRect/>
          </a:stretch>
        </p:blipFill>
        <p:spPr>
          <a:xfrm>
            <a:off x="1131570" y="5520690"/>
            <a:ext cx="251460" cy="251460"/>
          </a:xfrm>
          <a:prstGeom prst="rect">
            <a:avLst/>
          </a:prstGeom>
        </p:spPr>
      </p:pic>
      <p:sp>
        <p:nvSpPr>
          <p:cNvPr id="12" name="Text 8"/>
          <p:cNvSpPr txBox="1"/>
          <p:nvPr/>
        </p:nvSpPr>
        <p:spPr>
          <a:xfrm>
            <a:off x="1783080" y="5074920"/>
            <a:ext cx="4937760" cy="1005840"/>
          </a:xfrm>
          <a:prstGeom prst="rect">
            <a:avLst/>
          </a:prstGeom>
          <a:noFill/>
          <a:ln/>
        </p:spPr>
        <p:txBody>
          <a:bodyPr wrap="square" lIns="0" tIns="0" rIns="0" bIns="0" rtlCol="0" anchor="ctr"/>
          <a:lstStyle/>
          <a:p>
            <a:pPr indent="0" marL="0">
              <a:spcAft>
                <a:spcPts val="600"/>
              </a:spcAft>
              <a:buNone/>
            </a:pPr>
            <a:r>
              <a:rPr lang="en-US" sz="2200" b="1" dirty="0">
                <a:solidFill>
                  <a:schemeClr val="accent2"/>
                </a:solidFill>
              </a:rPr>
              <a:t>2520030553-B</a:t>
            </a:r>
            <a:pPr indent="0" marL="0">
              <a:spcAft>
                <a:spcPts val="600"/>
              </a:spcAft>
              <a:buNone/>
            </a:pPr>
            <a:r>
              <a:rPr lang="en-US" sz="2200" b="1" dirty="0">
                <a:solidFill>
                  <a:schemeClr val="bg1"/>
                </a:solidFill>
              </a:rPr>
              <a:t> Jaswanth Bhaskar</a:t>
            </a:r>
            <a:endParaRPr lang="en-US" sz="2200" dirty="0"/>
          </a:p>
          <a:p>
            <a:pPr indent="0" marL="0">
              <a:spcAft>
                <a:spcPts val="600"/>
              </a:spcAft>
              <a:buNone/>
            </a:pPr>
            <a:r>
              <a:rPr lang="en-US" sz="2200" b="1" dirty="0">
                <a:solidFill>
                  <a:schemeClr val="accent2"/>
                </a:solidFill>
              </a:rPr>
              <a:t>2520030503-V</a:t>
            </a:r>
            <a:pPr indent="0" marL="0">
              <a:spcAft>
                <a:spcPts val="600"/>
              </a:spcAft>
              <a:buNone/>
            </a:pPr>
            <a:r>
              <a:rPr lang="en-US" sz="2200" b="1" dirty="0">
                <a:solidFill>
                  <a:schemeClr val="bg1"/>
                </a:solidFill>
              </a:rPr>
              <a:t> Deepak</a:t>
            </a:r>
            <a:endParaRPr lang="en-US" sz="2200" dirty="0"/>
          </a:p>
        </p:txBody>
      </p:sp>
      <p:sp>
        <p:nvSpPr>
          <p:cNvPr id="13" name="Outer ring"/>
          <p:cNvSpPr/>
          <p:nvPr/>
        </p:nvSpPr>
        <p:spPr>
          <a:xfrm>
            <a:off x="7406640" y="1508760"/>
            <a:ext cx="3840480" cy="3840480"/>
          </a:xfrm>
          <a:prstGeom prst="ellipse">
            <a:avLst/>
          </a:prstGeom>
          <a:solidFill>
            <a:schemeClr val="accent2">
              <a:alpha val="8000"/>
            </a:schemeClr>
          </a:solidFill>
          <a:ln w="12700">
            <a:solidFill>
              <a:schemeClr val="accent2">
                <a:alpha val="45000"/>
              </a:schemeClr>
            </a:solidFill>
            <a:prstDash val="solid"/>
          </a:ln>
        </p:spPr>
      </p:sp>
      <p:sp>
        <p:nvSpPr>
          <p:cNvPr id="14" name="Middle ring"/>
          <p:cNvSpPr/>
          <p:nvPr/>
        </p:nvSpPr>
        <p:spPr>
          <a:xfrm>
            <a:off x="8046720" y="2148840"/>
            <a:ext cx="2560320" cy="2560320"/>
          </a:xfrm>
          <a:prstGeom prst="ellipse">
            <a:avLst/>
          </a:prstGeom>
          <a:solidFill>
            <a:schemeClr val="accent2">
              <a:alpha val="15000"/>
            </a:schemeClr>
          </a:solidFill>
          <a:ln w="12700">
            <a:solidFill>
              <a:schemeClr val="accent2">
                <a:alpha val="60000"/>
              </a:schemeClr>
            </a:solidFill>
            <a:prstDash val="solid"/>
          </a:ln>
        </p:spPr>
      </p:sp>
      <p:sp>
        <p:nvSpPr>
          <p:cNvPr id="15" name="Core circle"/>
          <p:cNvSpPr/>
          <p:nvPr/>
        </p:nvSpPr>
        <p:spPr>
          <a:xfrm>
            <a:off x="8549640" y="2651760"/>
            <a:ext cx="1554480" cy="1554480"/>
          </a:xfrm>
          <a:prstGeom prst="ellipse">
            <a:avLst/>
          </a:prstGeom>
          <a:solidFill>
            <a:schemeClr val="accent1"/>
          </a:solidFill>
          <a:ln/>
        </p:spPr>
      </p:sp>
      <p:pic>
        <p:nvPicPr>
          <p:cNvPr id="16" name="Image 2" descr="Heartbeat icon">    </p:cNvPr>
          <p:cNvPicPr>
            <a:picLocks noChangeAspect="1"/>
          </p:cNvPicPr>
          <p:nvPr/>
        </p:nvPicPr>
        <p:blipFill>
          <a:blip r:embed="rId3"/>
          <a:stretch>
            <a:fillRect/>
          </a:stretch>
        </p:blipFill>
        <p:spPr>
          <a:xfrm>
            <a:off x="8915400" y="3017520"/>
            <a:ext cx="822960" cy="822960"/>
          </a:xfrm>
          <a:prstGeom prst="rect">
            <a:avLst/>
          </a:prstGeom>
        </p:spPr>
      </p:pic>
      <p:sp>
        <p:nvSpPr>
          <p:cNvPr id="17" name="Orbit chip Age"/>
          <p:cNvSpPr/>
          <p:nvPr/>
        </p:nvSpPr>
        <p:spPr>
          <a:xfrm>
            <a:off x="7379208" y="1874520"/>
            <a:ext cx="1188720" cy="402336"/>
          </a:xfrm>
          <a:prstGeom prst="roundRect">
            <a:avLst>
              <a:gd name="adj" fmla="val 50000"/>
            </a:avLst>
          </a:prstGeom>
          <a:solidFill>
            <a:schemeClr val="bg1"/>
          </a:solidFill>
          <a:ln/>
        </p:spPr>
      </p:sp>
      <p:sp>
        <p:nvSpPr>
          <p:cNvPr id="18" name="Text 13"/>
          <p:cNvSpPr txBox="1"/>
          <p:nvPr/>
        </p:nvSpPr>
        <p:spPr>
          <a:xfrm>
            <a:off x="7379208" y="1874520"/>
            <a:ext cx="1188720" cy="402336"/>
          </a:xfrm>
          <a:prstGeom prst="rect">
            <a:avLst/>
          </a:prstGeom>
          <a:noFill/>
          <a:ln/>
        </p:spPr>
        <p:txBody>
          <a:bodyPr wrap="square" lIns="0" tIns="0" rIns="0" bIns="0" rtlCol="0" anchor="ctr"/>
          <a:lstStyle/>
          <a:p>
            <a:pPr algn="ctr" indent="0" marL="0">
              <a:buNone/>
            </a:pPr>
            <a:r>
              <a:rPr lang="en-US" sz="1400" b="1" dirty="0">
                <a:solidFill>
                  <a:schemeClr val="tx1"/>
                </a:solidFill>
              </a:rPr>
              <a:t>Age</a:t>
            </a:r>
            <a:endParaRPr lang="en-US" sz="1400" dirty="0"/>
          </a:p>
        </p:txBody>
      </p:sp>
      <p:sp>
        <p:nvSpPr>
          <p:cNvPr id="19" name="Orbit chip BMI"/>
          <p:cNvSpPr/>
          <p:nvPr/>
        </p:nvSpPr>
        <p:spPr>
          <a:xfrm>
            <a:off x="10085832" y="1874520"/>
            <a:ext cx="1188720" cy="402336"/>
          </a:xfrm>
          <a:prstGeom prst="roundRect">
            <a:avLst>
              <a:gd name="adj" fmla="val 50000"/>
            </a:avLst>
          </a:prstGeom>
          <a:solidFill>
            <a:schemeClr val="bg1"/>
          </a:solidFill>
          <a:ln/>
        </p:spPr>
      </p:sp>
      <p:sp>
        <p:nvSpPr>
          <p:cNvPr id="20" name="Text 15"/>
          <p:cNvSpPr txBox="1"/>
          <p:nvPr/>
        </p:nvSpPr>
        <p:spPr>
          <a:xfrm>
            <a:off x="10085832" y="1874520"/>
            <a:ext cx="1188720" cy="402336"/>
          </a:xfrm>
          <a:prstGeom prst="rect">
            <a:avLst/>
          </a:prstGeom>
          <a:noFill/>
          <a:ln/>
        </p:spPr>
        <p:txBody>
          <a:bodyPr wrap="square" lIns="0" tIns="0" rIns="0" bIns="0" rtlCol="0" anchor="ctr"/>
          <a:lstStyle/>
          <a:p>
            <a:pPr algn="ctr" indent="0" marL="0">
              <a:buNone/>
            </a:pPr>
            <a:r>
              <a:rPr lang="en-US" sz="1400" b="1" dirty="0">
                <a:solidFill>
                  <a:schemeClr val="tx1"/>
                </a:solidFill>
              </a:rPr>
              <a:t>BMI</a:t>
            </a:r>
            <a:endParaRPr lang="en-US" sz="1400" dirty="0"/>
          </a:p>
        </p:txBody>
      </p:sp>
      <p:sp>
        <p:nvSpPr>
          <p:cNvPr id="21" name="Orbit chip HbA1c"/>
          <p:cNvSpPr/>
          <p:nvPr/>
        </p:nvSpPr>
        <p:spPr>
          <a:xfrm>
            <a:off x="7379208" y="4581144"/>
            <a:ext cx="1188720" cy="402336"/>
          </a:xfrm>
          <a:prstGeom prst="roundRect">
            <a:avLst>
              <a:gd name="adj" fmla="val 50000"/>
            </a:avLst>
          </a:prstGeom>
          <a:solidFill>
            <a:schemeClr val="bg1"/>
          </a:solidFill>
          <a:ln/>
        </p:spPr>
      </p:sp>
      <p:sp>
        <p:nvSpPr>
          <p:cNvPr id="22" name="Text 17"/>
          <p:cNvSpPr txBox="1"/>
          <p:nvPr/>
        </p:nvSpPr>
        <p:spPr>
          <a:xfrm>
            <a:off x="7379208" y="4581144"/>
            <a:ext cx="1188720" cy="402336"/>
          </a:xfrm>
          <a:prstGeom prst="rect">
            <a:avLst/>
          </a:prstGeom>
          <a:noFill/>
          <a:ln/>
        </p:spPr>
        <p:txBody>
          <a:bodyPr wrap="square" lIns="0" tIns="0" rIns="0" bIns="0" rtlCol="0" anchor="ctr"/>
          <a:lstStyle/>
          <a:p>
            <a:pPr algn="ctr" indent="0" marL="0">
              <a:buNone/>
            </a:pPr>
            <a:r>
              <a:rPr lang="en-US" sz="1400" b="1" dirty="0">
                <a:solidFill>
                  <a:schemeClr val="tx1"/>
                </a:solidFill>
              </a:rPr>
              <a:t>HbA1c</a:t>
            </a:r>
            <a:endParaRPr lang="en-US" sz="1400" dirty="0"/>
          </a:p>
        </p:txBody>
      </p:sp>
      <p:sp>
        <p:nvSpPr>
          <p:cNvPr id="23" name="Orbit chip Glucose"/>
          <p:cNvSpPr/>
          <p:nvPr/>
        </p:nvSpPr>
        <p:spPr>
          <a:xfrm>
            <a:off x="10085832" y="4581144"/>
            <a:ext cx="1188720" cy="402336"/>
          </a:xfrm>
          <a:prstGeom prst="roundRect">
            <a:avLst>
              <a:gd name="adj" fmla="val 50000"/>
            </a:avLst>
          </a:prstGeom>
          <a:solidFill>
            <a:schemeClr val="bg1"/>
          </a:solidFill>
          <a:ln/>
        </p:spPr>
      </p:sp>
      <p:sp>
        <p:nvSpPr>
          <p:cNvPr id="24" name="Text 19"/>
          <p:cNvSpPr txBox="1"/>
          <p:nvPr/>
        </p:nvSpPr>
        <p:spPr>
          <a:xfrm>
            <a:off x="10085832" y="4581144"/>
            <a:ext cx="1188720" cy="402336"/>
          </a:xfrm>
          <a:prstGeom prst="rect">
            <a:avLst/>
          </a:prstGeom>
          <a:noFill/>
          <a:ln/>
        </p:spPr>
        <p:txBody>
          <a:bodyPr wrap="square" lIns="0" tIns="0" rIns="0" bIns="0" rtlCol="0" anchor="ctr"/>
          <a:lstStyle/>
          <a:p>
            <a:pPr algn="ctr" indent="0" marL="0">
              <a:buNone/>
            </a:pPr>
            <a:r>
              <a:rPr lang="en-US" sz="1400" b="1" dirty="0">
                <a:solidFill>
                  <a:schemeClr val="tx1"/>
                </a:solidFill>
              </a:rPr>
              <a:t>Glucose</a:t>
            </a:r>
            <a:endParaRPr lang="en-US" sz="1400" dirty="0"/>
          </a:p>
        </p:txBody>
      </p:sp>
      <p:sp>
        <p:nvSpPr>
          <p:cNvPr id="25" name="Text 20"/>
          <p:cNvSpPr txBox="1"/>
          <p:nvPr/>
        </p:nvSpPr>
        <p:spPr>
          <a:xfrm>
            <a:off x="6949440" y="5669280"/>
            <a:ext cx="4754880" cy="365760"/>
          </a:xfrm>
          <a:prstGeom prst="rect">
            <a:avLst/>
          </a:prstGeom>
          <a:noFill/>
          <a:ln/>
        </p:spPr>
        <p:txBody>
          <a:bodyPr wrap="square" lIns="0" tIns="0" rIns="0" bIns="0" rtlCol="0" anchor="ctr"/>
          <a:lstStyle/>
          <a:p>
            <a:pPr algn="ctr" indent="0" marL="0">
              <a:buNone/>
            </a:pPr>
            <a:r>
              <a:rPr lang="en-US" sz="1200" b="1" spc="300" kern="0" dirty="0">
                <a:solidFill>
                  <a:schemeClr val="accent2"/>
                </a:solidFill>
              </a:rPr>
              <a:t>HEALTHCARE  ×  ARTIFICIAL INTELLIGENCE</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Why Early Diabetes Risk Assessment Matters</a:t>
            </a:r>
            <a:endParaRPr lang="en-US" sz="3800" dirty="0"/>
          </a:p>
        </p:txBody>
      </p:sp>
      <p:sp>
        <p:nvSpPr>
          <p:cNvPr id="3" name="Problem card"/>
          <p:cNvSpPr/>
          <p:nvPr/>
        </p:nvSpPr>
        <p:spPr>
          <a:xfrm>
            <a:off x="548640" y="1463040"/>
            <a:ext cx="4297680" cy="4663440"/>
          </a:xfrm>
          <a:prstGeom prst="roundRect">
            <a:avLst>
              <a:gd name="adj" fmla="val 2553"/>
            </a:avLst>
          </a:prstGeom>
          <a:solidFill>
            <a:schemeClr val="tx1"/>
          </a:solidFill>
          <a:ln/>
          <a:effectLst>
            <a:outerShdw sx="100000" sy="100000" kx="0" ky="0" algn="bl" rotWithShape="0" blurRad="127000" dist="38100" dir="5400000">
              <a:srgbClr val="0B1F3A">
                <a:alpha val="14000"/>
              </a:srgbClr>
            </a:outerShdw>
          </a:effectLst>
        </p:spPr>
      </p:sp>
      <p:sp>
        <p:nvSpPr>
          <p:cNvPr id="4" name="Icon circle FaStethoscope"/>
          <p:cNvSpPr/>
          <p:nvPr/>
        </p:nvSpPr>
        <p:spPr>
          <a:xfrm>
            <a:off x="914400" y="1783080"/>
            <a:ext cx="731520" cy="731520"/>
          </a:xfrm>
          <a:prstGeom prst="ellipse">
            <a:avLst/>
          </a:prstGeom>
          <a:solidFill>
            <a:schemeClr val="accent1"/>
          </a:solidFill>
          <a:ln/>
        </p:spPr>
      </p:sp>
      <p:pic>
        <p:nvPicPr>
          <p:cNvPr id="5" name="Image 0" descr="Stethoscope icon">    </p:cNvPr>
          <p:cNvPicPr>
            <a:picLocks noChangeAspect="1"/>
          </p:cNvPicPr>
          <p:nvPr/>
        </p:nvPicPr>
        <p:blipFill>
          <a:blip r:embed="rId1"/>
          <a:stretch>
            <a:fillRect/>
          </a:stretch>
        </p:blipFill>
        <p:spPr>
          <a:xfrm>
            <a:off x="1097280" y="1965960"/>
            <a:ext cx="365760" cy="365760"/>
          </a:xfrm>
          <a:prstGeom prst="rect">
            <a:avLst/>
          </a:prstGeom>
        </p:spPr>
      </p:pic>
      <p:sp>
        <p:nvSpPr>
          <p:cNvPr id="6" name="Text 3"/>
          <p:cNvSpPr txBox="1"/>
          <p:nvPr/>
        </p:nvSpPr>
        <p:spPr>
          <a:xfrm>
            <a:off x="914400" y="2743200"/>
            <a:ext cx="356616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THE PROBLEM</a:t>
            </a:r>
            <a:endParaRPr lang="en-US" sz="1400" dirty="0"/>
          </a:p>
        </p:txBody>
      </p:sp>
      <p:sp>
        <p:nvSpPr>
          <p:cNvPr id="7" name="Text 4"/>
          <p:cNvSpPr txBox="1"/>
          <p:nvPr/>
        </p:nvSpPr>
        <p:spPr>
          <a:xfrm>
            <a:off x="914400" y="3154680"/>
            <a:ext cx="3566160" cy="2011680"/>
          </a:xfrm>
          <a:prstGeom prst="rect">
            <a:avLst/>
          </a:prstGeom>
          <a:noFill/>
          <a:ln/>
        </p:spPr>
        <p:txBody>
          <a:bodyPr wrap="square" lIns="0" tIns="0" rIns="0" bIns="0" rtlCol="0" anchor="t"/>
          <a:lstStyle/>
          <a:p>
            <a:pPr indent="0" marL="0">
              <a:buNone/>
            </a:pPr>
            <a:r>
              <a:rPr lang="en-US" sz="2200" b="1" dirty="0">
                <a:solidFill>
                  <a:schemeClr val="bg1"/>
                </a:solidFill>
              </a:rPr>
              <a:t>Estimate whether a person may be at risk of diabetes from a few routine health and demographic attributes.</a:t>
            </a:r>
            <a:endParaRPr lang="en-US" sz="2200" dirty="0"/>
          </a:p>
        </p:txBody>
      </p:sp>
      <p:sp>
        <p:nvSpPr>
          <p:cNvPr id="8" name="Text 5"/>
          <p:cNvSpPr txBox="1"/>
          <p:nvPr/>
        </p:nvSpPr>
        <p:spPr>
          <a:xfrm>
            <a:off x="914400" y="5349240"/>
            <a:ext cx="3566160" cy="365760"/>
          </a:xfrm>
          <a:prstGeom prst="rect">
            <a:avLst/>
          </a:prstGeom>
          <a:noFill/>
          <a:ln/>
        </p:spPr>
        <p:txBody>
          <a:bodyPr wrap="square" lIns="0" tIns="0" rIns="0" bIns="0" rtlCol="0" anchor="t"/>
          <a:lstStyle/>
          <a:p>
            <a:pPr indent="0" marL="0">
              <a:buNone/>
            </a:pPr>
            <a:r>
              <a:rPr lang="en-US" sz="1500" i="1" dirty="0">
                <a:solidFill>
                  <a:schemeClr val="accent2"/>
                </a:solidFill>
              </a:rPr>
              <a:t>Screening support, not a diagnosis</a:t>
            </a:r>
            <a:endParaRPr lang="en-US" sz="1500" dirty="0"/>
          </a:p>
        </p:txBody>
      </p:sp>
      <p:sp>
        <p:nvSpPr>
          <p:cNvPr id="9" name="Row card 1"/>
          <p:cNvSpPr/>
          <p:nvPr/>
        </p:nvSpPr>
        <p:spPr>
          <a:xfrm>
            <a:off x="5166360" y="1463040"/>
            <a:ext cx="6473952" cy="1417320"/>
          </a:xfrm>
          <a:prstGeom prst="roundRect">
            <a:avLst>
              <a:gd name="adj" fmla="val 7742"/>
            </a:avLst>
          </a:prstGeom>
          <a:solidFill>
            <a:schemeClr val="bg2"/>
          </a:solidFill>
          <a:ln/>
          <a:effectLst>
            <a:outerShdw sx="100000" sy="100000" kx="0" ky="0" algn="bl" rotWithShape="0" blurRad="127000" dist="38100" dir="5400000">
              <a:srgbClr val="0B1F3A">
                <a:alpha val="14000"/>
              </a:srgbClr>
            </a:outerShdw>
          </a:effectLst>
        </p:spPr>
      </p:sp>
      <p:sp>
        <p:nvSpPr>
          <p:cNvPr id="10" name="Icon circle FaHeartbeat"/>
          <p:cNvSpPr/>
          <p:nvPr/>
        </p:nvSpPr>
        <p:spPr>
          <a:xfrm>
            <a:off x="5440680" y="1828800"/>
            <a:ext cx="685800" cy="685800"/>
          </a:xfrm>
          <a:prstGeom prst="ellipse">
            <a:avLst/>
          </a:prstGeom>
          <a:solidFill>
            <a:schemeClr val="accent1"/>
          </a:solidFill>
          <a:ln/>
        </p:spPr>
      </p:sp>
      <p:pic>
        <p:nvPicPr>
          <p:cNvPr id="11" name="Image 1" descr="Heartbeat icon">    </p:cNvPr>
          <p:cNvPicPr>
            <a:picLocks noChangeAspect="1"/>
          </p:cNvPicPr>
          <p:nvPr/>
        </p:nvPicPr>
        <p:blipFill>
          <a:blip r:embed="rId2"/>
          <a:stretch>
            <a:fillRect/>
          </a:stretch>
        </p:blipFill>
        <p:spPr>
          <a:xfrm>
            <a:off x="5612130" y="2000250"/>
            <a:ext cx="342900" cy="342900"/>
          </a:xfrm>
          <a:prstGeom prst="rect">
            <a:avLst/>
          </a:prstGeom>
        </p:spPr>
      </p:pic>
      <p:sp>
        <p:nvSpPr>
          <p:cNvPr id="12" name="Text 8"/>
          <p:cNvSpPr txBox="1"/>
          <p:nvPr/>
        </p:nvSpPr>
        <p:spPr>
          <a:xfrm>
            <a:off x="6400800" y="1664208"/>
            <a:ext cx="5029200" cy="365760"/>
          </a:xfrm>
          <a:prstGeom prst="rect">
            <a:avLst/>
          </a:prstGeom>
          <a:noFill/>
          <a:ln/>
        </p:spPr>
        <p:txBody>
          <a:bodyPr wrap="square" lIns="0" tIns="0" rIns="0" bIns="0" rtlCol="0" anchor="t"/>
          <a:lstStyle/>
          <a:p>
            <a:pPr indent="0" marL="0">
              <a:buNone/>
            </a:pPr>
            <a:r>
              <a:rPr lang="en-US" sz="2000" b="1" dirty="0">
                <a:solidFill>
                  <a:schemeClr val="tx1"/>
                </a:solidFill>
              </a:rPr>
              <a:t>Early awareness</a:t>
            </a:r>
            <a:endParaRPr lang="en-US" sz="2000" dirty="0"/>
          </a:p>
        </p:txBody>
      </p:sp>
      <p:sp>
        <p:nvSpPr>
          <p:cNvPr id="13" name="Text 9"/>
          <p:cNvSpPr txBox="1"/>
          <p:nvPr/>
        </p:nvSpPr>
        <p:spPr>
          <a:xfrm>
            <a:off x="6400800" y="2084832"/>
            <a:ext cx="5029200" cy="685800"/>
          </a:xfrm>
          <a:prstGeom prst="rect">
            <a:avLst/>
          </a:prstGeom>
          <a:noFill/>
          <a:ln/>
        </p:spPr>
        <p:txBody>
          <a:bodyPr wrap="square" lIns="0" tIns="0" rIns="0" bIns="0" rtlCol="0" anchor="t"/>
          <a:lstStyle/>
          <a:p>
            <a:pPr indent="0" marL="0">
              <a:buNone/>
            </a:pPr>
            <a:r>
              <a:rPr lang="en-US" sz="1500" dirty="0">
                <a:solidFill>
                  <a:schemeClr val="tx2"/>
                </a:solidFill>
              </a:rPr>
              <a:t>Spotting possible risk early can prompt timely follow-up with a healthcare professional.</a:t>
            </a:r>
            <a:endParaRPr lang="en-US" sz="1500" dirty="0"/>
          </a:p>
        </p:txBody>
      </p:sp>
      <p:sp>
        <p:nvSpPr>
          <p:cNvPr id="14" name="Row card 2"/>
          <p:cNvSpPr/>
          <p:nvPr/>
        </p:nvSpPr>
        <p:spPr>
          <a:xfrm>
            <a:off x="5166360" y="3063240"/>
            <a:ext cx="6473952" cy="1417320"/>
          </a:xfrm>
          <a:prstGeom prst="roundRect">
            <a:avLst>
              <a:gd name="adj" fmla="val 7742"/>
            </a:avLst>
          </a:prstGeom>
          <a:solidFill>
            <a:schemeClr val="bg2"/>
          </a:solidFill>
          <a:ln/>
          <a:effectLst>
            <a:outerShdw sx="100000" sy="100000" kx="0" ky="0" algn="bl" rotWithShape="0" blurRad="127000" dist="38100" dir="5400000">
              <a:srgbClr val="0B1F3A">
                <a:alpha val="14000"/>
              </a:srgbClr>
            </a:outerShdw>
          </a:effectLst>
        </p:spPr>
      </p:sp>
      <p:sp>
        <p:nvSpPr>
          <p:cNvPr id="15" name="Icon circle FaDatabase"/>
          <p:cNvSpPr/>
          <p:nvPr/>
        </p:nvSpPr>
        <p:spPr>
          <a:xfrm>
            <a:off x="5440680" y="3429000"/>
            <a:ext cx="685800" cy="685800"/>
          </a:xfrm>
          <a:prstGeom prst="ellipse">
            <a:avLst/>
          </a:prstGeom>
          <a:solidFill>
            <a:schemeClr val="accent1"/>
          </a:solidFill>
          <a:ln/>
        </p:spPr>
      </p:sp>
      <p:pic>
        <p:nvPicPr>
          <p:cNvPr id="16" name="Image 2" descr="Database icon">    </p:cNvPr>
          <p:cNvPicPr>
            <a:picLocks noChangeAspect="1"/>
          </p:cNvPicPr>
          <p:nvPr/>
        </p:nvPicPr>
        <p:blipFill>
          <a:blip r:embed="rId3"/>
          <a:stretch>
            <a:fillRect/>
          </a:stretch>
        </p:blipFill>
        <p:spPr>
          <a:xfrm>
            <a:off x="5612130" y="3600450"/>
            <a:ext cx="342900" cy="342900"/>
          </a:xfrm>
          <a:prstGeom prst="rect">
            <a:avLst/>
          </a:prstGeom>
        </p:spPr>
      </p:pic>
      <p:sp>
        <p:nvSpPr>
          <p:cNvPr id="17" name="Text 12"/>
          <p:cNvSpPr txBox="1"/>
          <p:nvPr/>
        </p:nvSpPr>
        <p:spPr>
          <a:xfrm>
            <a:off x="6400800" y="3264408"/>
            <a:ext cx="5029200" cy="365760"/>
          </a:xfrm>
          <a:prstGeom prst="rect">
            <a:avLst/>
          </a:prstGeom>
          <a:noFill/>
          <a:ln/>
        </p:spPr>
        <p:txBody>
          <a:bodyPr wrap="square" lIns="0" tIns="0" rIns="0" bIns="0" rtlCol="0" anchor="t"/>
          <a:lstStyle/>
          <a:p>
            <a:pPr indent="0" marL="0">
              <a:buNone/>
            </a:pPr>
            <a:r>
              <a:rPr lang="en-US" sz="2000" b="1" dirty="0">
                <a:solidFill>
                  <a:schemeClr val="tx1"/>
                </a:solidFill>
              </a:rPr>
              <a:t>Data-driven screening support</a:t>
            </a:r>
            <a:endParaRPr lang="en-US" sz="2000" dirty="0"/>
          </a:p>
        </p:txBody>
      </p:sp>
      <p:sp>
        <p:nvSpPr>
          <p:cNvPr id="18" name="Text 13"/>
          <p:cNvSpPr txBox="1"/>
          <p:nvPr/>
        </p:nvSpPr>
        <p:spPr>
          <a:xfrm>
            <a:off x="6400800" y="3685032"/>
            <a:ext cx="5029200" cy="685800"/>
          </a:xfrm>
          <a:prstGeom prst="rect">
            <a:avLst/>
          </a:prstGeom>
          <a:noFill/>
          <a:ln/>
        </p:spPr>
        <p:txBody>
          <a:bodyPr wrap="square" lIns="0" tIns="0" rIns="0" bIns="0" rtlCol="0" anchor="t"/>
          <a:lstStyle/>
          <a:p>
            <a:pPr indent="0" marL="0">
              <a:buNone/>
            </a:pPr>
            <a:r>
              <a:rPr lang="en-US" sz="1500" dirty="0">
                <a:solidFill>
                  <a:schemeClr val="tx2"/>
                </a:solidFill>
              </a:rPr>
              <a:t>Models learn patterns from past records to give a quick, consistent risk estimate.</a:t>
            </a:r>
            <a:endParaRPr lang="en-US" sz="1500" dirty="0"/>
          </a:p>
        </p:txBody>
      </p:sp>
      <p:sp>
        <p:nvSpPr>
          <p:cNvPr id="19" name="Row card 3"/>
          <p:cNvSpPr/>
          <p:nvPr/>
        </p:nvSpPr>
        <p:spPr>
          <a:xfrm>
            <a:off x="5166360" y="4663440"/>
            <a:ext cx="6473952" cy="1417320"/>
          </a:xfrm>
          <a:prstGeom prst="roundRect">
            <a:avLst>
              <a:gd name="adj" fmla="val 7742"/>
            </a:avLst>
          </a:prstGeom>
          <a:solidFill>
            <a:schemeClr val="bg2"/>
          </a:solidFill>
          <a:ln/>
          <a:effectLst>
            <a:outerShdw sx="100000" sy="100000" kx="0" ky="0" algn="bl" rotWithShape="0" blurRad="127000" dist="38100" dir="5400000">
              <a:srgbClr val="0B1F3A">
                <a:alpha val="14000"/>
              </a:srgbClr>
            </a:outerShdw>
          </a:effectLst>
        </p:spPr>
      </p:sp>
      <p:sp>
        <p:nvSpPr>
          <p:cNvPr id="20" name="Icon circle FaBullseye"/>
          <p:cNvSpPr/>
          <p:nvPr/>
        </p:nvSpPr>
        <p:spPr>
          <a:xfrm>
            <a:off x="5440680" y="5029200"/>
            <a:ext cx="685800" cy="685800"/>
          </a:xfrm>
          <a:prstGeom prst="ellipse">
            <a:avLst/>
          </a:prstGeom>
          <a:solidFill>
            <a:schemeClr val="accent1"/>
          </a:solidFill>
          <a:ln/>
        </p:spPr>
      </p:sp>
      <p:pic>
        <p:nvPicPr>
          <p:cNvPr id="21" name="Image 3" descr="Bullseye icon">    </p:cNvPr>
          <p:cNvPicPr>
            <a:picLocks noChangeAspect="1"/>
          </p:cNvPicPr>
          <p:nvPr/>
        </p:nvPicPr>
        <p:blipFill>
          <a:blip r:embed="rId4"/>
          <a:stretch>
            <a:fillRect/>
          </a:stretch>
        </p:blipFill>
        <p:spPr>
          <a:xfrm>
            <a:off x="5612130" y="5200650"/>
            <a:ext cx="342900" cy="342900"/>
          </a:xfrm>
          <a:prstGeom prst="rect">
            <a:avLst/>
          </a:prstGeom>
        </p:spPr>
      </p:pic>
      <p:sp>
        <p:nvSpPr>
          <p:cNvPr id="22" name="Text 16"/>
          <p:cNvSpPr txBox="1"/>
          <p:nvPr/>
        </p:nvSpPr>
        <p:spPr>
          <a:xfrm>
            <a:off x="6400800" y="4864608"/>
            <a:ext cx="5029200" cy="365760"/>
          </a:xfrm>
          <a:prstGeom prst="rect">
            <a:avLst/>
          </a:prstGeom>
          <a:noFill/>
          <a:ln/>
        </p:spPr>
        <p:txBody>
          <a:bodyPr wrap="square" lIns="0" tIns="0" rIns="0" bIns="0" rtlCol="0" anchor="t"/>
          <a:lstStyle/>
          <a:p>
            <a:pPr indent="0" marL="0">
              <a:buNone/>
            </a:pPr>
            <a:r>
              <a:rPr lang="en-US" sz="2000" b="1" dirty="0">
                <a:solidFill>
                  <a:schemeClr val="tx1"/>
                </a:solidFill>
              </a:rPr>
              <a:t>What this project addresses</a:t>
            </a:r>
            <a:endParaRPr lang="en-US" sz="2000" dirty="0"/>
          </a:p>
        </p:txBody>
      </p:sp>
      <p:sp>
        <p:nvSpPr>
          <p:cNvPr id="23" name="Text 17"/>
          <p:cNvSpPr txBox="1"/>
          <p:nvPr/>
        </p:nvSpPr>
        <p:spPr>
          <a:xfrm>
            <a:off x="6400800" y="5285232"/>
            <a:ext cx="5029200" cy="685800"/>
          </a:xfrm>
          <a:prstGeom prst="rect">
            <a:avLst/>
          </a:prstGeom>
          <a:noFill/>
          <a:ln/>
        </p:spPr>
        <p:txBody>
          <a:bodyPr wrap="square" lIns="0" tIns="0" rIns="0" bIns="0" rtlCol="0" anchor="t"/>
          <a:lstStyle/>
          <a:p>
            <a:pPr indent="0" marL="0">
              <a:buNone/>
            </a:pPr>
            <a:r>
              <a:rPr lang="en-US" sz="1500" dirty="0">
                <a:solidFill>
                  <a:schemeClr val="tx2"/>
                </a:solidFill>
              </a:rPr>
              <a:t>A simple app that turns 8 health inputs into a risk prediction and a probability.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Project Objectives</a:t>
            </a:r>
            <a:endParaRPr lang="en-US" sz="3800" dirty="0"/>
          </a:p>
        </p:txBody>
      </p:sp>
      <p:sp>
        <p:nvSpPr>
          <p:cNvPr id="3" name="Objective card 1"/>
          <p:cNvSpPr/>
          <p:nvPr/>
        </p:nvSpPr>
        <p:spPr>
          <a:xfrm>
            <a:off x="548640" y="1463040"/>
            <a:ext cx="3520440" cy="2240280"/>
          </a:xfrm>
          <a:prstGeom prst="roundRect">
            <a:avLst>
              <a:gd name="adj" fmla="val 4898"/>
            </a:avLst>
          </a:prstGeom>
          <a:solidFill>
            <a:schemeClr val="bg2"/>
          </a:solidFill>
          <a:ln/>
          <a:effectLst>
            <a:outerShdw sx="100000" sy="100000" kx="0" ky="0" algn="bl" rotWithShape="0" blurRad="127000" dist="38100" dir="5400000">
              <a:srgbClr val="0B1F3A">
                <a:alpha val="14000"/>
              </a:srgbClr>
            </a:outerShdw>
          </a:effectLst>
        </p:spPr>
      </p:sp>
      <p:sp>
        <p:nvSpPr>
          <p:cNvPr id="4" name="Icon circle FaCode"/>
          <p:cNvSpPr/>
          <p:nvPr/>
        </p:nvSpPr>
        <p:spPr>
          <a:xfrm>
            <a:off x="822960" y="1737360"/>
            <a:ext cx="685800" cy="685800"/>
          </a:xfrm>
          <a:prstGeom prst="ellipse">
            <a:avLst/>
          </a:prstGeom>
          <a:solidFill>
            <a:schemeClr val="accent1"/>
          </a:solidFill>
          <a:ln/>
        </p:spPr>
      </p:sp>
      <p:pic>
        <p:nvPicPr>
          <p:cNvPr id="5" name="Image 0" descr="Code icon">    </p:cNvPr>
          <p:cNvPicPr>
            <a:picLocks noChangeAspect="1"/>
          </p:cNvPicPr>
          <p:nvPr/>
        </p:nvPicPr>
        <p:blipFill>
          <a:blip r:embed="rId1"/>
          <a:stretch>
            <a:fillRect/>
          </a:stretch>
        </p:blipFill>
        <p:spPr>
          <a:xfrm>
            <a:off x="994410" y="1908810"/>
            <a:ext cx="342900" cy="342900"/>
          </a:xfrm>
          <a:prstGeom prst="rect">
            <a:avLst/>
          </a:prstGeom>
        </p:spPr>
      </p:pic>
      <p:sp>
        <p:nvSpPr>
          <p:cNvPr id="6" name="Text 3"/>
          <p:cNvSpPr txBox="1"/>
          <p:nvPr/>
        </p:nvSpPr>
        <p:spPr>
          <a:xfrm>
            <a:off x="2971800" y="1737360"/>
            <a:ext cx="822960" cy="685800"/>
          </a:xfrm>
          <a:prstGeom prst="rect">
            <a:avLst/>
          </a:prstGeom>
          <a:noFill/>
          <a:ln/>
        </p:spPr>
        <p:txBody>
          <a:bodyPr wrap="square" lIns="0" tIns="0" rIns="0" bIns="0" rtlCol="0" anchor="ctr"/>
          <a:lstStyle/>
          <a:p>
            <a:pPr algn="r" indent="0" marL="0">
              <a:buNone/>
            </a:pPr>
            <a:r>
              <a:rPr lang="en-US" sz="3200" b="1" dirty="0">
                <a:solidFill>
                  <a:schemeClr val="accent5"/>
                </a:solidFill>
              </a:rPr>
              <a:t>01</a:t>
            </a:r>
            <a:endParaRPr lang="en-US" sz="3200" dirty="0"/>
          </a:p>
        </p:txBody>
      </p:sp>
      <p:sp>
        <p:nvSpPr>
          <p:cNvPr id="7" name="Text 4"/>
          <p:cNvSpPr txBox="1"/>
          <p:nvPr/>
        </p:nvSpPr>
        <p:spPr>
          <a:xfrm>
            <a:off x="822960" y="2560320"/>
            <a:ext cx="2971800" cy="960120"/>
          </a:xfrm>
          <a:prstGeom prst="rect">
            <a:avLst/>
          </a:prstGeom>
          <a:noFill/>
          <a:ln/>
        </p:spPr>
        <p:txBody>
          <a:bodyPr wrap="square" lIns="0" tIns="0" rIns="0" bIns="0" rtlCol="0" anchor="t"/>
          <a:lstStyle/>
          <a:p>
            <a:pPr indent="0" marL="0">
              <a:buNone/>
            </a:pPr>
            <a:r>
              <a:rPr lang="en-US" sz="1900" b="1" dirty="0">
                <a:solidFill>
                  <a:schemeClr val="tx1"/>
                </a:solidFill>
              </a:rPr>
              <a:t>Build a machine learning-based diabetes prediction application</a:t>
            </a:r>
            <a:endParaRPr lang="en-US" sz="1900" dirty="0"/>
          </a:p>
        </p:txBody>
      </p:sp>
      <p:sp>
        <p:nvSpPr>
          <p:cNvPr id="8" name="Objective card 2"/>
          <p:cNvSpPr/>
          <p:nvPr/>
        </p:nvSpPr>
        <p:spPr>
          <a:xfrm>
            <a:off x="4334256" y="1463040"/>
            <a:ext cx="3520440" cy="2240280"/>
          </a:xfrm>
          <a:prstGeom prst="roundRect">
            <a:avLst>
              <a:gd name="adj" fmla="val 4898"/>
            </a:avLst>
          </a:prstGeom>
          <a:solidFill>
            <a:schemeClr val="bg2"/>
          </a:solidFill>
          <a:ln/>
          <a:effectLst>
            <a:outerShdw sx="100000" sy="100000" kx="0" ky="0" algn="bl" rotWithShape="0" blurRad="127000" dist="38100" dir="5400000">
              <a:srgbClr val="0B1F3A">
                <a:alpha val="14000"/>
              </a:srgbClr>
            </a:outerShdw>
          </a:effectLst>
        </p:spPr>
      </p:sp>
      <p:sp>
        <p:nvSpPr>
          <p:cNvPr id="9" name="Icon circle FaNotesMedical"/>
          <p:cNvSpPr/>
          <p:nvPr/>
        </p:nvSpPr>
        <p:spPr>
          <a:xfrm>
            <a:off x="4608576" y="1737360"/>
            <a:ext cx="685800" cy="685800"/>
          </a:xfrm>
          <a:prstGeom prst="ellipse">
            <a:avLst/>
          </a:prstGeom>
          <a:solidFill>
            <a:schemeClr val="accent1"/>
          </a:solidFill>
          <a:ln/>
        </p:spPr>
      </p:sp>
      <p:pic>
        <p:nvPicPr>
          <p:cNvPr id="10" name="Image 1" descr="NotesMedical icon">    </p:cNvPr>
          <p:cNvPicPr>
            <a:picLocks noChangeAspect="1"/>
          </p:cNvPicPr>
          <p:nvPr/>
        </p:nvPicPr>
        <p:blipFill>
          <a:blip r:embed="rId2"/>
          <a:stretch>
            <a:fillRect/>
          </a:stretch>
        </p:blipFill>
        <p:spPr>
          <a:xfrm>
            <a:off x="4780026" y="1908810"/>
            <a:ext cx="342900" cy="342900"/>
          </a:xfrm>
          <a:prstGeom prst="rect">
            <a:avLst/>
          </a:prstGeom>
        </p:spPr>
      </p:pic>
      <p:sp>
        <p:nvSpPr>
          <p:cNvPr id="11" name="Text 7"/>
          <p:cNvSpPr txBox="1"/>
          <p:nvPr/>
        </p:nvSpPr>
        <p:spPr>
          <a:xfrm>
            <a:off x="6757416" y="1737360"/>
            <a:ext cx="822960" cy="685800"/>
          </a:xfrm>
          <a:prstGeom prst="rect">
            <a:avLst/>
          </a:prstGeom>
          <a:noFill/>
          <a:ln/>
        </p:spPr>
        <p:txBody>
          <a:bodyPr wrap="square" lIns="0" tIns="0" rIns="0" bIns="0" rtlCol="0" anchor="ctr"/>
          <a:lstStyle/>
          <a:p>
            <a:pPr algn="r" indent="0" marL="0">
              <a:buNone/>
            </a:pPr>
            <a:r>
              <a:rPr lang="en-US" sz="3200" b="1" dirty="0">
                <a:solidFill>
                  <a:schemeClr val="accent5"/>
                </a:solidFill>
              </a:rPr>
              <a:t>02</a:t>
            </a:r>
            <a:endParaRPr lang="en-US" sz="3200" dirty="0"/>
          </a:p>
        </p:txBody>
      </p:sp>
      <p:sp>
        <p:nvSpPr>
          <p:cNvPr id="12" name="Text 8"/>
          <p:cNvSpPr txBox="1"/>
          <p:nvPr/>
        </p:nvSpPr>
        <p:spPr>
          <a:xfrm>
            <a:off x="4608576" y="2560320"/>
            <a:ext cx="2971800" cy="960120"/>
          </a:xfrm>
          <a:prstGeom prst="rect">
            <a:avLst/>
          </a:prstGeom>
          <a:noFill/>
          <a:ln/>
        </p:spPr>
        <p:txBody>
          <a:bodyPr wrap="square" lIns="0" tIns="0" rIns="0" bIns="0" rtlCol="0" anchor="t"/>
          <a:lstStyle/>
          <a:p>
            <a:pPr indent="0" marL="0">
              <a:buNone/>
            </a:pPr>
            <a:r>
              <a:rPr lang="en-US" sz="1900" b="1" dirty="0">
                <a:solidFill>
                  <a:schemeClr val="tx1"/>
                </a:solidFill>
              </a:rPr>
              <a:t>Process relevant demographic and health attributes</a:t>
            </a:r>
            <a:endParaRPr lang="en-US" sz="1900" dirty="0"/>
          </a:p>
        </p:txBody>
      </p:sp>
      <p:sp>
        <p:nvSpPr>
          <p:cNvPr id="13" name="Objective card 3"/>
          <p:cNvSpPr/>
          <p:nvPr/>
        </p:nvSpPr>
        <p:spPr>
          <a:xfrm>
            <a:off x="8119872" y="1463040"/>
            <a:ext cx="3520440" cy="2240280"/>
          </a:xfrm>
          <a:prstGeom prst="roundRect">
            <a:avLst>
              <a:gd name="adj" fmla="val 4898"/>
            </a:avLst>
          </a:prstGeom>
          <a:solidFill>
            <a:schemeClr val="bg2"/>
          </a:solidFill>
          <a:ln/>
          <a:effectLst>
            <a:outerShdw sx="100000" sy="100000" kx="0" ky="0" algn="bl" rotWithShape="0" blurRad="127000" dist="38100" dir="5400000">
              <a:srgbClr val="0B1F3A">
                <a:alpha val="14000"/>
              </a:srgbClr>
            </a:outerShdw>
          </a:effectLst>
        </p:spPr>
      </p:sp>
      <p:sp>
        <p:nvSpPr>
          <p:cNvPr id="14" name="Icon circle FaFlask"/>
          <p:cNvSpPr/>
          <p:nvPr/>
        </p:nvSpPr>
        <p:spPr>
          <a:xfrm>
            <a:off x="8394192" y="1737360"/>
            <a:ext cx="685800" cy="685800"/>
          </a:xfrm>
          <a:prstGeom prst="ellipse">
            <a:avLst/>
          </a:prstGeom>
          <a:solidFill>
            <a:schemeClr val="accent1"/>
          </a:solidFill>
          <a:ln/>
        </p:spPr>
      </p:sp>
      <p:pic>
        <p:nvPicPr>
          <p:cNvPr id="15" name="Image 2" descr="Flask icon">    </p:cNvPr>
          <p:cNvPicPr>
            <a:picLocks noChangeAspect="1"/>
          </p:cNvPicPr>
          <p:nvPr/>
        </p:nvPicPr>
        <p:blipFill>
          <a:blip r:embed="rId3"/>
          <a:stretch>
            <a:fillRect/>
          </a:stretch>
        </p:blipFill>
        <p:spPr>
          <a:xfrm>
            <a:off x="8565642" y="1908810"/>
            <a:ext cx="342900" cy="342900"/>
          </a:xfrm>
          <a:prstGeom prst="rect">
            <a:avLst/>
          </a:prstGeom>
        </p:spPr>
      </p:pic>
      <p:sp>
        <p:nvSpPr>
          <p:cNvPr id="16" name="Text 11"/>
          <p:cNvSpPr txBox="1"/>
          <p:nvPr/>
        </p:nvSpPr>
        <p:spPr>
          <a:xfrm>
            <a:off x="10543032" y="1737360"/>
            <a:ext cx="822960" cy="685800"/>
          </a:xfrm>
          <a:prstGeom prst="rect">
            <a:avLst/>
          </a:prstGeom>
          <a:noFill/>
          <a:ln/>
        </p:spPr>
        <p:txBody>
          <a:bodyPr wrap="square" lIns="0" tIns="0" rIns="0" bIns="0" rtlCol="0" anchor="ctr"/>
          <a:lstStyle/>
          <a:p>
            <a:pPr algn="r" indent="0" marL="0">
              <a:buNone/>
            </a:pPr>
            <a:r>
              <a:rPr lang="en-US" sz="3200" b="1" dirty="0">
                <a:solidFill>
                  <a:schemeClr val="accent5"/>
                </a:solidFill>
              </a:rPr>
              <a:t>03</a:t>
            </a:r>
            <a:endParaRPr lang="en-US" sz="3200" dirty="0"/>
          </a:p>
        </p:txBody>
      </p:sp>
      <p:sp>
        <p:nvSpPr>
          <p:cNvPr id="17" name="Text 12"/>
          <p:cNvSpPr txBox="1"/>
          <p:nvPr/>
        </p:nvSpPr>
        <p:spPr>
          <a:xfrm>
            <a:off x="8394192" y="2560320"/>
            <a:ext cx="2971800" cy="960120"/>
          </a:xfrm>
          <a:prstGeom prst="rect">
            <a:avLst/>
          </a:prstGeom>
          <a:noFill/>
          <a:ln/>
        </p:spPr>
        <p:txBody>
          <a:bodyPr wrap="square" lIns="0" tIns="0" rIns="0" bIns="0" rtlCol="0" anchor="t"/>
          <a:lstStyle/>
          <a:p>
            <a:pPr indent="0" marL="0">
              <a:buNone/>
            </a:pPr>
            <a:r>
              <a:rPr lang="en-US" sz="1900" b="1" dirty="0">
                <a:solidFill>
                  <a:schemeClr val="tx1"/>
                </a:solidFill>
              </a:rPr>
              <a:t>Train and evaluate two classification algorithms</a:t>
            </a:r>
            <a:endParaRPr lang="en-US" sz="1900" dirty="0"/>
          </a:p>
        </p:txBody>
      </p:sp>
      <p:sp>
        <p:nvSpPr>
          <p:cNvPr id="18" name="Objective card 4"/>
          <p:cNvSpPr/>
          <p:nvPr/>
        </p:nvSpPr>
        <p:spPr>
          <a:xfrm>
            <a:off x="548640" y="3931920"/>
            <a:ext cx="3520440" cy="2194560"/>
          </a:xfrm>
          <a:prstGeom prst="roundRect">
            <a:avLst>
              <a:gd name="adj" fmla="val 5000"/>
            </a:avLst>
          </a:prstGeom>
          <a:solidFill>
            <a:schemeClr val="bg2"/>
          </a:solidFill>
          <a:ln/>
          <a:effectLst>
            <a:outerShdw sx="100000" sy="100000" kx="0" ky="0" algn="bl" rotWithShape="0" blurRad="127000" dist="38100" dir="5400000">
              <a:srgbClr val="0B1F3A">
                <a:alpha val="14000"/>
              </a:srgbClr>
            </a:outerShdw>
          </a:effectLst>
        </p:spPr>
      </p:sp>
      <p:sp>
        <p:nvSpPr>
          <p:cNvPr id="19" name="Icon circle FaBalanceScale"/>
          <p:cNvSpPr/>
          <p:nvPr/>
        </p:nvSpPr>
        <p:spPr>
          <a:xfrm>
            <a:off x="822960" y="4206240"/>
            <a:ext cx="685800" cy="685800"/>
          </a:xfrm>
          <a:prstGeom prst="ellipse">
            <a:avLst/>
          </a:prstGeom>
          <a:solidFill>
            <a:schemeClr val="accent1"/>
          </a:solidFill>
          <a:ln/>
        </p:spPr>
      </p:sp>
      <p:pic>
        <p:nvPicPr>
          <p:cNvPr id="20" name="Image 3" descr="BalanceScale icon">    </p:cNvPr>
          <p:cNvPicPr>
            <a:picLocks noChangeAspect="1"/>
          </p:cNvPicPr>
          <p:nvPr/>
        </p:nvPicPr>
        <p:blipFill>
          <a:blip r:embed="rId4"/>
          <a:stretch>
            <a:fillRect/>
          </a:stretch>
        </p:blipFill>
        <p:spPr>
          <a:xfrm>
            <a:off x="994410" y="4377690"/>
            <a:ext cx="342900" cy="342900"/>
          </a:xfrm>
          <a:prstGeom prst="rect">
            <a:avLst/>
          </a:prstGeom>
        </p:spPr>
      </p:pic>
      <p:sp>
        <p:nvSpPr>
          <p:cNvPr id="21" name="Text 15"/>
          <p:cNvSpPr txBox="1"/>
          <p:nvPr/>
        </p:nvSpPr>
        <p:spPr>
          <a:xfrm>
            <a:off x="2971800" y="4206240"/>
            <a:ext cx="822960" cy="685800"/>
          </a:xfrm>
          <a:prstGeom prst="rect">
            <a:avLst/>
          </a:prstGeom>
          <a:noFill/>
          <a:ln/>
        </p:spPr>
        <p:txBody>
          <a:bodyPr wrap="square" lIns="0" tIns="0" rIns="0" bIns="0" rtlCol="0" anchor="ctr"/>
          <a:lstStyle/>
          <a:p>
            <a:pPr algn="r" indent="0" marL="0">
              <a:buNone/>
            </a:pPr>
            <a:r>
              <a:rPr lang="en-US" sz="3200" b="1" dirty="0">
                <a:solidFill>
                  <a:schemeClr val="accent5"/>
                </a:solidFill>
              </a:rPr>
              <a:t>04</a:t>
            </a:r>
            <a:endParaRPr lang="en-US" sz="3200" dirty="0"/>
          </a:p>
        </p:txBody>
      </p:sp>
      <p:sp>
        <p:nvSpPr>
          <p:cNvPr id="22" name="Text 16"/>
          <p:cNvSpPr txBox="1"/>
          <p:nvPr/>
        </p:nvSpPr>
        <p:spPr>
          <a:xfrm>
            <a:off x="822960" y="5029200"/>
            <a:ext cx="2971800" cy="914400"/>
          </a:xfrm>
          <a:prstGeom prst="rect">
            <a:avLst/>
          </a:prstGeom>
          <a:noFill/>
          <a:ln/>
        </p:spPr>
        <p:txBody>
          <a:bodyPr wrap="square" lIns="0" tIns="0" rIns="0" bIns="0" rtlCol="0" anchor="t"/>
          <a:lstStyle/>
          <a:p>
            <a:pPr indent="0" marL="0">
              <a:buNone/>
            </a:pPr>
            <a:r>
              <a:rPr lang="en-US" sz="1900" b="1" dirty="0">
                <a:solidFill>
                  <a:schemeClr val="tx1"/>
                </a:solidFill>
              </a:rPr>
              <a:t>Compare model outputs</a:t>
            </a:r>
            <a:endParaRPr lang="en-US" sz="1900" dirty="0"/>
          </a:p>
        </p:txBody>
      </p:sp>
      <p:sp>
        <p:nvSpPr>
          <p:cNvPr id="23" name="Objective card 5"/>
          <p:cNvSpPr/>
          <p:nvPr/>
        </p:nvSpPr>
        <p:spPr>
          <a:xfrm>
            <a:off x="4334256" y="3931920"/>
            <a:ext cx="3520440" cy="2194560"/>
          </a:xfrm>
          <a:prstGeom prst="roundRect">
            <a:avLst>
              <a:gd name="adj" fmla="val 5000"/>
            </a:avLst>
          </a:prstGeom>
          <a:solidFill>
            <a:schemeClr val="bg2"/>
          </a:solidFill>
          <a:ln/>
          <a:effectLst>
            <a:outerShdw sx="100000" sy="100000" kx="0" ky="0" algn="bl" rotWithShape="0" blurRad="127000" dist="38100" dir="5400000">
              <a:srgbClr val="0B1F3A">
                <a:alpha val="14000"/>
              </a:srgbClr>
            </a:outerShdw>
          </a:effectLst>
        </p:spPr>
      </p:sp>
      <p:sp>
        <p:nvSpPr>
          <p:cNvPr id="24" name="Icon circle FaDesktop"/>
          <p:cNvSpPr/>
          <p:nvPr/>
        </p:nvSpPr>
        <p:spPr>
          <a:xfrm>
            <a:off x="4608576" y="4206240"/>
            <a:ext cx="685800" cy="685800"/>
          </a:xfrm>
          <a:prstGeom prst="ellipse">
            <a:avLst/>
          </a:prstGeom>
          <a:solidFill>
            <a:schemeClr val="accent1"/>
          </a:solidFill>
          <a:ln/>
        </p:spPr>
      </p:sp>
      <p:pic>
        <p:nvPicPr>
          <p:cNvPr id="25" name="Image 4" descr="Desktop icon">    </p:cNvPr>
          <p:cNvPicPr>
            <a:picLocks noChangeAspect="1"/>
          </p:cNvPicPr>
          <p:nvPr/>
        </p:nvPicPr>
        <p:blipFill>
          <a:blip r:embed="rId5"/>
          <a:stretch>
            <a:fillRect/>
          </a:stretch>
        </p:blipFill>
        <p:spPr>
          <a:xfrm>
            <a:off x="4780026" y="4377690"/>
            <a:ext cx="342900" cy="342900"/>
          </a:xfrm>
          <a:prstGeom prst="rect">
            <a:avLst/>
          </a:prstGeom>
        </p:spPr>
      </p:pic>
      <p:sp>
        <p:nvSpPr>
          <p:cNvPr id="26" name="Text 19"/>
          <p:cNvSpPr txBox="1"/>
          <p:nvPr/>
        </p:nvSpPr>
        <p:spPr>
          <a:xfrm>
            <a:off x="6757416" y="4206240"/>
            <a:ext cx="822960" cy="685800"/>
          </a:xfrm>
          <a:prstGeom prst="rect">
            <a:avLst/>
          </a:prstGeom>
          <a:noFill/>
          <a:ln/>
        </p:spPr>
        <p:txBody>
          <a:bodyPr wrap="square" lIns="0" tIns="0" rIns="0" bIns="0" rtlCol="0" anchor="ctr"/>
          <a:lstStyle/>
          <a:p>
            <a:pPr algn="r" indent="0" marL="0">
              <a:buNone/>
            </a:pPr>
            <a:r>
              <a:rPr lang="en-US" sz="3200" b="1" dirty="0">
                <a:solidFill>
                  <a:schemeClr val="accent5"/>
                </a:solidFill>
              </a:rPr>
              <a:t>05</a:t>
            </a:r>
            <a:endParaRPr lang="en-US" sz="3200" dirty="0"/>
          </a:p>
        </p:txBody>
      </p:sp>
      <p:sp>
        <p:nvSpPr>
          <p:cNvPr id="27" name="Text 20"/>
          <p:cNvSpPr txBox="1"/>
          <p:nvPr/>
        </p:nvSpPr>
        <p:spPr>
          <a:xfrm>
            <a:off x="4608576" y="5029200"/>
            <a:ext cx="2971800" cy="914400"/>
          </a:xfrm>
          <a:prstGeom prst="rect">
            <a:avLst/>
          </a:prstGeom>
          <a:noFill/>
          <a:ln/>
        </p:spPr>
        <p:txBody>
          <a:bodyPr wrap="square" lIns="0" tIns="0" rIns="0" bIns="0" rtlCol="0" anchor="t"/>
          <a:lstStyle/>
          <a:p>
            <a:pPr indent="0" marL="0">
              <a:buNone/>
            </a:pPr>
            <a:r>
              <a:rPr lang="en-US" sz="1900" b="1" dirty="0">
                <a:solidFill>
                  <a:schemeClr val="tx1"/>
                </a:solidFill>
              </a:rPr>
              <a:t>Provide a simple interactive interface</a:t>
            </a:r>
            <a:endParaRPr lang="en-US" sz="1900" dirty="0"/>
          </a:p>
        </p:txBody>
      </p:sp>
      <p:sp>
        <p:nvSpPr>
          <p:cNvPr id="28" name="Outcome card"/>
          <p:cNvSpPr/>
          <p:nvPr/>
        </p:nvSpPr>
        <p:spPr>
          <a:xfrm>
            <a:off x="8119872" y="3931920"/>
            <a:ext cx="3520440" cy="2194560"/>
          </a:xfrm>
          <a:prstGeom prst="roundRect">
            <a:avLst>
              <a:gd name="adj" fmla="val 5000"/>
            </a:avLst>
          </a:prstGeom>
          <a:solidFill>
            <a:schemeClr val="tx1"/>
          </a:solidFill>
          <a:ln/>
          <a:effectLst>
            <a:outerShdw sx="100000" sy="100000" kx="0" ky="0" algn="bl" rotWithShape="0" blurRad="127000" dist="38100" dir="5400000">
              <a:srgbClr val="0B1F3A">
                <a:alpha val="14000"/>
              </a:srgbClr>
            </a:outerShdw>
          </a:effectLst>
        </p:spPr>
      </p:sp>
      <p:sp>
        <p:nvSpPr>
          <p:cNvPr id="29" name="Text 22"/>
          <p:cNvSpPr txBox="1"/>
          <p:nvPr/>
        </p:nvSpPr>
        <p:spPr>
          <a:xfrm>
            <a:off x="8394192" y="4206240"/>
            <a:ext cx="297180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OUTCOME</a:t>
            </a:r>
            <a:endParaRPr lang="en-US" sz="1400" dirty="0"/>
          </a:p>
        </p:txBody>
      </p:sp>
      <p:sp>
        <p:nvSpPr>
          <p:cNvPr id="30" name="Text 23"/>
          <p:cNvSpPr txBox="1"/>
          <p:nvPr/>
        </p:nvSpPr>
        <p:spPr>
          <a:xfrm>
            <a:off x="8394192" y="4663440"/>
            <a:ext cx="2971800" cy="1280160"/>
          </a:xfrm>
          <a:prstGeom prst="rect">
            <a:avLst/>
          </a:prstGeom>
          <a:noFill/>
          <a:ln/>
        </p:spPr>
        <p:txBody>
          <a:bodyPr wrap="square" lIns="0" tIns="0" rIns="0" bIns="0" rtlCol="0" anchor="t"/>
          <a:lstStyle/>
          <a:p>
            <a:pPr indent="0" marL="0">
              <a:buNone/>
            </a:pPr>
            <a:r>
              <a:rPr lang="en-US" sz="1900" b="1" dirty="0">
                <a:solidFill>
                  <a:schemeClr val="bg1"/>
                </a:solidFill>
              </a:rPr>
              <a:t>An interactive Streamlit app that uses two saved, trained models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Dataset and Features</a:t>
            </a:r>
            <a:endParaRPr lang="en-US" sz="3800" dirty="0"/>
          </a:p>
        </p:txBody>
      </p:sp>
      <p:sp>
        <p:nvSpPr>
          <p:cNvPr id="3" name="Stats card"/>
          <p:cNvSpPr/>
          <p:nvPr/>
        </p:nvSpPr>
        <p:spPr>
          <a:xfrm>
            <a:off x="548640" y="1463040"/>
            <a:ext cx="3200400" cy="4663440"/>
          </a:xfrm>
          <a:prstGeom prst="roundRect">
            <a:avLst>
              <a:gd name="adj" fmla="val 3429"/>
            </a:avLst>
          </a:prstGeom>
          <a:solidFill>
            <a:schemeClr val="tx1"/>
          </a:solidFill>
          <a:ln/>
          <a:effectLst>
            <a:outerShdw sx="100000" sy="100000" kx="0" ky="0" algn="bl" rotWithShape="0" blurRad="127000" dist="38100" dir="5400000">
              <a:srgbClr val="0B1F3A">
                <a:alpha val="14000"/>
              </a:srgbClr>
            </a:outerShdw>
          </a:effectLst>
        </p:spPr>
      </p:sp>
      <p:sp>
        <p:nvSpPr>
          <p:cNvPr id="4" name="Text 2"/>
          <p:cNvSpPr txBox="1"/>
          <p:nvPr/>
        </p:nvSpPr>
        <p:spPr>
          <a:xfrm>
            <a:off x="868680" y="1691640"/>
            <a:ext cx="2651760" cy="777240"/>
          </a:xfrm>
          <a:prstGeom prst="rect">
            <a:avLst/>
          </a:prstGeom>
          <a:noFill/>
          <a:ln/>
        </p:spPr>
        <p:txBody>
          <a:bodyPr wrap="square" lIns="0" tIns="0" rIns="0" bIns="0" rtlCol="0" anchor="ctr"/>
          <a:lstStyle/>
          <a:p>
            <a:pPr indent="0" marL="0">
              <a:buNone/>
            </a:pPr>
            <a:r>
              <a:rPr lang="en-US" sz="4600" b="1" dirty="0">
                <a:solidFill>
                  <a:schemeClr val="accent1"/>
                </a:solidFill>
              </a:rPr>
              <a:t>≈96,146</a:t>
            </a:r>
            <a:endParaRPr lang="en-US" sz="4600" dirty="0"/>
          </a:p>
        </p:txBody>
      </p:sp>
      <p:sp>
        <p:nvSpPr>
          <p:cNvPr id="5" name="Text 3"/>
          <p:cNvSpPr txBox="1"/>
          <p:nvPr/>
        </p:nvSpPr>
        <p:spPr>
          <a:xfrm>
            <a:off x="868680" y="2468880"/>
            <a:ext cx="2651760" cy="411480"/>
          </a:xfrm>
          <a:prstGeom prst="rect">
            <a:avLst/>
          </a:prstGeom>
          <a:noFill/>
          <a:ln/>
        </p:spPr>
        <p:txBody>
          <a:bodyPr wrap="square" lIns="0" tIns="0" rIns="0" bIns="0" rtlCol="0" anchor="t"/>
          <a:lstStyle/>
          <a:p>
            <a:pPr indent="0" marL="0">
              <a:buNone/>
            </a:pPr>
            <a:r>
              <a:rPr lang="en-US" sz="1700" dirty="0">
                <a:solidFill>
                  <a:schemeClr val="bg1"/>
                </a:solidFill>
              </a:rPr>
              <a:t>cleaned records</a:t>
            </a:r>
            <a:endParaRPr lang="en-US" sz="1700" dirty="0"/>
          </a:p>
        </p:txBody>
      </p:sp>
      <p:sp>
        <p:nvSpPr>
          <p:cNvPr id="6" name="Text 4"/>
          <p:cNvSpPr txBox="1"/>
          <p:nvPr/>
        </p:nvSpPr>
        <p:spPr>
          <a:xfrm>
            <a:off x="868680" y="3154680"/>
            <a:ext cx="2651760" cy="777240"/>
          </a:xfrm>
          <a:prstGeom prst="rect">
            <a:avLst/>
          </a:prstGeom>
          <a:noFill/>
          <a:ln/>
        </p:spPr>
        <p:txBody>
          <a:bodyPr wrap="square" lIns="0" tIns="0" rIns="0" bIns="0" rtlCol="0" anchor="ctr"/>
          <a:lstStyle/>
          <a:p>
            <a:pPr indent="0" marL="0">
              <a:buNone/>
            </a:pPr>
            <a:r>
              <a:rPr lang="en-US" sz="4600" b="1" dirty="0">
                <a:solidFill>
                  <a:schemeClr val="accent1"/>
                </a:solidFill>
              </a:rPr>
              <a:t>8</a:t>
            </a:r>
            <a:endParaRPr lang="en-US" sz="4600" dirty="0"/>
          </a:p>
        </p:txBody>
      </p:sp>
      <p:sp>
        <p:nvSpPr>
          <p:cNvPr id="7" name="Text 5"/>
          <p:cNvSpPr txBox="1"/>
          <p:nvPr/>
        </p:nvSpPr>
        <p:spPr>
          <a:xfrm>
            <a:off x="868680" y="3931920"/>
            <a:ext cx="2651760" cy="411480"/>
          </a:xfrm>
          <a:prstGeom prst="rect">
            <a:avLst/>
          </a:prstGeom>
          <a:noFill/>
          <a:ln/>
        </p:spPr>
        <p:txBody>
          <a:bodyPr wrap="square" lIns="0" tIns="0" rIns="0" bIns="0" rtlCol="0" anchor="t"/>
          <a:lstStyle/>
          <a:p>
            <a:pPr indent="0" marL="0">
              <a:buNone/>
            </a:pPr>
            <a:r>
              <a:rPr lang="en-US" sz="1700" dirty="0">
                <a:solidFill>
                  <a:schemeClr val="bg1"/>
                </a:solidFill>
              </a:rPr>
              <a:t>input features</a:t>
            </a:r>
            <a:endParaRPr lang="en-US" sz="1700" dirty="0"/>
          </a:p>
        </p:txBody>
      </p:sp>
      <p:sp>
        <p:nvSpPr>
          <p:cNvPr id="8" name="Text 6"/>
          <p:cNvSpPr txBox="1"/>
          <p:nvPr/>
        </p:nvSpPr>
        <p:spPr>
          <a:xfrm>
            <a:off x="868680" y="4617720"/>
            <a:ext cx="2651760" cy="777240"/>
          </a:xfrm>
          <a:prstGeom prst="rect">
            <a:avLst/>
          </a:prstGeom>
          <a:noFill/>
          <a:ln/>
        </p:spPr>
        <p:txBody>
          <a:bodyPr wrap="square" lIns="0" tIns="0" rIns="0" bIns="0" rtlCol="0" anchor="ctr"/>
          <a:lstStyle/>
          <a:p>
            <a:pPr indent="0" marL="0">
              <a:buNone/>
            </a:pPr>
            <a:r>
              <a:rPr lang="en-US" sz="4600" b="1" dirty="0">
                <a:solidFill>
                  <a:schemeClr val="accent1"/>
                </a:solidFill>
              </a:rPr>
              <a:t>1</a:t>
            </a:r>
            <a:endParaRPr lang="en-US" sz="4600" dirty="0"/>
          </a:p>
        </p:txBody>
      </p:sp>
      <p:sp>
        <p:nvSpPr>
          <p:cNvPr id="9" name="Text 7"/>
          <p:cNvSpPr txBox="1"/>
          <p:nvPr/>
        </p:nvSpPr>
        <p:spPr>
          <a:xfrm>
            <a:off x="868680" y="5394960"/>
            <a:ext cx="2651760" cy="411480"/>
          </a:xfrm>
          <a:prstGeom prst="rect">
            <a:avLst/>
          </a:prstGeom>
          <a:noFill/>
          <a:ln/>
        </p:spPr>
        <p:txBody>
          <a:bodyPr wrap="square" lIns="0" tIns="0" rIns="0" bIns="0" rtlCol="0" anchor="t"/>
          <a:lstStyle/>
          <a:p>
            <a:pPr indent="0" marL="0">
              <a:buNone/>
            </a:pPr>
            <a:r>
              <a:rPr lang="en-US" sz="1700" dirty="0">
                <a:solidFill>
                  <a:schemeClr val="bg1"/>
                </a:solidFill>
              </a:rPr>
              <a:t>target variable: Diabetes</a:t>
            </a:r>
            <a:endParaRPr lang="en-US" sz="1700" dirty="0"/>
          </a:p>
        </p:txBody>
      </p:sp>
      <p:sp>
        <p:nvSpPr>
          <p:cNvPr id="10" name="Group card Demographic"/>
          <p:cNvSpPr/>
          <p:nvPr/>
        </p:nvSpPr>
        <p:spPr>
          <a:xfrm>
            <a:off x="4023360" y="1463040"/>
            <a:ext cx="3694176" cy="1783080"/>
          </a:xfrm>
          <a:prstGeom prst="roundRect">
            <a:avLst>
              <a:gd name="adj" fmla="val 6154"/>
            </a:avLst>
          </a:prstGeom>
          <a:solidFill>
            <a:schemeClr val="bg2"/>
          </a:solidFill>
          <a:ln/>
          <a:effectLst>
            <a:outerShdw sx="100000" sy="100000" kx="0" ky="0" algn="bl" rotWithShape="0" blurRad="127000" dist="38100" dir="5400000">
              <a:srgbClr val="0B1F3A">
                <a:alpha val="14000"/>
              </a:srgbClr>
            </a:outerShdw>
          </a:effectLst>
        </p:spPr>
      </p:sp>
      <p:sp>
        <p:nvSpPr>
          <p:cNvPr id="11" name="Icon circle FaUser"/>
          <p:cNvSpPr/>
          <p:nvPr/>
        </p:nvSpPr>
        <p:spPr>
          <a:xfrm>
            <a:off x="4251960" y="1645920"/>
            <a:ext cx="502920" cy="502920"/>
          </a:xfrm>
          <a:prstGeom prst="ellipse">
            <a:avLst/>
          </a:prstGeom>
          <a:solidFill>
            <a:schemeClr val="accent1"/>
          </a:solidFill>
          <a:ln/>
        </p:spPr>
      </p:sp>
      <p:pic>
        <p:nvPicPr>
          <p:cNvPr id="12" name="Image 0" descr="User icon">    </p:cNvPr>
          <p:cNvPicPr>
            <a:picLocks noChangeAspect="1"/>
          </p:cNvPicPr>
          <p:nvPr/>
        </p:nvPicPr>
        <p:blipFill>
          <a:blip r:embed="rId1"/>
          <a:stretch>
            <a:fillRect/>
          </a:stretch>
        </p:blipFill>
        <p:spPr>
          <a:xfrm>
            <a:off x="4377690" y="1771650"/>
            <a:ext cx="251460" cy="251460"/>
          </a:xfrm>
          <a:prstGeom prst="rect">
            <a:avLst/>
          </a:prstGeom>
        </p:spPr>
      </p:pic>
      <p:sp>
        <p:nvSpPr>
          <p:cNvPr id="13" name="Text 10"/>
          <p:cNvSpPr txBox="1"/>
          <p:nvPr/>
        </p:nvSpPr>
        <p:spPr>
          <a:xfrm>
            <a:off x="4892040" y="1645920"/>
            <a:ext cx="2642616" cy="502920"/>
          </a:xfrm>
          <a:prstGeom prst="rect">
            <a:avLst/>
          </a:prstGeom>
          <a:noFill/>
          <a:ln/>
        </p:spPr>
        <p:txBody>
          <a:bodyPr wrap="square" lIns="0" tIns="0" rIns="0" bIns="0" rtlCol="0" anchor="ctr"/>
          <a:lstStyle/>
          <a:p>
            <a:pPr indent="0" marL="0">
              <a:buNone/>
            </a:pPr>
            <a:r>
              <a:rPr lang="en-US" sz="1800" b="1" dirty="0">
                <a:solidFill>
                  <a:schemeClr val="tx1"/>
                </a:solidFill>
              </a:rPr>
              <a:t>Demographic</a:t>
            </a:r>
            <a:endParaRPr lang="en-US" sz="1800" dirty="0"/>
          </a:p>
        </p:txBody>
      </p:sp>
      <p:sp>
        <p:nvSpPr>
          <p:cNvPr id="14" name="Chip Gender"/>
          <p:cNvSpPr/>
          <p:nvPr/>
        </p:nvSpPr>
        <p:spPr>
          <a:xfrm>
            <a:off x="4251960" y="2240280"/>
            <a:ext cx="844296" cy="384048"/>
          </a:xfrm>
          <a:prstGeom prst="roundRect">
            <a:avLst>
              <a:gd name="adj" fmla="val 50000"/>
            </a:avLst>
          </a:prstGeom>
          <a:solidFill>
            <a:schemeClr val="bg1"/>
          </a:solidFill>
          <a:ln w="9525">
            <a:solidFill>
              <a:srgbClr val="BFD4E0"/>
            </a:solidFill>
            <a:prstDash val="solid"/>
          </a:ln>
        </p:spPr>
      </p:sp>
      <p:sp>
        <p:nvSpPr>
          <p:cNvPr id="15" name="Text 12"/>
          <p:cNvSpPr txBox="1"/>
          <p:nvPr/>
        </p:nvSpPr>
        <p:spPr>
          <a:xfrm>
            <a:off x="4251960" y="2240280"/>
            <a:ext cx="844296" cy="384048"/>
          </a:xfrm>
          <a:prstGeom prst="rect">
            <a:avLst/>
          </a:prstGeom>
          <a:noFill/>
          <a:ln/>
        </p:spPr>
        <p:txBody>
          <a:bodyPr wrap="square" lIns="0" tIns="0" rIns="0" bIns="0" rtlCol="0" anchor="ctr"/>
          <a:lstStyle/>
          <a:p>
            <a:pPr algn="ctr" indent="0" marL="0">
              <a:buNone/>
            </a:pPr>
            <a:r>
              <a:rPr lang="en-US" sz="1400" dirty="0">
                <a:solidFill>
                  <a:schemeClr val="tx1"/>
                </a:solidFill>
              </a:rPr>
              <a:t>Gender</a:t>
            </a:r>
            <a:endParaRPr lang="en-US" sz="1400" dirty="0"/>
          </a:p>
        </p:txBody>
      </p:sp>
      <p:sp>
        <p:nvSpPr>
          <p:cNvPr id="16" name="Chip Age"/>
          <p:cNvSpPr/>
          <p:nvPr/>
        </p:nvSpPr>
        <p:spPr>
          <a:xfrm>
            <a:off x="5205984" y="2240280"/>
            <a:ext cx="577596" cy="384048"/>
          </a:xfrm>
          <a:prstGeom prst="roundRect">
            <a:avLst>
              <a:gd name="adj" fmla="val 50000"/>
            </a:avLst>
          </a:prstGeom>
          <a:solidFill>
            <a:schemeClr val="bg1"/>
          </a:solidFill>
          <a:ln w="9525">
            <a:solidFill>
              <a:srgbClr val="BFD4E0"/>
            </a:solidFill>
            <a:prstDash val="solid"/>
          </a:ln>
        </p:spPr>
      </p:sp>
      <p:sp>
        <p:nvSpPr>
          <p:cNvPr id="17" name="Text 14"/>
          <p:cNvSpPr txBox="1"/>
          <p:nvPr/>
        </p:nvSpPr>
        <p:spPr>
          <a:xfrm>
            <a:off x="5205984" y="2240280"/>
            <a:ext cx="577596" cy="384048"/>
          </a:xfrm>
          <a:prstGeom prst="rect">
            <a:avLst/>
          </a:prstGeom>
          <a:noFill/>
          <a:ln/>
        </p:spPr>
        <p:txBody>
          <a:bodyPr wrap="square" lIns="0" tIns="0" rIns="0" bIns="0" rtlCol="0" anchor="ctr"/>
          <a:lstStyle/>
          <a:p>
            <a:pPr algn="ctr" indent="0" marL="0">
              <a:buNone/>
            </a:pPr>
            <a:r>
              <a:rPr lang="en-US" sz="1400" dirty="0">
                <a:solidFill>
                  <a:schemeClr val="tx1"/>
                </a:solidFill>
              </a:rPr>
              <a:t>Age</a:t>
            </a:r>
            <a:endParaRPr lang="en-US" sz="1400" dirty="0"/>
          </a:p>
        </p:txBody>
      </p:sp>
      <p:sp>
        <p:nvSpPr>
          <p:cNvPr id="18" name="Group card Medical history"/>
          <p:cNvSpPr/>
          <p:nvPr/>
        </p:nvSpPr>
        <p:spPr>
          <a:xfrm>
            <a:off x="7946136" y="1463040"/>
            <a:ext cx="3694176" cy="1783080"/>
          </a:xfrm>
          <a:prstGeom prst="roundRect">
            <a:avLst>
              <a:gd name="adj" fmla="val 6154"/>
            </a:avLst>
          </a:prstGeom>
          <a:solidFill>
            <a:schemeClr val="bg2"/>
          </a:solidFill>
          <a:ln/>
          <a:effectLst>
            <a:outerShdw sx="100000" sy="100000" kx="0" ky="0" algn="bl" rotWithShape="0" blurRad="127000" dist="38100" dir="5400000">
              <a:srgbClr val="0B1F3A">
                <a:alpha val="14000"/>
              </a:srgbClr>
            </a:outerShdw>
          </a:effectLst>
        </p:spPr>
      </p:sp>
      <p:sp>
        <p:nvSpPr>
          <p:cNvPr id="19" name="Icon circle FaUserMd"/>
          <p:cNvSpPr/>
          <p:nvPr/>
        </p:nvSpPr>
        <p:spPr>
          <a:xfrm>
            <a:off x="8174736" y="1645920"/>
            <a:ext cx="502920" cy="502920"/>
          </a:xfrm>
          <a:prstGeom prst="ellipse">
            <a:avLst/>
          </a:prstGeom>
          <a:solidFill>
            <a:schemeClr val="accent1"/>
          </a:solidFill>
          <a:ln/>
        </p:spPr>
      </p:sp>
      <p:pic>
        <p:nvPicPr>
          <p:cNvPr id="20" name="Image 1" descr="UserMd icon">    </p:cNvPr>
          <p:cNvPicPr>
            <a:picLocks noChangeAspect="1"/>
          </p:cNvPicPr>
          <p:nvPr/>
        </p:nvPicPr>
        <p:blipFill>
          <a:blip r:embed="rId2"/>
          <a:stretch>
            <a:fillRect/>
          </a:stretch>
        </p:blipFill>
        <p:spPr>
          <a:xfrm>
            <a:off x="8300466" y="1771650"/>
            <a:ext cx="251460" cy="251460"/>
          </a:xfrm>
          <a:prstGeom prst="rect">
            <a:avLst/>
          </a:prstGeom>
        </p:spPr>
      </p:pic>
      <p:sp>
        <p:nvSpPr>
          <p:cNvPr id="21" name="Text 17"/>
          <p:cNvSpPr txBox="1"/>
          <p:nvPr/>
        </p:nvSpPr>
        <p:spPr>
          <a:xfrm>
            <a:off x="8814816" y="1645920"/>
            <a:ext cx="2642616" cy="502920"/>
          </a:xfrm>
          <a:prstGeom prst="rect">
            <a:avLst/>
          </a:prstGeom>
          <a:noFill/>
          <a:ln/>
        </p:spPr>
        <p:txBody>
          <a:bodyPr wrap="square" lIns="0" tIns="0" rIns="0" bIns="0" rtlCol="0" anchor="ctr"/>
          <a:lstStyle/>
          <a:p>
            <a:pPr indent="0" marL="0">
              <a:buNone/>
            </a:pPr>
            <a:r>
              <a:rPr lang="en-US" sz="1800" b="1" dirty="0">
                <a:solidFill>
                  <a:schemeClr val="tx1"/>
                </a:solidFill>
              </a:rPr>
              <a:t>Medical history</a:t>
            </a:r>
            <a:endParaRPr lang="en-US" sz="1800" dirty="0"/>
          </a:p>
        </p:txBody>
      </p:sp>
      <p:sp>
        <p:nvSpPr>
          <p:cNvPr id="22" name="Chip Hypertension"/>
          <p:cNvSpPr/>
          <p:nvPr/>
        </p:nvSpPr>
        <p:spPr>
          <a:xfrm>
            <a:off x="8174736" y="2240280"/>
            <a:ext cx="1377696" cy="384048"/>
          </a:xfrm>
          <a:prstGeom prst="roundRect">
            <a:avLst>
              <a:gd name="adj" fmla="val 50000"/>
            </a:avLst>
          </a:prstGeom>
          <a:solidFill>
            <a:schemeClr val="bg1"/>
          </a:solidFill>
          <a:ln w="9525">
            <a:solidFill>
              <a:srgbClr val="BFD4E0"/>
            </a:solidFill>
            <a:prstDash val="solid"/>
          </a:ln>
        </p:spPr>
      </p:sp>
      <p:sp>
        <p:nvSpPr>
          <p:cNvPr id="23" name="Text 19"/>
          <p:cNvSpPr txBox="1"/>
          <p:nvPr/>
        </p:nvSpPr>
        <p:spPr>
          <a:xfrm>
            <a:off x="8174736" y="2240280"/>
            <a:ext cx="1377696" cy="384048"/>
          </a:xfrm>
          <a:prstGeom prst="rect">
            <a:avLst/>
          </a:prstGeom>
          <a:noFill/>
          <a:ln/>
        </p:spPr>
        <p:txBody>
          <a:bodyPr wrap="square" lIns="0" tIns="0" rIns="0" bIns="0" rtlCol="0" anchor="ctr"/>
          <a:lstStyle/>
          <a:p>
            <a:pPr algn="ctr" indent="0" marL="0">
              <a:buNone/>
            </a:pPr>
            <a:r>
              <a:rPr lang="en-US" sz="1400" dirty="0">
                <a:solidFill>
                  <a:schemeClr val="tx1"/>
                </a:solidFill>
              </a:rPr>
              <a:t>Hypertension</a:t>
            </a:r>
            <a:endParaRPr lang="en-US" sz="1400" dirty="0"/>
          </a:p>
        </p:txBody>
      </p:sp>
      <p:sp>
        <p:nvSpPr>
          <p:cNvPr id="24" name="Chip Heart Disease"/>
          <p:cNvSpPr/>
          <p:nvPr/>
        </p:nvSpPr>
        <p:spPr>
          <a:xfrm>
            <a:off x="9662160" y="2240280"/>
            <a:ext cx="1466596" cy="384048"/>
          </a:xfrm>
          <a:prstGeom prst="roundRect">
            <a:avLst>
              <a:gd name="adj" fmla="val 50000"/>
            </a:avLst>
          </a:prstGeom>
          <a:solidFill>
            <a:schemeClr val="bg1"/>
          </a:solidFill>
          <a:ln w="9525">
            <a:solidFill>
              <a:srgbClr val="BFD4E0"/>
            </a:solidFill>
            <a:prstDash val="solid"/>
          </a:ln>
        </p:spPr>
      </p:sp>
      <p:sp>
        <p:nvSpPr>
          <p:cNvPr id="25" name="Text 21"/>
          <p:cNvSpPr txBox="1"/>
          <p:nvPr/>
        </p:nvSpPr>
        <p:spPr>
          <a:xfrm>
            <a:off x="9662160" y="2240280"/>
            <a:ext cx="1466596" cy="384048"/>
          </a:xfrm>
          <a:prstGeom prst="rect">
            <a:avLst/>
          </a:prstGeom>
          <a:noFill/>
          <a:ln/>
        </p:spPr>
        <p:txBody>
          <a:bodyPr wrap="square" lIns="0" tIns="0" rIns="0" bIns="0" rtlCol="0" anchor="ctr"/>
          <a:lstStyle/>
          <a:p>
            <a:pPr algn="ctr" indent="0" marL="0">
              <a:buNone/>
            </a:pPr>
            <a:r>
              <a:rPr lang="en-US" sz="1400" dirty="0">
                <a:solidFill>
                  <a:schemeClr val="tx1"/>
                </a:solidFill>
              </a:rPr>
              <a:t>Heart Disease</a:t>
            </a:r>
            <a:endParaRPr lang="en-US" sz="1400" dirty="0"/>
          </a:p>
        </p:txBody>
      </p:sp>
      <p:sp>
        <p:nvSpPr>
          <p:cNvPr id="26" name="Group card Lifestyle"/>
          <p:cNvSpPr/>
          <p:nvPr/>
        </p:nvSpPr>
        <p:spPr>
          <a:xfrm>
            <a:off x="4023360" y="3474720"/>
            <a:ext cx="3694176" cy="1783080"/>
          </a:xfrm>
          <a:prstGeom prst="roundRect">
            <a:avLst>
              <a:gd name="adj" fmla="val 6154"/>
            </a:avLst>
          </a:prstGeom>
          <a:solidFill>
            <a:schemeClr val="bg2"/>
          </a:solidFill>
          <a:ln/>
          <a:effectLst>
            <a:outerShdw sx="100000" sy="100000" kx="0" ky="0" algn="bl" rotWithShape="0" blurRad="127000" dist="38100" dir="5400000">
              <a:srgbClr val="0B1F3A">
                <a:alpha val="14000"/>
              </a:srgbClr>
            </a:outerShdw>
          </a:effectLst>
        </p:spPr>
      </p:sp>
      <p:sp>
        <p:nvSpPr>
          <p:cNvPr id="27" name="Icon circle FaHeartbeat"/>
          <p:cNvSpPr/>
          <p:nvPr/>
        </p:nvSpPr>
        <p:spPr>
          <a:xfrm>
            <a:off x="4251960" y="3657600"/>
            <a:ext cx="502920" cy="502920"/>
          </a:xfrm>
          <a:prstGeom prst="ellipse">
            <a:avLst/>
          </a:prstGeom>
          <a:solidFill>
            <a:schemeClr val="accent1"/>
          </a:solidFill>
          <a:ln/>
        </p:spPr>
      </p:sp>
      <p:pic>
        <p:nvPicPr>
          <p:cNvPr id="28" name="Image 2" descr="Heartbeat icon">    </p:cNvPr>
          <p:cNvPicPr>
            <a:picLocks noChangeAspect="1"/>
          </p:cNvPicPr>
          <p:nvPr/>
        </p:nvPicPr>
        <p:blipFill>
          <a:blip r:embed="rId3"/>
          <a:stretch>
            <a:fillRect/>
          </a:stretch>
        </p:blipFill>
        <p:spPr>
          <a:xfrm>
            <a:off x="4377690" y="3783330"/>
            <a:ext cx="251460" cy="251460"/>
          </a:xfrm>
          <a:prstGeom prst="rect">
            <a:avLst/>
          </a:prstGeom>
        </p:spPr>
      </p:pic>
      <p:sp>
        <p:nvSpPr>
          <p:cNvPr id="29" name="Text 24"/>
          <p:cNvSpPr txBox="1"/>
          <p:nvPr/>
        </p:nvSpPr>
        <p:spPr>
          <a:xfrm>
            <a:off x="4892040" y="3657600"/>
            <a:ext cx="2642616" cy="502920"/>
          </a:xfrm>
          <a:prstGeom prst="rect">
            <a:avLst/>
          </a:prstGeom>
          <a:noFill/>
          <a:ln/>
        </p:spPr>
        <p:txBody>
          <a:bodyPr wrap="square" lIns="0" tIns="0" rIns="0" bIns="0" rtlCol="0" anchor="ctr"/>
          <a:lstStyle/>
          <a:p>
            <a:pPr indent="0" marL="0">
              <a:buNone/>
            </a:pPr>
            <a:r>
              <a:rPr lang="en-US" sz="1800" b="1" dirty="0">
                <a:solidFill>
                  <a:schemeClr val="tx1"/>
                </a:solidFill>
              </a:rPr>
              <a:t>Lifestyle</a:t>
            </a:r>
            <a:endParaRPr lang="en-US" sz="1800" dirty="0"/>
          </a:p>
        </p:txBody>
      </p:sp>
      <p:sp>
        <p:nvSpPr>
          <p:cNvPr id="30" name="Chip Smoking History"/>
          <p:cNvSpPr/>
          <p:nvPr/>
        </p:nvSpPr>
        <p:spPr>
          <a:xfrm>
            <a:off x="4251960" y="4251960"/>
            <a:ext cx="1644396" cy="384048"/>
          </a:xfrm>
          <a:prstGeom prst="roundRect">
            <a:avLst>
              <a:gd name="adj" fmla="val 50000"/>
            </a:avLst>
          </a:prstGeom>
          <a:solidFill>
            <a:schemeClr val="bg1"/>
          </a:solidFill>
          <a:ln w="9525">
            <a:solidFill>
              <a:srgbClr val="BFD4E0"/>
            </a:solidFill>
            <a:prstDash val="solid"/>
          </a:ln>
        </p:spPr>
      </p:sp>
      <p:sp>
        <p:nvSpPr>
          <p:cNvPr id="31" name="Text 26"/>
          <p:cNvSpPr txBox="1"/>
          <p:nvPr/>
        </p:nvSpPr>
        <p:spPr>
          <a:xfrm>
            <a:off x="4251960" y="4251960"/>
            <a:ext cx="1644396" cy="384048"/>
          </a:xfrm>
          <a:prstGeom prst="rect">
            <a:avLst/>
          </a:prstGeom>
          <a:noFill/>
          <a:ln/>
        </p:spPr>
        <p:txBody>
          <a:bodyPr wrap="square" lIns="0" tIns="0" rIns="0" bIns="0" rtlCol="0" anchor="ctr"/>
          <a:lstStyle/>
          <a:p>
            <a:pPr algn="ctr" indent="0" marL="0">
              <a:buNone/>
            </a:pPr>
            <a:r>
              <a:rPr lang="en-US" sz="1400" dirty="0">
                <a:solidFill>
                  <a:schemeClr val="tx1"/>
                </a:solidFill>
              </a:rPr>
              <a:t>Smoking History</a:t>
            </a:r>
            <a:endParaRPr lang="en-US" sz="1400" dirty="0"/>
          </a:p>
        </p:txBody>
      </p:sp>
      <p:sp>
        <p:nvSpPr>
          <p:cNvPr id="32" name="Group card Clinical measurements"/>
          <p:cNvSpPr/>
          <p:nvPr/>
        </p:nvSpPr>
        <p:spPr>
          <a:xfrm>
            <a:off x="7946136" y="3474720"/>
            <a:ext cx="3694176" cy="1783080"/>
          </a:xfrm>
          <a:prstGeom prst="roundRect">
            <a:avLst>
              <a:gd name="adj" fmla="val 6154"/>
            </a:avLst>
          </a:prstGeom>
          <a:solidFill>
            <a:schemeClr val="bg2"/>
          </a:solidFill>
          <a:ln/>
          <a:effectLst>
            <a:outerShdw sx="100000" sy="100000" kx="0" ky="0" algn="bl" rotWithShape="0" blurRad="127000" dist="38100" dir="5400000">
              <a:srgbClr val="0B1F3A">
                <a:alpha val="14000"/>
              </a:srgbClr>
            </a:outerShdw>
          </a:effectLst>
        </p:spPr>
      </p:sp>
      <p:sp>
        <p:nvSpPr>
          <p:cNvPr id="33" name="Icon circle FaVial"/>
          <p:cNvSpPr/>
          <p:nvPr/>
        </p:nvSpPr>
        <p:spPr>
          <a:xfrm>
            <a:off x="8174736" y="3657600"/>
            <a:ext cx="502920" cy="502920"/>
          </a:xfrm>
          <a:prstGeom prst="ellipse">
            <a:avLst/>
          </a:prstGeom>
          <a:solidFill>
            <a:schemeClr val="accent1"/>
          </a:solidFill>
          <a:ln/>
        </p:spPr>
      </p:sp>
      <p:pic>
        <p:nvPicPr>
          <p:cNvPr id="34" name="Image 3" descr="Vial icon">    </p:cNvPr>
          <p:cNvPicPr>
            <a:picLocks noChangeAspect="1"/>
          </p:cNvPicPr>
          <p:nvPr/>
        </p:nvPicPr>
        <p:blipFill>
          <a:blip r:embed="rId4"/>
          <a:stretch>
            <a:fillRect/>
          </a:stretch>
        </p:blipFill>
        <p:spPr>
          <a:xfrm>
            <a:off x="8300466" y="3783330"/>
            <a:ext cx="251460" cy="251460"/>
          </a:xfrm>
          <a:prstGeom prst="rect">
            <a:avLst/>
          </a:prstGeom>
        </p:spPr>
      </p:pic>
      <p:sp>
        <p:nvSpPr>
          <p:cNvPr id="35" name="Text 29"/>
          <p:cNvSpPr txBox="1"/>
          <p:nvPr/>
        </p:nvSpPr>
        <p:spPr>
          <a:xfrm>
            <a:off x="8814816" y="3657600"/>
            <a:ext cx="2642616" cy="502920"/>
          </a:xfrm>
          <a:prstGeom prst="rect">
            <a:avLst/>
          </a:prstGeom>
          <a:noFill/>
          <a:ln/>
        </p:spPr>
        <p:txBody>
          <a:bodyPr wrap="square" lIns="0" tIns="0" rIns="0" bIns="0" rtlCol="0" anchor="ctr"/>
          <a:lstStyle/>
          <a:p>
            <a:pPr indent="0" marL="0">
              <a:buNone/>
            </a:pPr>
            <a:r>
              <a:rPr lang="en-US" sz="1800" b="1" dirty="0">
                <a:solidFill>
                  <a:schemeClr val="tx1"/>
                </a:solidFill>
              </a:rPr>
              <a:t>Clinical measurements</a:t>
            </a:r>
            <a:endParaRPr lang="en-US" sz="1800" dirty="0"/>
          </a:p>
        </p:txBody>
      </p:sp>
      <p:sp>
        <p:nvSpPr>
          <p:cNvPr id="36" name="Chip BMI"/>
          <p:cNvSpPr/>
          <p:nvPr/>
        </p:nvSpPr>
        <p:spPr>
          <a:xfrm>
            <a:off x="8174736" y="4251960"/>
            <a:ext cx="577596" cy="384048"/>
          </a:xfrm>
          <a:prstGeom prst="roundRect">
            <a:avLst>
              <a:gd name="adj" fmla="val 50000"/>
            </a:avLst>
          </a:prstGeom>
          <a:solidFill>
            <a:schemeClr val="bg1"/>
          </a:solidFill>
          <a:ln w="9525">
            <a:solidFill>
              <a:srgbClr val="BFD4E0"/>
            </a:solidFill>
            <a:prstDash val="solid"/>
          </a:ln>
        </p:spPr>
      </p:sp>
      <p:sp>
        <p:nvSpPr>
          <p:cNvPr id="37" name="Text 31"/>
          <p:cNvSpPr txBox="1"/>
          <p:nvPr/>
        </p:nvSpPr>
        <p:spPr>
          <a:xfrm>
            <a:off x="8174736" y="4251960"/>
            <a:ext cx="577596" cy="384048"/>
          </a:xfrm>
          <a:prstGeom prst="rect">
            <a:avLst/>
          </a:prstGeom>
          <a:noFill/>
          <a:ln/>
        </p:spPr>
        <p:txBody>
          <a:bodyPr wrap="square" lIns="0" tIns="0" rIns="0" bIns="0" rtlCol="0" anchor="ctr"/>
          <a:lstStyle/>
          <a:p>
            <a:pPr algn="ctr" indent="0" marL="0">
              <a:buNone/>
            </a:pPr>
            <a:r>
              <a:rPr lang="en-US" sz="1400" dirty="0">
                <a:solidFill>
                  <a:schemeClr val="tx1"/>
                </a:solidFill>
              </a:rPr>
              <a:t>BMI</a:t>
            </a:r>
            <a:endParaRPr lang="en-US" sz="1400" dirty="0"/>
          </a:p>
        </p:txBody>
      </p:sp>
      <p:sp>
        <p:nvSpPr>
          <p:cNvPr id="38" name="Chip HbA1c Level"/>
          <p:cNvSpPr/>
          <p:nvPr/>
        </p:nvSpPr>
        <p:spPr>
          <a:xfrm>
            <a:off x="8862060" y="4251960"/>
            <a:ext cx="1288796" cy="384048"/>
          </a:xfrm>
          <a:prstGeom prst="roundRect">
            <a:avLst>
              <a:gd name="adj" fmla="val 50000"/>
            </a:avLst>
          </a:prstGeom>
          <a:solidFill>
            <a:schemeClr val="bg1"/>
          </a:solidFill>
          <a:ln w="9525">
            <a:solidFill>
              <a:srgbClr val="BFD4E0"/>
            </a:solidFill>
            <a:prstDash val="solid"/>
          </a:ln>
        </p:spPr>
      </p:sp>
      <p:sp>
        <p:nvSpPr>
          <p:cNvPr id="39" name="Text 33"/>
          <p:cNvSpPr txBox="1"/>
          <p:nvPr/>
        </p:nvSpPr>
        <p:spPr>
          <a:xfrm>
            <a:off x="8862060" y="4251960"/>
            <a:ext cx="1288796" cy="384048"/>
          </a:xfrm>
          <a:prstGeom prst="rect">
            <a:avLst/>
          </a:prstGeom>
          <a:noFill/>
          <a:ln/>
        </p:spPr>
        <p:txBody>
          <a:bodyPr wrap="square" lIns="0" tIns="0" rIns="0" bIns="0" rtlCol="0" anchor="ctr"/>
          <a:lstStyle/>
          <a:p>
            <a:pPr algn="ctr" indent="0" marL="0">
              <a:buNone/>
            </a:pPr>
            <a:r>
              <a:rPr lang="en-US" sz="1400" dirty="0">
                <a:solidFill>
                  <a:schemeClr val="tx1"/>
                </a:solidFill>
              </a:rPr>
              <a:t>HbA1c Level</a:t>
            </a:r>
            <a:endParaRPr lang="en-US" sz="1400" dirty="0"/>
          </a:p>
        </p:txBody>
      </p:sp>
      <p:sp>
        <p:nvSpPr>
          <p:cNvPr id="40" name="Chip Blood Glucose Level"/>
          <p:cNvSpPr/>
          <p:nvPr/>
        </p:nvSpPr>
        <p:spPr>
          <a:xfrm>
            <a:off x="8174736" y="4745736"/>
            <a:ext cx="1999996" cy="384048"/>
          </a:xfrm>
          <a:prstGeom prst="roundRect">
            <a:avLst>
              <a:gd name="adj" fmla="val 50000"/>
            </a:avLst>
          </a:prstGeom>
          <a:solidFill>
            <a:schemeClr val="bg1"/>
          </a:solidFill>
          <a:ln w="9525">
            <a:solidFill>
              <a:srgbClr val="BFD4E0"/>
            </a:solidFill>
            <a:prstDash val="solid"/>
          </a:ln>
        </p:spPr>
      </p:sp>
      <p:sp>
        <p:nvSpPr>
          <p:cNvPr id="41" name="Text 35"/>
          <p:cNvSpPr txBox="1"/>
          <p:nvPr/>
        </p:nvSpPr>
        <p:spPr>
          <a:xfrm>
            <a:off x="8174736" y="4745736"/>
            <a:ext cx="1999996" cy="384048"/>
          </a:xfrm>
          <a:prstGeom prst="rect">
            <a:avLst/>
          </a:prstGeom>
          <a:noFill/>
          <a:ln/>
        </p:spPr>
        <p:txBody>
          <a:bodyPr wrap="square" lIns="0" tIns="0" rIns="0" bIns="0" rtlCol="0" anchor="ctr"/>
          <a:lstStyle/>
          <a:p>
            <a:pPr algn="ctr" indent="0" marL="0">
              <a:buNone/>
            </a:pPr>
            <a:r>
              <a:rPr lang="en-US" sz="1400" dirty="0">
                <a:solidFill>
                  <a:schemeClr val="tx1"/>
                </a:solidFill>
              </a:rPr>
              <a:t>Blood Glucose Level</a:t>
            </a:r>
            <a:endParaRPr lang="en-US" sz="1400" dirty="0"/>
          </a:p>
        </p:txBody>
      </p:sp>
      <p:sp>
        <p:nvSpPr>
          <p:cNvPr id="42" name="Target bar"/>
          <p:cNvSpPr/>
          <p:nvPr/>
        </p:nvSpPr>
        <p:spPr>
          <a:xfrm>
            <a:off x="4023360" y="5440680"/>
            <a:ext cx="7616952" cy="685800"/>
          </a:xfrm>
          <a:prstGeom prst="roundRect">
            <a:avLst>
              <a:gd name="adj" fmla="val 16000"/>
            </a:avLst>
          </a:prstGeom>
          <a:solidFill>
            <a:schemeClr val="accent6"/>
          </a:solidFill>
          <a:ln/>
        </p:spPr>
      </p:sp>
      <p:sp>
        <p:nvSpPr>
          <p:cNvPr id="43" name="Icon circle FaBullseye"/>
          <p:cNvSpPr/>
          <p:nvPr/>
        </p:nvSpPr>
        <p:spPr>
          <a:xfrm>
            <a:off x="4251960" y="5532120"/>
            <a:ext cx="502920" cy="502920"/>
          </a:xfrm>
          <a:prstGeom prst="ellipse">
            <a:avLst/>
          </a:prstGeom>
          <a:solidFill>
            <a:schemeClr val="bg1"/>
          </a:solidFill>
          <a:ln/>
        </p:spPr>
      </p:sp>
      <p:pic>
        <p:nvPicPr>
          <p:cNvPr id="44" name="Image 4" descr="Bullseye icon">    </p:cNvPr>
          <p:cNvPicPr>
            <a:picLocks noChangeAspect="1"/>
          </p:cNvPicPr>
          <p:nvPr/>
        </p:nvPicPr>
        <p:blipFill>
          <a:blip r:embed="rId5"/>
          <a:stretch>
            <a:fillRect/>
          </a:stretch>
        </p:blipFill>
        <p:spPr>
          <a:xfrm>
            <a:off x="4377690" y="5657850"/>
            <a:ext cx="251460" cy="251460"/>
          </a:xfrm>
          <a:prstGeom prst="rect">
            <a:avLst/>
          </a:prstGeom>
        </p:spPr>
      </p:pic>
      <p:sp>
        <p:nvSpPr>
          <p:cNvPr id="45" name="Text 38"/>
          <p:cNvSpPr txBox="1"/>
          <p:nvPr/>
        </p:nvSpPr>
        <p:spPr>
          <a:xfrm>
            <a:off x="4937760" y="5440680"/>
            <a:ext cx="6492240" cy="685800"/>
          </a:xfrm>
          <a:prstGeom prst="rect">
            <a:avLst/>
          </a:prstGeom>
          <a:noFill/>
          <a:ln/>
        </p:spPr>
        <p:txBody>
          <a:bodyPr wrap="square" lIns="0" tIns="0" rIns="0" bIns="0" rtlCol="0" anchor="ctr"/>
          <a:lstStyle/>
          <a:p>
            <a:pPr indent="0" marL="0">
              <a:buNone/>
            </a:pPr>
            <a:r>
              <a:rPr lang="en-US" sz="1400" b="1" spc="200" kern="0" dirty="0">
                <a:solidFill>
                  <a:schemeClr val="bg1"/>
                </a:solidFill>
              </a:rPr>
              <a:t>TARGET VARIABLE:  </a:t>
            </a:r>
            <a:pPr indent="0" marL="0">
              <a:buNone/>
            </a:pPr>
            <a:r>
              <a:rPr lang="en-US" sz="2200" b="1" dirty="0">
                <a:solidFill>
                  <a:schemeClr val="bg1"/>
                </a:solidFill>
              </a:rPr>
              <a:t>Diabetes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Data Preparation and Exploratory Analysis</a:t>
            </a:r>
            <a:endParaRPr lang="en-US" sz="3800" dirty="0"/>
          </a:p>
        </p:txBody>
      </p:sp>
      <p:sp>
        <p:nvSpPr>
          <p:cNvPr id="3" name="Step card Load data"/>
          <p:cNvSpPr/>
          <p:nvPr/>
        </p:nvSpPr>
        <p:spPr>
          <a:xfrm>
            <a:off x="548640" y="1417320"/>
            <a:ext cx="1965960" cy="2103120"/>
          </a:xfrm>
          <a:prstGeom prst="roundRect">
            <a:avLst>
              <a:gd name="adj" fmla="val 5581"/>
            </a:avLst>
          </a:prstGeom>
          <a:solidFill>
            <a:schemeClr val="bg2"/>
          </a:solidFill>
          <a:ln/>
          <a:effectLst>
            <a:outerShdw sx="100000" sy="100000" kx="0" ky="0" algn="bl" rotWithShape="0" blurRad="127000" dist="38100" dir="5400000">
              <a:srgbClr val="0B1F3A">
                <a:alpha val="14000"/>
              </a:srgbClr>
            </a:outerShdw>
          </a:effectLst>
        </p:spPr>
      </p:sp>
      <p:sp>
        <p:nvSpPr>
          <p:cNvPr id="4" name="Icon circle FaDatabase"/>
          <p:cNvSpPr/>
          <p:nvPr/>
        </p:nvSpPr>
        <p:spPr>
          <a:xfrm>
            <a:off x="777240" y="1618488"/>
            <a:ext cx="548640" cy="548640"/>
          </a:xfrm>
          <a:prstGeom prst="ellipse">
            <a:avLst/>
          </a:prstGeom>
          <a:solidFill>
            <a:schemeClr val="accent1"/>
          </a:solidFill>
          <a:ln/>
        </p:spPr>
      </p:sp>
      <p:pic>
        <p:nvPicPr>
          <p:cNvPr id="5" name="Image 0" descr="Database icon">    </p:cNvPr>
          <p:cNvPicPr>
            <a:picLocks noChangeAspect="1"/>
          </p:cNvPicPr>
          <p:nvPr/>
        </p:nvPicPr>
        <p:blipFill>
          <a:blip r:embed="rId1"/>
          <a:stretch>
            <a:fillRect/>
          </a:stretch>
        </p:blipFill>
        <p:spPr>
          <a:xfrm>
            <a:off x="914400" y="1755648"/>
            <a:ext cx="274320" cy="274320"/>
          </a:xfrm>
          <a:prstGeom prst="rect">
            <a:avLst/>
          </a:prstGeom>
        </p:spPr>
      </p:pic>
      <p:sp>
        <p:nvSpPr>
          <p:cNvPr id="6" name="Text 3"/>
          <p:cNvSpPr txBox="1"/>
          <p:nvPr/>
        </p:nvSpPr>
        <p:spPr>
          <a:xfrm>
            <a:off x="1874520" y="1618488"/>
            <a:ext cx="411480" cy="548640"/>
          </a:xfrm>
          <a:prstGeom prst="rect">
            <a:avLst/>
          </a:prstGeom>
          <a:noFill/>
          <a:ln/>
        </p:spPr>
        <p:txBody>
          <a:bodyPr wrap="square" lIns="0" tIns="0" rIns="0" bIns="0" rtlCol="0" anchor="ctr"/>
          <a:lstStyle/>
          <a:p>
            <a:pPr algn="r" indent="0" marL="0">
              <a:buNone/>
            </a:pPr>
            <a:r>
              <a:rPr lang="en-US" sz="2400" b="1" dirty="0">
                <a:solidFill>
                  <a:schemeClr val="accent5"/>
                </a:solidFill>
              </a:rPr>
              <a:t>1</a:t>
            </a:r>
            <a:endParaRPr lang="en-US" sz="2400" dirty="0"/>
          </a:p>
        </p:txBody>
      </p:sp>
      <p:sp>
        <p:nvSpPr>
          <p:cNvPr id="7" name="Text 4"/>
          <p:cNvSpPr txBox="1"/>
          <p:nvPr/>
        </p:nvSpPr>
        <p:spPr>
          <a:xfrm>
            <a:off x="777240" y="2286000"/>
            <a:ext cx="1600200" cy="365760"/>
          </a:xfrm>
          <a:prstGeom prst="rect">
            <a:avLst/>
          </a:prstGeom>
          <a:noFill/>
          <a:ln/>
        </p:spPr>
        <p:txBody>
          <a:bodyPr wrap="square" lIns="0" tIns="0" rIns="0" bIns="0" rtlCol="0" anchor="t"/>
          <a:lstStyle/>
          <a:p>
            <a:pPr indent="0" marL="0">
              <a:buNone/>
            </a:pPr>
            <a:r>
              <a:rPr lang="en-US" sz="1800" b="1" dirty="0">
                <a:solidFill>
                  <a:schemeClr val="tx1"/>
                </a:solidFill>
              </a:rPr>
              <a:t>Load data</a:t>
            </a:r>
            <a:endParaRPr lang="en-US" sz="1800" dirty="0"/>
          </a:p>
        </p:txBody>
      </p:sp>
      <p:sp>
        <p:nvSpPr>
          <p:cNvPr id="8" name="Text 5"/>
          <p:cNvSpPr txBox="1"/>
          <p:nvPr/>
        </p:nvSpPr>
        <p:spPr>
          <a:xfrm>
            <a:off x="777240" y="2679192"/>
            <a:ext cx="1600200" cy="777240"/>
          </a:xfrm>
          <a:prstGeom prst="rect">
            <a:avLst/>
          </a:prstGeom>
          <a:noFill/>
          <a:ln/>
        </p:spPr>
        <p:txBody>
          <a:bodyPr wrap="square" lIns="0" tIns="0" rIns="0" bIns="0" rtlCol="0" anchor="t"/>
          <a:lstStyle/>
          <a:p>
            <a:pPr indent="0" marL="0">
              <a:buNone/>
            </a:pPr>
            <a:r>
              <a:rPr lang="en-US" sz="1400" dirty="0">
                <a:solidFill>
                  <a:schemeClr val="tx2"/>
                </a:solidFill>
              </a:rPr>
              <a:t>Read the dataset into Pandas</a:t>
            </a:r>
            <a:endParaRPr lang="en-US" sz="1400" dirty="0"/>
          </a:p>
        </p:txBody>
      </p:sp>
      <p:pic>
        <p:nvPicPr>
          <p:cNvPr id="9" name="Image 1" descr="Next step">    </p:cNvPr>
          <p:cNvPicPr>
            <a:picLocks noChangeAspect="1"/>
          </p:cNvPicPr>
          <p:nvPr/>
        </p:nvPicPr>
        <p:blipFill>
          <a:blip r:embed="rId2"/>
          <a:stretch>
            <a:fillRect/>
          </a:stretch>
        </p:blipFill>
        <p:spPr>
          <a:xfrm>
            <a:off x="2569464" y="2363724"/>
            <a:ext cx="210312" cy="210312"/>
          </a:xfrm>
          <a:prstGeom prst="rect">
            <a:avLst/>
          </a:prstGeom>
        </p:spPr>
      </p:pic>
      <p:sp>
        <p:nvSpPr>
          <p:cNvPr id="10" name="Step card Inspect"/>
          <p:cNvSpPr/>
          <p:nvPr/>
        </p:nvSpPr>
        <p:spPr>
          <a:xfrm>
            <a:off x="2830068" y="1417320"/>
            <a:ext cx="1965960" cy="2103120"/>
          </a:xfrm>
          <a:prstGeom prst="roundRect">
            <a:avLst>
              <a:gd name="adj" fmla="val 5581"/>
            </a:avLst>
          </a:prstGeom>
          <a:solidFill>
            <a:schemeClr val="bg2"/>
          </a:solidFill>
          <a:ln/>
          <a:effectLst>
            <a:outerShdw sx="100000" sy="100000" kx="0" ky="0" algn="bl" rotWithShape="0" blurRad="127000" dist="38100" dir="5400000">
              <a:srgbClr val="0B1F3A">
                <a:alpha val="14000"/>
              </a:srgbClr>
            </a:outerShdw>
          </a:effectLst>
        </p:spPr>
      </p:sp>
      <p:sp>
        <p:nvSpPr>
          <p:cNvPr id="11" name="Icon circle FaSearch"/>
          <p:cNvSpPr/>
          <p:nvPr/>
        </p:nvSpPr>
        <p:spPr>
          <a:xfrm>
            <a:off x="3058668" y="1618488"/>
            <a:ext cx="548640" cy="548640"/>
          </a:xfrm>
          <a:prstGeom prst="ellipse">
            <a:avLst/>
          </a:prstGeom>
          <a:solidFill>
            <a:schemeClr val="accent1"/>
          </a:solidFill>
          <a:ln/>
        </p:spPr>
      </p:sp>
      <p:pic>
        <p:nvPicPr>
          <p:cNvPr id="12" name="Image 2" descr="Search icon">    </p:cNvPr>
          <p:cNvPicPr>
            <a:picLocks noChangeAspect="1"/>
          </p:cNvPicPr>
          <p:nvPr/>
        </p:nvPicPr>
        <p:blipFill>
          <a:blip r:embed="rId3"/>
          <a:stretch>
            <a:fillRect/>
          </a:stretch>
        </p:blipFill>
        <p:spPr>
          <a:xfrm>
            <a:off x="3195828" y="1755648"/>
            <a:ext cx="274320" cy="274320"/>
          </a:xfrm>
          <a:prstGeom prst="rect">
            <a:avLst/>
          </a:prstGeom>
        </p:spPr>
      </p:pic>
      <p:sp>
        <p:nvSpPr>
          <p:cNvPr id="13" name="Text 8"/>
          <p:cNvSpPr txBox="1"/>
          <p:nvPr/>
        </p:nvSpPr>
        <p:spPr>
          <a:xfrm>
            <a:off x="4155948" y="1618488"/>
            <a:ext cx="411480" cy="548640"/>
          </a:xfrm>
          <a:prstGeom prst="rect">
            <a:avLst/>
          </a:prstGeom>
          <a:noFill/>
          <a:ln/>
        </p:spPr>
        <p:txBody>
          <a:bodyPr wrap="square" lIns="0" tIns="0" rIns="0" bIns="0" rtlCol="0" anchor="ctr"/>
          <a:lstStyle/>
          <a:p>
            <a:pPr algn="r" indent="0" marL="0">
              <a:buNone/>
            </a:pPr>
            <a:r>
              <a:rPr lang="en-US" sz="2400" b="1" dirty="0">
                <a:solidFill>
                  <a:schemeClr val="accent5"/>
                </a:solidFill>
              </a:rPr>
              <a:t>2</a:t>
            </a:r>
            <a:endParaRPr lang="en-US" sz="2400" dirty="0"/>
          </a:p>
        </p:txBody>
      </p:sp>
      <p:sp>
        <p:nvSpPr>
          <p:cNvPr id="14" name="Text 9"/>
          <p:cNvSpPr txBox="1"/>
          <p:nvPr/>
        </p:nvSpPr>
        <p:spPr>
          <a:xfrm>
            <a:off x="3058668" y="2286000"/>
            <a:ext cx="1600200" cy="365760"/>
          </a:xfrm>
          <a:prstGeom prst="rect">
            <a:avLst/>
          </a:prstGeom>
          <a:noFill/>
          <a:ln/>
        </p:spPr>
        <p:txBody>
          <a:bodyPr wrap="square" lIns="0" tIns="0" rIns="0" bIns="0" rtlCol="0" anchor="t"/>
          <a:lstStyle/>
          <a:p>
            <a:pPr indent="0" marL="0">
              <a:buNone/>
            </a:pPr>
            <a:r>
              <a:rPr lang="en-US" sz="1800" b="1" dirty="0">
                <a:solidFill>
                  <a:schemeClr val="tx1"/>
                </a:solidFill>
              </a:rPr>
              <a:t>Inspect</a:t>
            </a:r>
            <a:endParaRPr lang="en-US" sz="1800" dirty="0"/>
          </a:p>
        </p:txBody>
      </p:sp>
      <p:sp>
        <p:nvSpPr>
          <p:cNvPr id="15" name="Text 10"/>
          <p:cNvSpPr txBox="1"/>
          <p:nvPr/>
        </p:nvSpPr>
        <p:spPr>
          <a:xfrm>
            <a:off x="3058668" y="2679192"/>
            <a:ext cx="1600200" cy="777240"/>
          </a:xfrm>
          <a:prstGeom prst="rect">
            <a:avLst/>
          </a:prstGeom>
          <a:noFill/>
          <a:ln/>
        </p:spPr>
        <p:txBody>
          <a:bodyPr wrap="square" lIns="0" tIns="0" rIns="0" bIns="0" rtlCol="0" anchor="t"/>
          <a:lstStyle/>
          <a:p>
            <a:pPr indent="0" marL="0">
              <a:buNone/>
            </a:pPr>
            <a:r>
              <a:rPr lang="en-US" sz="1400" dirty="0">
                <a:solidFill>
                  <a:schemeClr val="tx2"/>
                </a:solidFill>
              </a:rPr>
              <a:t>Data types, missing / invalid values, duplicates</a:t>
            </a:r>
            <a:endParaRPr lang="en-US" sz="1400" dirty="0"/>
          </a:p>
        </p:txBody>
      </p:sp>
      <p:pic>
        <p:nvPicPr>
          <p:cNvPr id="16" name="Image 3" descr="Next step">    </p:cNvPr>
          <p:cNvPicPr>
            <a:picLocks noChangeAspect="1"/>
          </p:cNvPicPr>
          <p:nvPr/>
        </p:nvPicPr>
        <p:blipFill>
          <a:blip r:embed="rId4"/>
          <a:stretch>
            <a:fillRect/>
          </a:stretch>
        </p:blipFill>
        <p:spPr>
          <a:xfrm>
            <a:off x="4850892" y="2363724"/>
            <a:ext cx="210312" cy="210312"/>
          </a:xfrm>
          <a:prstGeom prst="rect">
            <a:avLst/>
          </a:prstGeom>
        </p:spPr>
      </p:pic>
      <p:sp>
        <p:nvSpPr>
          <p:cNvPr id="17" name="Step card Clean"/>
          <p:cNvSpPr/>
          <p:nvPr/>
        </p:nvSpPr>
        <p:spPr>
          <a:xfrm>
            <a:off x="5111496" y="1417320"/>
            <a:ext cx="1965960" cy="2103120"/>
          </a:xfrm>
          <a:prstGeom prst="roundRect">
            <a:avLst>
              <a:gd name="adj" fmla="val 5581"/>
            </a:avLst>
          </a:prstGeom>
          <a:solidFill>
            <a:schemeClr val="bg2"/>
          </a:solidFill>
          <a:ln/>
          <a:effectLst>
            <a:outerShdw sx="100000" sy="100000" kx="0" ky="0" algn="bl" rotWithShape="0" blurRad="127000" dist="38100" dir="5400000">
              <a:srgbClr val="0B1F3A">
                <a:alpha val="14000"/>
              </a:srgbClr>
            </a:outerShdw>
          </a:effectLst>
        </p:spPr>
      </p:sp>
      <p:sp>
        <p:nvSpPr>
          <p:cNvPr id="18" name="Icon circle FaBroom"/>
          <p:cNvSpPr/>
          <p:nvPr/>
        </p:nvSpPr>
        <p:spPr>
          <a:xfrm>
            <a:off x="5340096" y="1618488"/>
            <a:ext cx="548640" cy="548640"/>
          </a:xfrm>
          <a:prstGeom prst="ellipse">
            <a:avLst/>
          </a:prstGeom>
          <a:solidFill>
            <a:schemeClr val="accent1"/>
          </a:solidFill>
          <a:ln/>
        </p:spPr>
      </p:sp>
      <p:pic>
        <p:nvPicPr>
          <p:cNvPr id="19" name="Image 4" descr="Broom icon">    </p:cNvPr>
          <p:cNvPicPr>
            <a:picLocks noChangeAspect="1"/>
          </p:cNvPicPr>
          <p:nvPr/>
        </p:nvPicPr>
        <p:blipFill>
          <a:blip r:embed="rId5"/>
          <a:stretch>
            <a:fillRect/>
          </a:stretch>
        </p:blipFill>
        <p:spPr>
          <a:xfrm>
            <a:off x="5477256" y="1755648"/>
            <a:ext cx="274320" cy="274320"/>
          </a:xfrm>
          <a:prstGeom prst="rect">
            <a:avLst/>
          </a:prstGeom>
        </p:spPr>
      </p:pic>
      <p:sp>
        <p:nvSpPr>
          <p:cNvPr id="20" name="Text 13"/>
          <p:cNvSpPr txBox="1"/>
          <p:nvPr/>
        </p:nvSpPr>
        <p:spPr>
          <a:xfrm>
            <a:off x="6437376" y="1618488"/>
            <a:ext cx="411480" cy="548640"/>
          </a:xfrm>
          <a:prstGeom prst="rect">
            <a:avLst/>
          </a:prstGeom>
          <a:noFill/>
          <a:ln/>
        </p:spPr>
        <p:txBody>
          <a:bodyPr wrap="square" lIns="0" tIns="0" rIns="0" bIns="0" rtlCol="0" anchor="ctr"/>
          <a:lstStyle/>
          <a:p>
            <a:pPr algn="r" indent="0" marL="0">
              <a:buNone/>
            </a:pPr>
            <a:r>
              <a:rPr lang="en-US" sz="2400" b="1" dirty="0">
                <a:solidFill>
                  <a:schemeClr val="accent5"/>
                </a:solidFill>
              </a:rPr>
              <a:t>3</a:t>
            </a:r>
            <a:endParaRPr lang="en-US" sz="2400" dirty="0"/>
          </a:p>
        </p:txBody>
      </p:sp>
      <p:sp>
        <p:nvSpPr>
          <p:cNvPr id="21" name="Text 14"/>
          <p:cNvSpPr txBox="1"/>
          <p:nvPr/>
        </p:nvSpPr>
        <p:spPr>
          <a:xfrm>
            <a:off x="5340096" y="2286000"/>
            <a:ext cx="1600200" cy="365760"/>
          </a:xfrm>
          <a:prstGeom prst="rect">
            <a:avLst/>
          </a:prstGeom>
          <a:noFill/>
          <a:ln/>
        </p:spPr>
        <p:txBody>
          <a:bodyPr wrap="square" lIns="0" tIns="0" rIns="0" bIns="0" rtlCol="0" anchor="t"/>
          <a:lstStyle/>
          <a:p>
            <a:pPr indent="0" marL="0">
              <a:buNone/>
            </a:pPr>
            <a:r>
              <a:rPr lang="en-US" sz="1800" b="1" dirty="0">
                <a:solidFill>
                  <a:schemeClr val="tx1"/>
                </a:solidFill>
              </a:rPr>
              <a:t>Clean</a:t>
            </a:r>
            <a:endParaRPr lang="en-US" sz="1800" dirty="0"/>
          </a:p>
        </p:txBody>
      </p:sp>
      <p:sp>
        <p:nvSpPr>
          <p:cNvPr id="22" name="Text 15"/>
          <p:cNvSpPr txBox="1"/>
          <p:nvPr/>
        </p:nvSpPr>
        <p:spPr>
          <a:xfrm>
            <a:off x="5340096" y="2679192"/>
            <a:ext cx="1600200" cy="777240"/>
          </a:xfrm>
          <a:prstGeom prst="rect">
            <a:avLst/>
          </a:prstGeom>
          <a:noFill/>
          <a:ln/>
        </p:spPr>
        <p:txBody>
          <a:bodyPr wrap="square" lIns="0" tIns="0" rIns="0" bIns="0" rtlCol="0" anchor="t"/>
          <a:lstStyle/>
          <a:p>
            <a:pPr indent="0" marL="0">
              <a:buNone/>
            </a:pPr>
            <a:r>
              <a:rPr lang="en-US" sz="1400" dirty="0">
                <a:solidFill>
                  <a:schemeClr val="tx2"/>
                </a:solidFill>
              </a:rPr>
              <a:t>Produce the cleaned dataset (≈96,146 records)</a:t>
            </a:r>
            <a:endParaRPr lang="en-US" sz="1400" dirty="0"/>
          </a:p>
        </p:txBody>
      </p:sp>
      <p:pic>
        <p:nvPicPr>
          <p:cNvPr id="23" name="Image 5" descr="Next step">    </p:cNvPr>
          <p:cNvPicPr>
            <a:picLocks noChangeAspect="1"/>
          </p:cNvPicPr>
          <p:nvPr/>
        </p:nvPicPr>
        <p:blipFill>
          <a:blip r:embed="rId6"/>
          <a:stretch>
            <a:fillRect/>
          </a:stretch>
        </p:blipFill>
        <p:spPr>
          <a:xfrm>
            <a:off x="7132320" y="2363724"/>
            <a:ext cx="210312" cy="210312"/>
          </a:xfrm>
          <a:prstGeom prst="rect">
            <a:avLst/>
          </a:prstGeom>
        </p:spPr>
      </p:pic>
      <p:sp>
        <p:nvSpPr>
          <p:cNvPr id="24" name="Step card Explore (EDA)"/>
          <p:cNvSpPr/>
          <p:nvPr/>
        </p:nvSpPr>
        <p:spPr>
          <a:xfrm>
            <a:off x="7392924" y="1417320"/>
            <a:ext cx="1965960" cy="2103120"/>
          </a:xfrm>
          <a:prstGeom prst="roundRect">
            <a:avLst>
              <a:gd name="adj" fmla="val 5581"/>
            </a:avLst>
          </a:prstGeom>
          <a:solidFill>
            <a:schemeClr val="bg2"/>
          </a:solidFill>
          <a:ln/>
          <a:effectLst>
            <a:outerShdw sx="100000" sy="100000" kx="0" ky="0" algn="bl" rotWithShape="0" blurRad="127000" dist="38100" dir="5400000">
              <a:srgbClr val="0B1F3A">
                <a:alpha val="14000"/>
              </a:srgbClr>
            </a:outerShdw>
          </a:effectLst>
        </p:spPr>
      </p:sp>
      <p:sp>
        <p:nvSpPr>
          <p:cNvPr id="25" name="Icon circle FaChartBar"/>
          <p:cNvSpPr/>
          <p:nvPr/>
        </p:nvSpPr>
        <p:spPr>
          <a:xfrm>
            <a:off x="7621524" y="1618488"/>
            <a:ext cx="548640" cy="548640"/>
          </a:xfrm>
          <a:prstGeom prst="ellipse">
            <a:avLst/>
          </a:prstGeom>
          <a:solidFill>
            <a:schemeClr val="accent1"/>
          </a:solidFill>
          <a:ln/>
        </p:spPr>
      </p:sp>
      <p:pic>
        <p:nvPicPr>
          <p:cNvPr id="26" name="Image 6" descr="ChartBar icon">    </p:cNvPr>
          <p:cNvPicPr>
            <a:picLocks noChangeAspect="1"/>
          </p:cNvPicPr>
          <p:nvPr/>
        </p:nvPicPr>
        <p:blipFill>
          <a:blip r:embed="rId7"/>
          <a:stretch>
            <a:fillRect/>
          </a:stretch>
        </p:blipFill>
        <p:spPr>
          <a:xfrm>
            <a:off x="7758684" y="1755648"/>
            <a:ext cx="274320" cy="274320"/>
          </a:xfrm>
          <a:prstGeom prst="rect">
            <a:avLst/>
          </a:prstGeom>
        </p:spPr>
      </p:pic>
      <p:sp>
        <p:nvSpPr>
          <p:cNvPr id="27" name="Text 18"/>
          <p:cNvSpPr txBox="1"/>
          <p:nvPr/>
        </p:nvSpPr>
        <p:spPr>
          <a:xfrm>
            <a:off x="8718804" y="1618488"/>
            <a:ext cx="411480" cy="548640"/>
          </a:xfrm>
          <a:prstGeom prst="rect">
            <a:avLst/>
          </a:prstGeom>
          <a:noFill/>
          <a:ln/>
        </p:spPr>
        <p:txBody>
          <a:bodyPr wrap="square" lIns="0" tIns="0" rIns="0" bIns="0" rtlCol="0" anchor="ctr"/>
          <a:lstStyle/>
          <a:p>
            <a:pPr algn="r" indent="0" marL="0">
              <a:buNone/>
            </a:pPr>
            <a:r>
              <a:rPr lang="en-US" sz="2400" b="1" dirty="0">
                <a:solidFill>
                  <a:schemeClr val="accent5"/>
                </a:solidFill>
              </a:rPr>
              <a:t>4</a:t>
            </a:r>
            <a:endParaRPr lang="en-US" sz="2400" dirty="0"/>
          </a:p>
        </p:txBody>
      </p:sp>
      <p:sp>
        <p:nvSpPr>
          <p:cNvPr id="28" name="Text 19"/>
          <p:cNvSpPr txBox="1"/>
          <p:nvPr/>
        </p:nvSpPr>
        <p:spPr>
          <a:xfrm>
            <a:off x="7621524" y="2286000"/>
            <a:ext cx="1600200" cy="365760"/>
          </a:xfrm>
          <a:prstGeom prst="rect">
            <a:avLst/>
          </a:prstGeom>
          <a:noFill/>
          <a:ln/>
        </p:spPr>
        <p:txBody>
          <a:bodyPr wrap="square" lIns="0" tIns="0" rIns="0" bIns="0" rtlCol="0" anchor="t"/>
          <a:lstStyle/>
          <a:p>
            <a:pPr indent="0" marL="0">
              <a:buNone/>
            </a:pPr>
            <a:r>
              <a:rPr lang="en-US" sz="1800" b="1" dirty="0">
                <a:solidFill>
                  <a:schemeClr val="tx1"/>
                </a:solidFill>
              </a:rPr>
              <a:t>Explore (EDA)</a:t>
            </a:r>
            <a:endParaRPr lang="en-US" sz="1800" dirty="0"/>
          </a:p>
        </p:txBody>
      </p:sp>
      <p:sp>
        <p:nvSpPr>
          <p:cNvPr id="29" name="Text 20"/>
          <p:cNvSpPr txBox="1"/>
          <p:nvPr/>
        </p:nvSpPr>
        <p:spPr>
          <a:xfrm>
            <a:off x="7621524" y="2679192"/>
            <a:ext cx="1600200" cy="777240"/>
          </a:xfrm>
          <a:prstGeom prst="rect">
            <a:avLst/>
          </a:prstGeom>
          <a:noFill/>
          <a:ln/>
        </p:spPr>
        <p:txBody>
          <a:bodyPr wrap="square" lIns="0" tIns="0" rIns="0" bIns="0" rtlCol="0" anchor="t"/>
          <a:lstStyle/>
          <a:p>
            <a:pPr indent="0" marL="0">
              <a:buNone/>
            </a:pPr>
            <a:r>
              <a:rPr lang="en-US" sz="1400" dirty="0">
                <a:solidFill>
                  <a:schemeClr val="tx2"/>
                </a:solidFill>
              </a:rPr>
              <a:t>Descriptive statistics, distributions, feature relationships</a:t>
            </a:r>
            <a:endParaRPr lang="en-US" sz="1400" dirty="0"/>
          </a:p>
        </p:txBody>
      </p:sp>
      <p:pic>
        <p:nvPicPr>
          <p:cNvPr id="30" name="Image 7" descr="Next step">    </p:cNvPr>
          <p:cNvPicPr>
            <a:picLocks noChangeAspect="1"/>
          </p:cNvPicPr>
          <p:nvPr/>
        </p:nvPicPr>
        <p:blipFill>
          <a:blip r:embed="rId8"/>
          <a:stretch>
            <a:fillRect/>
          </a:stretch>
        </p:blipFill>
        <p:spPr>
          <a:xfrm>
            <a:off x="9413748" y="2363724"/>
            <a:ext cx="210312" cy="210312"/>
          </a:xfrm>
          <a:prstGeom prst="rect">
            <a:avLst/>
          </a:prstGeom>
        </p:spPr>
      </p:pic>
      <p:sp>
        <p:nvSpPr>
          <p:cNvPr id="31" name="Step card Prepare"/>
          <p:cNvSpPr/>
          <p:nvPr/>
        </p:nvSpPr>
        <p:spPr>
          <a:xfrm>
            <a:off x="9674352" y="1417320"/>
            <a:ext cx="1965960" cy="2103120"/>
          </a:xfrm>
          <a:prstGeom prst="roundRect">
            <a:avLst>
              <a:gd name="adj" fmla="val 5581"/>
            </a:avLst>
          </a:prstGeom>
          <a:solidFill>
            <a:schemeClr val="bg2"/>
          </a:solidFill>
          <a:ln/>
          <a:effectLst>
            <a:outerShdw sx="100000" sy="100000" kx="0" ky="0" algn="bl" rotWithShape="0" blurRad="127000" dist="38100" dir="5400000">
              <a:srgbClr val="0B1F3A">
                <a:alpha val="14000"/>
              </a:srgbClr>
            </a:outerShdw>
          </a:effectLst>
        </p:spPr>
      </p:sp>
      <p:sp>
        <p:nvSpPr>
          <p:cNvPr id="32" name="Icon circle FaCogs"/>
          <p:cNvSpPr/>
          <p:nvPr/>
        </p:nvSpPr>
        <p:spPr>
          <a:xfrm>
            <a:off x="9902952" y="1618488"/>
            <a:ext cx="548640" cy="548640"/>
          </a:xfrm>
          <a:prstGeom prst="ellipse">
            <a:avLst/>
          </a:prstGeom>
          <a:solidFill>
            <a:schemeClr val="accent1"/>
          </a:solidFill>
          <a:ln/>
        </p:spPr>
      </p:sp>
      <p:pic>
        <p:nvPicPr>
          <p:cNvPr id="33" name="Image 8" descr="Cogs icon">    </p:cNvPr>
          <p:cNvPicPr>
            <a:picLocks noChangeAspect="1"/>
          </p:cNvPicPr>
          <p:nvPr/>
        </p:nvPicPr>
        <p:blipFill>
          <a:blip r:embed="rId9"/>
          <a:stretch>
            <a:fillRect/>
          </a:stretch>
        </p:blipFill>
        <p:spPr>
          <a:xfrm>
            <a:off x="10040112" y="1755648"/>
            <a:ext cx="274320" cy="274320"/>
          </a:xfrm>
          <a:prstGeom prst="rect">
            <a:avLst/>
          </a:prstGeom>
        </p:spPr>
      </p:pic>
      <p:sp>
        <p:nvSpPr>
          <p:cNvPr id="34" name="Text 23"/>
          <p:cNvSpPr txBox="1"/>
          <p:nvPr/>
        </p:nvSpPr>
        <p:spPr>
          <a:xfrm>
            <a:off x="11000232" y="1618488"/>
            <a:ext cx="411480" cy="548640"/>
          </a:xfrm>
          <a:prstGeom prst="rect">
            <a:avLst/>
          </a:prstGeom>
          <a:noFill/>
          <a:ln/>
        </p:spPr>
        <p:txBody>
          <a:bodyPr wrap="square" lIns="0" tIns="0" rIns="0" bIns="0" rtlCol="0" anchor="ctr"/>
          <a:lstStyle/>
          <a:p>
            <a:pPr algn="r" indent="0" marL="0">
              <a:buNone/>
            </a:pPr>
            <a:r>
              <a:rPr lang="en-US" sz="2400" b="1" dirty="0">
                <a:solidFill>
                  <a:schemeClr val="accent5"/>
                </a:solidFill>
              </a:rPr>
              <a:t>5</a:t>
            </a:r>
            <a:endParaRPr lang="en-US" sz="2400" dirty="0"/>
          </a:p>
        </p:txBody>
      </p:sp>
      <p:sp>
        <p:nvSpPr>
          <p:cNvPr id="35" name="Text 24"/>
          <p:cNvSpPr txBox="1"/>
          <p:nvPr/>
        </p:nvSpPr>
        <p:spPr>
          <a:xfrm>
            <a:off x="9902952" y="2286000"/>
            <a:ext cx="1600200" cy="365760"/>
          </a:xfrm>
          <a:prstGeom prst="rect">
            <a:avLst/>
          </a:prstGeom>
          <a:noFill/>
          <a:ln/>
        </p:spPr>
        <p:txBody>
          <a:bodyPr wrap="square" lIns="0" tIns="0" rIns="0" bIns="0" rtlCol="0" anchor="t"/>
          <a:lstStyle/>
          <a:p>
            <a:pPr indent="0" marL="0">
              <a:buNone/>
            </a:pPr>
            <a:r>
              <a:rPr lang="en-US" sz="1800" b="1" dirty="0">
                <a:solidFill>
                  <a:schemeClr val="tx1"/>
                </a:solidFill>
              </a:rPr>
              <a:t>Prepare</a:t>
            </a:r>
            <a:endParaRPr lang="en-US" sz="1800" dirty="0"/>
          </a:p>
        </p:txBody>
      </p:sp>
      <p:sp>
        <p:nvSpPr>
          <p:cNvPr id="36" name="Text 25"/>
          <p:cNvSpPr txBox="1"/>
          <p:nvPr/>
        </p:nvSpPr>
        <p:spPr>
          <a:xfrm>
            <a:off x="9902952" y="2679192"/>
            <a:ext cx="1600200" cy="777240"/>
          </a:xfrm>
          <a:prstGeom prst="rect">
            <a:avLst/>
          </a:prstGeom>
          <a:noFill/>
          <a:ln/>
        </p:spPr>
        <p:txBody>
          <a:bodyPr wrap="square" lIns="0" tIns="0" rIns="0" bIns="0" rtlCol="0" anchor="t"/>
          <a:lstStyle/>
          <a:p>
            <a:pPr indent="0" marL="0">
              <a:buNone/>
            </a:pPr>
            <a:r>
              <a:rPr lang="en-US" sz="1400" dirty="0">
                <a:solidFill>
                  <a:schemeClr val="tx2"/>
                </a:solidFill>
              </a:rPr>
              <a:t>Feature preparation for the ML pipelines</a:t>
            </a:r>
            <a:endParaRPr lang="en-US" sz="1400" dirty="0"/>
          </a:p>
        </p:txBody>
      </p:sp>
      <p:sp>
        <p:nvSpPr>
          <p:cNvPr id="37" name="Text 26"/>
          <p:cNvSpPr txBox="1"/>
          <p:nvPr/>
        </p:nvSpPr>
        <p:spPr>
          <a:xfrm>
            <a:off x="548640" y="3749040"/>
            <a:ext cx="11094415" cy="365760"/>
          </a:xfrm>
          <a:prstGeom prst="rect">
            <a:avLst/>
          </a:prstGeom>
          <a:noFill/>
          <a:ln/>
        </p:spPr>
        <p:txBody>
          <a:bodyPr wrap="square" lIns="0" tIns="0" rIns="0" bIns="0" rtlCol="0" anchor="t"/>
          <a:lstStyle/>
          <a:p>
            <a:pPr indent="0" marL="0">
              <a:buNone/>
            </a:pPr>
            <a:r>
              <a:rPr lang="en-US" sz="1600" b="1" dirty="0">
                <a:solidFill>
                  <a:schemeClr val="tx1"/>
                </a:solidFill>
              </a:rPr>
              <a:t>EDA outputs from the notebook: insert real charts here</a:t>
            </a:r>
            <a:endParaRPr lang="en-US" sz="1600" dirty="0"/>
          </a:p>
        </p:txBody>
      </p:sp>
      <p:sp>
        <p:nvSpPr>
          <p:cNvPr id="38" name="Placeholder panel Feature distributions"/>
          <p:cNvSpPr/>
          <p:nvPr/>
        </p:nvSpPr>
        <p:spPr>
          <a:xfrm>
            <a:off x="548640" y="4206240"/>
            <a:ext cx="3566160" cy="1920240"/>
          </a:xfrm>
          <a:prstGeom prst="roundRect">
            <a:avLst>
              <a:gd name="adj" fmla="val 5714"/>
            </a:avLst>
          </a:prstGeom>
          <a:solidFill>
            <a:schemeClr val="bg2"/>
          </a:solidFill>
          <a:ln w="19050">
            <a:solidFill>
              <a:schemeClr val="accent1"/>
            </a:solidFill>
            <a:prstDash val="dash"/>
          </a:ln>
        </p:spPr>
      </p:sp>
      <p:pic>
        <p:nvPicPr>
          <p:cNvPr id="39" name="Image 9" descr="Feature distributions placeholder icon">    </p:cNvPr>
          <p:cNvPicPr>
            <a:picLocks noChangeAspect="1"/>
          </p:cNvPicPr>
          <p:nvPr/>
        </p:nvPicPr>
        <p:blipFill>
          <a:blip r:embed="rId10"/>
          <a:stretch>
            <a:fillRect/>
          </a:stretch>
        </p:blipFill>
        <p:spPr>
          <a:xfrm>
            <a:off x="2057400" y="4480560"/>
            <a:ext cx="548640" cy="548640"/>
          </a:xfrm>
          <a:prstGeom prst="rect">
            <a:avLst/>
          </a:prstGeom>
        </p:spPr>
      </p:pic>
      <p:sp>
        <p:nvSpPr>
          <p:cNvPr id="40" name="Text 28"/>
          <p:cNvSpPr txBox="1"/>
          <p:nvPr/>
        </p:nvSpPr>
        <p:spPr>
          <a:xfrm>
            <a:off x="548640" y="5120640"/>
            <a:ext cx="3566160" cy="274320"/>
          </a:xfrm>
          <a:prstGeom prst="rect">
            <a:avLst/>
          </a:prstGeom>
          <a:noFill/>
          <a:ln/>
        </p:spPr>
        <p:txBody>
          <a:bodyPr wrap="square" lIns="0" tIns="0" rIns="0" bIns="0" rtlCol="0" anchor="t"/>
          <a:lstStyle/>
          <a:p>
            <a:pPr algn="ctr" indent="0" marL="0">
              <a:buNone/>
            </a:pPr>
            <a:r>
              <a:rPr lang="en-US" sz="1200" b="1" spc="300" kern="0" dirty="0">
                <a:solidFill>
                  <a:schemeClr val="accent6"/>
                </a:solidFill>
              </a:rPr>
              <a:t>PLACEHOLDER</a:t>
            </a:r>
            <a:endParaRPr lang="en-US" sz="1200" dirty="0"/>
          </a:p>
        </p:txBody>
      </p:sp>
      <p:sp>
        <p:nvSpPr>
          <p:cNvPr id="41" name="Text 29"/>
          <p:cNvSpPr txBox="1"/>
          <p:nvPr/>
        </p:nvSpPr>
        <p:spPr>
          <a:xfrm>
            <a:off x="548640" y="5440680"/>
            <a:ext cx="3566160" cy="365760"/>
          </a:xfrm>
          <a:prstGeom prst="rect">
            <a:avLst/>
          </a:prstGeom>
          <a:noFill/>
          <a:ln/>
        </p:spPr>
        <p:txBody>
          <a:bodyPr wrap="square" lIns="0" tIns="0" rIns="0" bIns="0" rtlCol="0" anchor="t"/>
          <a:lstStyle/>
          <a:p>
            <a:pPr algn="ctr" indent="0" marL="0">
              <a:buNone/>
            </a:pPr>
            <a:r>
              <a:rPr lang="en-US" sz="1600" b="1" dirty="0">
                <a:solidFill>
                  <a:schemeClr val="tx1"/>
                </a:solidFill>
              </a:rPr>
              <a:t>Feature distributions</a:t>
            </a:r>
            <a:endParaRPr lang="en-US" sz="1600" dirty="0"/>
          </a:p>
        </p:txBody>
      </p:sp>
      <p:sp>
        <p:nvSpPr>
          <p:cNvPr id="42" name="Placeholder panel Feature relationships"/>
          <p:cNvSpPr/>
          <p:nvPr/>
        </p:nvSpPr>
        <p:spPr>
          <a:xfrm>
            <a:off x="4311396" y="4206240"/>
            <a:ext cx="3566160" cy="1920240"/>
          </a:xfrm>
          <a:prstGeom prst="roundRect">
            <a:avLst>
              <a:gd name="adj" fmla="val 5714"/>
            </a:avLst>
          </a:prstGeom>
          <a:solidFill>
            <a:schemeClr val="bg2"/>
          </a:solidFill>
          <a:ln w="19050">
            <a:solidFill>
              <a:schemeClr val="accent1"/>
            </a:solidFill>
            <a:prstDash val="dash"/>
          </a:ln>
        </p:spPr>
      </p:sp>
      <p:pic>
        <p:nvPicPr>
          <p:cNvPr id="43" name="Image 10" descr="Feature relationships placeholder icon">    </p:cNvPr>
          <p:cNvPicPr>
            <a:picLocks noChangeAspect="1"/>
          </p:cNvPicPr>
          <p:nvPr/>
        </p:nvPicPr>
        <p:blipFill>
          <a:blip r:embed="rId11"/>
          <a:stretch>
            <a:fillRect/>
          </a:stretch>
        </p:blipFill>
        <p:spPr>
          <a:xfrm>
            <a:off x="5820156" y="4480560"/>
            <a:ext cx="548640" cy="548640"/>
          </a:xfrm>
          <a:prstGeom prst="rect">
            <a:avLst/>
          </a:prstGeom>
        </p:spPr>
      </p:pic>
      <p:sp>
        <p:nvSpPr>
          <p:cNvPr id="44" name="Text 31"/>
          <p:cNvSpPr txBox="1"/>
          <p:nvPr/>
        </p:nvSpPr>
        <p:spPr>
          <a:xfrm>
            <a:off x="4311396" y="5120640"/>
            <a:ext cx="3566160" cy="274320"/>
          </a:xfrm>
          <a:prstGeom prst="rect">
            <a:avLst/>
          </a:prstGeom>
          <a:noFill/>
          <a:ln/>
        </p:spPr>
        <p:txBody>
          <a:bodyPr wrap="square" lIns="0" tIns="0" rIns="0" bIns="0" rtlCol="0" anchor="t"/>
          <a:lstStyle/>
          <a:p>
            <a:pPr algn="ctr" indent="0" marL="0">
              <a:buNone/>
            </a:pPr>
            <a:r>
              <a:rPr lang="en-US" sz="1200" b="1" spc="300" kern="0" dirty="0">
                <a:solidFill>
                  <a:schemeClr val="accent6"/>
                </a:solidFill>
              </a:rPr>
              <a:t>PLACEHOLDER</a:t>
            </a:r>
            <a:endParaRPr lang="en-US" sz="1200" dirty="0"/>
          </a:p>
        </p:txBody>
      </p:sp>
      <p:sp>
        <p:nvSpPr>
          <p:cNvPr id="45" name="Text 32"/>
          <p:cNvSpPr txBox="1"/>
          <p:nvPr/>
        </p:nvSpPr>
        <p:spPr>
          <a:xfrm>
            <a:off x="4311396" y="5440680"/>
            <a:ext cx="3566160" cy="365760"/>
          </a:xfrm>
          <a:prstGeom prst="rect">
            <a:avLst/>
          </a:prstGeom>
          <a:noFill/>
          <a:ln/>
        </p:spPr>
        <p:txBody>
          <a:bodyPr wrap="square" lIns="0" tIns="0" rIns="0" bIns="0" rtlCol="0" anchor="t"/>
          <a:lstStyle/>
          <a:p>
            <a:pPr algn="ctr" indent="0" marL="0">
              <a:buNone/>
            </a:pPr>
            <a:r>
              <a:rPr lang="en-US" sz="1600" b="1" dirty="0">
                <a:solidFill>
                  <a:schemeClr val="tx1"/>
                </a:solidFill>
              </a:rPr>
              <a:t>Feature relationships</a:t>
            </a:r>
            <a:endParaRPr lang="en-US" sz="1600" dirty="0"/>
          </a:p>
        </p:txBody>
      </p:sp>
      <p:sp>
        <p:nvSpPr>
          <p:cNvPr id="46" name="Placeholder panel Descriptive statistics"/>
          <p:cNvSpPr/>
          <p:nvPr/>
        </p:nvSpPr>
        <p:spPr>
          <a:xfrm>
            <a:off x="8074152" y="4206240"/>
            <a:ext cx="3566160" cy="1920240"/>
          </a:xfrm>
          <a:prstGeom prst="roundRect">
            <a:avLst>
              <a:gd name="adj" fmla="val 5714"/>
            </a:avLst>
          </a:prstGeom>
          <a:solidFill>
            <a:schemeClr val="bg2"/>
          </a:solidFill>
          <a:ln w="19050">
            <a:solidFill>
              <a:schemeClr val="accent1"/>
            </a:solidFill>
            <a:prstDash val="dash"/>
          </a:ln>
        </p:spPr>
      </p:sp>
      <p:pic>
        <p:nvPicPr>
          <p:cNvPr id="47" name="Image 11" descr="Descriptive statistics placeholder icon">    </p:cNvPr>
          <p:cNvPicPr>
            <a:picLocks noChangeAspect="1"/>
          </p:cNvPicPr>
          <p:nvPr/>
        </p:nvPicPr>
        <p:blipFill>
          <a:blip r:embed="rId12"/>
          <a:stretch>
            <a:fillRect/>
          </a:stretch>
        </p:blipFill>
        <p:spPr>
          <a:xfrm>
            <a:off x="9582912" y="4480560"/>
            <a:ext cx="548640" cy="548640"/>
          </a:xfrm>
          <a:prstGeom prst="rect">
            <a:avLst/>
          </a:prstGeom>
        </p:spPr>
      </p:pic>
      <p:sp>
        <p:nvSpPr>
          <p:cNvPr id="48" name="Text 34"/>
          <p:cNvSpPr txBox="1"/>
          <p:nvPr/>
        </p:nvSpPr>
        <p:spPr>
          <a:xfrm>
            <a:off x="8074152" y="5120640"/>
            <a:ext cx="3566160" cy="274320"/>
          </a:xfrm>
          <a:prstGeom prst="rect">
            <a:avLst/>
          </a:prstGeom>
          <a:noFill/>
          <a:ln/>
        </p:spPr>
        <p:txBody>
          <a:bodyPr wrap="square" lIns="0" tIns="0" rIns="0" bIns="0" rtlCol="0" anchor="t"/>
          <a:lstStyle/>
          <a:p>
            <a:pPr algn="ctr" indent="0" marL="0">
              <a:buNone/>
            </a:pPr>
            <a:r>
              <a:rPr lang="en-US" sz="1200" b="1" spc="300" kern="0" dirty="0">
                <a:solidFill>
                  <a:schemeClr val="accent6"/>
                </a:solidFill>
              </a:rPr>
              <a:t>PLACEHOLDER</a:t>
            </a:r>
            <a:endParaRPr lang="en-US" sz="1200" dirty="0"/>
          </a:p>
        </p:txBody>
      </p:sp>
      <p:sp>
        <p:nvSpPr>
          <p:cNvPr id="49" name="Text 35"/>
          <p:cNvSpPr txBox="1"/>
          <p:nvPr/>
        </p:nvSpPr>
        <p:spPr>
          <a:xfrm>
            <a:off x="8074152" y="5440680"/>
            <a:ext cx="3566160" cy="365760"/>
          </a:xfrm>
          <a:prstGeom prst="rect">
            <a:avLst/>
          </a:prstGeom>
          <a:noFill/>
          <a:ln/>
        </p:spPr>
        <p:txBody>
          <a:bodyPr wrap="square" lIns="0" tIns="0" rIns="0" bIns="0" rtlCol="0" anchor="t"/>
          <a:lstStyle/>
          <a:p>
            <a:pPr algn="ctr" indent="0" marL="0">
              <a:buNone/>
            </a:pPr>
            <a:r>
              <a:rPr lang="en-US" sz="1600" b="1" dirty="0">
                <a:solidFill>
                  <a:schemeClr val="tx1"/>
                </a:solidFill>
              </a:rPr>
              <a:t>Descriptive statistics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System Architecture and Workflow</a:t>
            </a:r>
            <a:endParaRPr lang="en-US" sz="3800" dirty="0"/>
          </a:p>
        </p:txBody>
      </p:sp>
      <p:sp>
        <p:nvSpPr>
          <p:cNvPr id="3" name="Training lane"/>
          <p:cNvSpPr/>
          <p:nvPr/>
        </p:nvSpPr>
        <p:spPr>
          <a:xfrm>
            <a:off x="457200" y="1325880"/>
            <a:ext cx="11274552" cy="1828800"/>
          </a:xfrm>
          <a:prstGeom prst="roundRect">
            <a:avLst>
              <a:gd name="adj" fmla="val 6000"/>
            </a:avLst>
          </a:prstGeom>
          <a:solidFill>
            <a:schemeClr val="bg2"/>
          </a:solidFill>
          <a:ln/>
        </p:spPr>
      </p:sp>
      <p:sp>
        <p:nvSpPr>
          <p:cNvPr id="4" name="Text 2"/>
          <p:cNvSpPr txBox="1"/>
          <p:nvPr/>
        </p:nvSpPr>
        <p:spPr>
          <a:xfrm>
            <a:off x="685800" y="1417320"/>
            <a:ext cx="5486400" cy="274320"/>
          </a:xfrm>
          <a:prstGeom prst="rect">
            <a:avLst/>
          </a:prstGeom>
          <a:noFill/>
          <a:ln/>
        </p:spPr>
        <p:txBody>
          <a:bodyPr wrap="square" lIns="0" tIns="0" rIns="0" bIns="0" rtlCol="0" anchor="t"/>
          <a:lstStyle/>
          <a:p>
            <a:pPr indent="0" marL="0">
              <a:buNone/>
            </a:pPr>
            <a:r>
              <a:rPr lang="en-US" sz="1300" b="1" spc="200" kern="0" dirty="0">
                <a:solidFill>
                  <a:schemeClr val="accent6"/>
                </a:solidFill>
              </a:rPr>
              <a:t>TRAINING  (OFFLINE, GOOGLE COLAB)</a:t>
            </a:r>
            <a:endParaRPr lang="en-US" sz="1300" dirty="0"/>
          </a:p>
        </p:txBody>
      </p:sp>
      <p:sp>
        <p:nvSpPr>
          <p:cNvPr id="5" name="Training box Google Colab"/>
          <p:cNvSpPr/>
          <p:nvPr/>
        </p:nvSpPr>
        <p:spPr>
          <a:xfrm>
            <a:off x="731520" y="1783080"/>
            <a:ext cx="2286000" cy="1188720"/>
          </a:xfrm>
          <a:prstGeom prst="roundRect">
            <a:avLst>
              <a:gd name="adj" fmla="val 9231"/>
            </a:avLst>
          </a:prstGeom>
          <a:solidFill>
            <a:schemeClr val="bg1"/>
          </a:solidFill>
          <a:ln/>
          <a:effectLst>
            <a:outerShdw sx="100000" sy="100000" kx="0" ky="0" algn="bl" rotWithShape="0" blurRad="127000" dist="38100" dir="5400000">
              <a:srgbClr val="0B1F3A">
                <a:alpha val="14000"/>
              </a:srgbClr>
            </a:outerShdw>
          </a:effectLst>
        </p:spPr>
      </p:sp>
      <p:sp>
        <p:nvSpPr>
          <p:cNvPr id="6" name="Icon circle FaCloud"/>
          <p:cNvSpPr/>
          <p:nvPr/>
        </p:nvSpPr>
        <p:spPr>
          <a:xfrm>
            <a:off x="868680" y="1965960"/>
            <a:ext cx="457200" cy="457200"/>
          </a:xfrm>
          <a:prstGeom prst="ellipse">
            <a:avLst/>
          </a:prstGeom>
          <a:solidFill>
            <a:schemeClr val="accent1"/>
          </a:solidFill>
          <a:ln/>
        </p:spPr>
      </p:sp>
      <p:pic>
        <p:nvPicPr>
          <p:cNvPr id="7" name="Image 0" descr="Cloud icon">    </p:cNvPr>
          <p:cNvPicPr>
            <a:picLocks noChangeAspect="1"/>
          </p:cNvPicPr>
          <p:nvPr/>
        </p:nvPicPr>
        <p:blipFill>
          <a:blip r:embed="rId1"/>
          <a:stretch>
            <a:fillRect/>
          </a:stretch>
        </p:blipFill>
        <p:spPr>
          <a:xfrm>
            <a:off x="982980" y="2080260"/>
            <a:ext cx="228600" cy="228600"/>
          </a:xfrm>
          <a:prstGeom prst="rect">
            <a:avLst/>
          </a:prstGeom>
        </p:spPr>
      </p:pic>
      <p:sp>
        <p:nvSpPr>
          <p:cNvPr id="8" name="Text 5"/>
          <p:cNvSpPr txBox="1"/>
          <p:nvPr/>
        </p:nvSpPr>
        <p:spPr>
          <a:xfrm>
            <a:off x="1417320" y="1920240"/>
            <a:ext cx="1508760" cy="457200"/>
          </a:xfrm>
          <a:prstGeom prst="rect">
            <a:avLst/>
          </a:prstGeom>
          <a:noFill/>
          <a:ln/>
        </p:spPr>
        <p:txBody>
          <a:bodyPr wrap="square" lIns="0" tIns="0" rIns="0" bIns="0" rtlCol="0" anchor="ctr"/>
          <a:lstStyle/>
          <a:p>
            <a:pPr indent="0" marL="0">
              <a:buNone/>
            </a:pPr>
            <a:r>
              <a:rPr lang="en-US" sz="1600" b="1" dirty="0">
                <a:solidFill>
                  <a:schemeClr val="tx1"/>
                </a:solidFill>
              </a:rPr>
              <a:t>Google Colab</a:t>
            </a:r>
            <a:endParaRPr lang="en-US" sz="1600" dirty="0"/>
          </a:p>
        </p:txBody>
      </p:sp>
      <p:sp>
        <p:nvSpPr>
          <p:cNvPr id="9" name="Text 6"/>
          <p:cNvSpPr txBox="1"/>
          <p:nvPr/>
        </p:nvSpPr>
        <p:spPr>
          <a:xfrm>
            <a:off x="868680" y="2487168"/>
            <a:ext cx="2011680" cy="457200"/>
          </a:xfrm>
          <a:prstGeom prst="rect">
            <a:avLst/>
          </a:prstGeom>
          <a:noFill/>
          <a:ln/>
        </p:spPr>
        <p:txBody>
          <a:bodyPr wrap="square" lIns="0" tIns="0" rIns="0" bIns="0" rtlCol="0" anchor="t"/>
          <a:lstStyle/>
          <a:p>
            <a:pPr indent="0" marL="0">
              <a:buNone/>
            </a:pPr>
            <a:r>
              <a:rPr lang="en-US" sz="1300" dirty="0">
                <a:solidFill>
                  <a:schemeClr val="tx2"/>
                </a:solidFill>
              </a:rPr>
              <a:t>Train the models</a:t>
            </a:r>
            <a:endParaRPr lang="en-US" sz="1300" dirty="0"/>
          </a:p>
        </p:txBody>
      </p:sp>
      <p:sp>
        <p:nvSpPr>
          <p:cNvPr id="10" name="Training box Trained pipelines"/>
          <p:cNvSpPr/>
          <p:nvPr/>
        </p:nvSpPr>
        <p:spPr>
          <a:xfrm>
            <a:off x="3383280" y="1783080"/>
            <a:ext cx="2377440" cy="1188720"/>
          </a:xfrm>
          <a:prstGeom prst="roundRect">
            <a:avLst>
              <a:gd name="adj" fmla="val 9231"/>
            </a:avLst>
          </a:prstGeom>
          <a:solidFill>
            <a:schemeClr val="bg1"/>
          </a:solidFill>
          <a:ln/>
          <a:effectLst>
            <a:outerShdw sx="100000" sy="100000" kx="0" ky="0" algn="bl" rotWithShape="0" blurRad="127000" dist="38100" dir="5400000">
              <a:srgbClr val="0B1F3A">
                <a:alpha val="14000"/>
              </a:srgbClr>
            </a:outerShdw>
          </a:effectLst>
        </p:spPr>
      </p:sp>
      <p:sp>
        <p:nvSpPr>
          <p:cNvPr id="11" name="Icon circle FaCogs"/>
          <p:cNvSpPr/>
          <p:nvPr/>
        </p:nvSpPr>
        <p:spPr>
          <a:xfrm>
            <a:off x="3520440" y="1965960"/>
            <a:ext cx="457200" cy="457200"/>
          </a:xfrm>
          <a:prstGeom prst="ellipse">
            <a:avLst/>
          </a:prstGeom>
          <a:solidFill>
            <a:schemeClr val="accent1"/>
          </a:solidFill>
          <a:ln/>
        </p:spPr>
      </p:sp>
      <p:pic>
        <p:nvPicPr>
          <p:cNvPr id="12" name="Image 1" descr="Cogs icon">    </p:cNvPr>
          <p:cNvPicPr>
            <a:picLocks noChangeAspect="1"/>
          </p:cNvPicPr>
          <p:nvPr/>
        </p:nvPicPr>
        <p:blipFill>
          <a:blip r:embed="rId2"/>
          <a:stretch>
            <a:fillRect/>
          </a:stretch>
        </p:blipFill>
        <p:spPr>
          <a:xfrm>
            <a:off x="3634740" y="2080260"/>
            <a:ext cx="228600" cy="228600"/>
          </a:xfrm>
          <a:prstGeom prst="rect">
            <a:avLst/>
          </a:prstGeom>
        </p:spPr>
      </p:pic>
      <p:sp>
        <p:nvSpPr>
          <p:cNvPr id="13" name="Text 9"/>
          <p:cNvSpPr txBox="1"/>
          <p:nvPr/>
        </p:nvSpPr>
        <p:spPr>
          <a:xfrm>
            <a:off x="4069080" y="192024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Trained pipelines</a:t>
            </a:r>
            <a:endParaRPr lang="en-US" sz="1600" dirty="0"/>
          </a:p>
        </p:txBody>
      </p:sp>
      <p:sp>
        <p:nvSpPr>
          <p:cNvPr id="14" name="Text 10"/>
          <p:cNvSpPr txBox="1"/>
          <p:nvPr/>
        </p:nvSpPr>
        <p:spPr>
          <a:xfrm>
            <a:off x="3520440" y="2487168"/>
            <a:ext cx="2103120" cy="457200"/>
          </a:xfrm>
          <a:prstGeom prst="rect">
            <a:avLst/>
          </a:prstGeom>
          <a:noFill/>
          <a:ln/>
        </p:spPr>
        <p:txBody>
          <a:bodyPr wrap="square" lIns="0" tIns="0" rIns="0" bIns="0" rtlCol="0" anchor="t"/>
          <a:lstStyle/>
          <a:p>
            <a:pPr indent="0" marL="0">
              <a:buNone/>
            </a:pPr>
            <a:r>
              <a:rPr lang="en-US" sz="1300" dirty="0">
                <a:solidFill>
                  <a:schemeClr val="tx2"/>
                </a:solidFill>
              </a:rPr>
              <a:t>Logistic Regression + Random Forest</a:t>
            </a:r>
            <a:endParaRPr lang="en-US" sz="1300" dirty="0"/>
          </a:p>
        </p:txBody>
      </p:sp>
      <p:sp>
        <p:nvSpPr>
          <p:cNvPr id="15" name="Training box Pickle artifacts"/>
          <p:cNvSpPr/>
          <p:nvPr/>
        </p:nvSpPr>
        <p:spPr>
          <a:xfrm>
            <a:off x="6199632" y="1783080"/>
            <a:ext cx="2743200" cy="1188720"/>
          </a:xfrm>
          <a:prstGeom prst="roundRect">
            <a:avLst>
              <a:gd name="adj" fmla="val 9231"/>
            </a:avLst>
          </a:prstGeom>
          <a:solidFill>
            <a:schemeClr val="bg1"/>
          </a:solidFill>
          <a:ln/>
          <a:effectLst>
            <a:outerShdw sx="100000" sy="100000" kx="0" ky="0" algn="bl" rotWithShape="0" blurRad="127000" dist="38100" dir="5400000">
              <a:srgbClr val="0B1F3A">
                <a:alpha val="14000"/>
              </a:srgbClr>
            </a:outerShdw>
          </a:effectLst>
        </p:spPr>
      </p:sp>
      <p:sp>
        <p:nvSpPr>
          <p:cNvPr id="16" name="Icon circle FaSave"/>
          <p:cNvSpPr/>
          <p:nvPr/>
        </p:nvSpPr>
        <p:spPr>
          <a:xfrm>
            <a:off x="6336792" y="1965960"/>
            <a:ext cx="457200" cy="457200"/>
          </a:xfrm>
          <a:prstGeom prst="ellipse">
            <a:avLst/>
          </a:prstGeom>
          <a:solidFill>
            <a:schemeClr val="accent1"/>
          </a:solidFill>
          <a:ln/>
        </p:spPr>
      </p:sp>
      <p:pic>
        <p:nvPicPr>
          <p:cNvPr id="17" name="Image 2" descr="Save icon">    </p:cNvPr>
          <p:cNvPicPr>
            <a:picLocks noChangeAspect="1"/>
          </p:cNvPicPr>
          <p:nvPr/>
        </p:nvPicPr>
        <p:blipFill>
          <a:blip r:embed="rId3"/>
          <a:stretch>
            <a:fillRect/>
          </a:stretch>
        </p:blipFill>
        <p:spPr>
          <a:xfrm>
            <a:off x="6451092" y="2080260"/>
            <a:ext cx="228600" cy="228600"/>
          </a:xfrm>
          <a:prstGeom prst="rect">
            <a:avLst/>
          </a:prstGeom>
        </p:spPr>
      </p:pic>
      <p:sp>
        <p:nvSpPr>
          <p:cNvPr id="18" name="Text 13"/>
          <p:cNvSpPr txBox="1"/>
          <p:nvPr/>
        </p:nvSpPr>
        <p:spPr>
          <a:xfrm>
            <a:off x="6885432" y="1920240"/>
            <a:ext cx="1965960" cy="457200"/>
          </a:xfrm>
          <a:prstGeom prst="rect">
            <a:avLst/>
          </a:prstGeom>
          <a:noFill/>
          <a:ln/>
        </p:spPr>
        <p:txBody>
          <a:bodyPr wrap="square" lIns="0" tIns="0" rIns="0" bIns="0" rtlCol="0" anchor="ctr"/>
          <a:lstStyle/>
          <a:p>
            <a:pPr indent="0" marL="0">
              <a:buNone/>
            </a:pPr>
            <a:r>
              <a:rPr lang="en-US" sz="1600" b="1" dirty="0">
                <a:solidFill>
                  <a:schemeClr val="tx1"/>
                </a:solidFill>
              </a:rPr>
              <a:t>Pickle artifacts</a:t>
            </a:r>
            <a:endParaRPr lang="en-US" sz="1600" dirty="0"/>
          </a:p>
        </p:txBody>
      </p:sp>
      <p:sp>
        <p:nvSpPr>
          <p:cNvPr id="19" name="Text 14"/>
          <p:cNvSpPr txBox="1"/>
          <p:nvPr/>
        </p:nvSpPr>
        <p:spPr>
          <a:xfrm>
            <a:off x="6336792" y="2487168"/>
            <a:ext cx="2468880" cy="457200"/>
          </a:xfrm>
          <a:prstGeom prst="rect">
            <a:avLst/>
          </a:prstGeom>
          <a:noFill/>
          <a:ln/>
        </p:spPr>
        <p:txBody>
          <a:bodyPr wrap="square" lIns="0" tIns="0" rIns="0" bIns="0" rtlCol="0" anchor="t"/>
          <a:lstStyle/>
          <a:p>
            <a:pPr indent="0" marL="0">
              <a:buNone/>
            </a:pPr>
            <a:r>
              <a:rPr lang="en-US" sz="1300" dirty="0">
                <a:solidFill>
                  <a:schemeClr val="tx2"/>
                </a:solidFill>
              </a:rPr>
              <a:t>2 pipelines + feature metadata</a:t>
            </a:r>
            <a:endParaRPr lang="en-US" sz="1300" dirty="0"/>
          </a:p>
        </p:txBody>
      </p:sp>
      <p:pic>
        <p:nvPicPr>
          <p:cNvPr id="20" name="Image 3" descr="Then">    </p:cNvPr>
          <p:cNvPicPr>
            <a:picLocks noChangeAspect="1"/>
          </p:cNvPicPr>
          <p:nvPr/>
        </p:nvPicPr>
        <p:blipFill>
          <a:blip r:embed="rId4"/>
          <a:stretch>
            <a:fillRect/>
          </a:stretch>
        </p:blipFill>
        <p:spPr>
          <a:xfrm>
            <a:off x="3081528" y="2240280"/>
            <a:ext cx="237744" cy="237744"/>
          </a:xfrm>
          <a:prstGeom prst="rect">
            <a:avLst/>
          </a:prstGeom>
        </p:spPr>
      </p:pic>
      <p:pic>
        <p:nvPicPr>
          <p:cNvPr id="21" name="Image 4" descr="Then">    </p:cNvPr>
          <p:cNvPicPr>
            <a:picLocks noChangeAspect="1"/>
          </p:cNvPicPr>
          <p:nvPr/>
        </p:nvPicPr>
        <p:blipFill>
          <a:blip r:embed="rId5"/>
          <a:stretch>
            <a:fillRect/>
          </a:stretch>
        </p:blipFill>
        <p:spPr>
          <a:xfrm>
            <a:off x="5861304" y="2240280"/>
            <a:ext cx="237744" cy="237744"/>
          </a:xfrm>
          <a:prstGeom prst="rect">
            <a:avLst/>
          </a:prstGeom>
        </p:spPr>
      </p:pic>
      <p:sp>
        <p:nvSpPr>
          <p:cNvPr id="22" name="Text 15"/>
          <p:cNvSpPr txBox="1"/>
          <p:nvPr/>
        </p:nvSpPr>
        <p:spPr>
          <a:xfrm>
            <a:off x="9144000" y="1920240"/>
            <a:ext cx="2377440" cy="914400"/>
          </a:xfrm>
          <a:prstGeom prst="rect">
            <a:avLst/>
          </a:prstGeom>
          <a:noFill/>
          <a:ln/>
        </p:spPr>
        <p:txBody>
          <a:bodyPr wrap="square" lIns="0" tIns="0" rIns="0" bIns="0" rtlCol="0" anchor="ctr"/>
          <a:lstStyle/>
          <a:p>
            <a:pPr indent="0" marL="0">
              <a:buNone/>
            </a:pPr>
            <a:r>
              <a:rPr lang="en-US" sz="1400" i="1" dirty="0">
                <a:solidFill>
                  <a:schemeClr val="accent6"/>
                </a:solidFill>
              </a:rPr>
              <a:t>Models are not retrained when the app runs</a:t>
            </a:r>
            <a:endParaRPr lang="en-US" sz="1400" dirty="0"/>
          </a:p>
        </p:txBody>
      </p:sp>
      <p:sp>
        <p:nvSpPr>
          <p:cNvPr id="23" name="Inference lane"/>
          <p:cNvSpPr/>
          <p:nvPr/>
        </p:nvSpPr>
        <p:spPr>
          <a:xfrm>
            <a:off x="457200" y="3429000"/>
            <a:ext cx="11274552" cy="2743200"/>
          </a:xfrm>
          <a:prstGeom prst="roundRect">
            <a:avLst>
              <a:gd name="adj" fmla="val 4000"/>
            </a:avLst>
          </a:prstGeom>
          <a:solidFill>
            <a:schemeClr val="tx1"/>
          </a:solidFill>
          <a:ln/>
        </p:spPr>
      </p:sp>
      <p:sp>
        <p:nvSpPr>
          <p:cNvPr id="24" name="Text 17"/>
          <p:cNvSpPr txBox="1"/>
          <p:nvPr/>
        </p:nvSpPr>
        <p:spPr>
          <a:xfrm>
            <a:off x="685800" y="3520440"/>
            <a:ext cx="6400800" cy="274320"/>
          </a:xfrm>
          <a:prstGeom prst="rect">
            <a:avLst/>
          </a:prstGeom>
          <a:noFill/>
          <a:ln/>
        </p:spPr>
        <p:txBody>
          <a:bodyPr wrap="square" lIns="0" tIns="0" rIns="0" bIns="0" rtlCol="0" anchor="t"/>
          <a:lstStyle/>
          <a:p>
            <a:pPr indent="0" marL="0">
              <a:buNone/>
            </a:pPr>
            <a:r>
              <a:rPr lang="en-US" sz="1300" b="1" spc="200" kern="0" dirty="0">
                <a:solidFill>
                  <a:schemeClr val="accent2"/>
                </a:solidFill>
              </a:rPr>
              <a:t>INFERENCE  (APPLICATION BUILT IN VS CODE)</a:t>
            </a:r>
            <a:endParaRPr lang="en-US" sz="1300" dirty="0"/>
          </a:p>
        </p:txBody>
      </p:sp>
      <p:sp>
        <p:nvSpPr>
          <p:cNvPr id="25" name="Inference box User input"/>
          <p:cNvSpPr/>
          <p:nvPr/>
        </p:nvSpPr>
        <p:spPr>
          <a:xfrm>
            <a:off x="594360" y="4114800"/>
            <a:ext cx="1627632" cy="1600200"/>
          </a:xfrm>
          <a:prstGeom prst="roundRect">
            <a:avLst>
              <a:gd name="adj" fmla="val 6857"/>
            </a:avLst>
          </a:prstGeom>
          <a:solidFill>
            <a:schemeClr val="tx2"/>
          </a:solidFill>
          <a:ln/>
        </p:spPr>
      </p:sp>
      <p:sp>
        <p:nvSpPr>
          <p:cNvPr id="26" name="Icon circle FaUser"/>
          <p:cNvSpPr/>
          <p:nvPr/>
        </p:nvSpPr>
        <p:spPr>
          <a:xfrm>
            <a:off x="1152144" y="4279392"/>
            <a:ext cx="512064" cy="512064"/>
          </a:xfrm>
          <a:prstGeom prst="ellipse">
            <a:avLst/>
          </a:prstGeom>
          <a:solidFill>
            <a:schemeClr val="accent1"/>
          </a:solidFill>
          <a:ln/>
        </p:spPr>
      </p:sp>
      <p:pic>
        <p:nvPicPr>
          <p:cNvPr id="27" name="Image 5" descr="User icon">    </p:cNvPr>
          <p:cNvPicPr>
            <a:picLocks noChangeAspect="1"/>
          </p:cNvPicPr>
          <p:nvPr/>
        </p:nvPicPr>
        <p:blipFill>
          <a:blip r:embed="rId6"/>
          <a:stretch>
            <a:fillRect/>
          </a:stretch>
        </p:blipFill>
        <p:spPr>
          <a:xfrm>
            <a:off x="1280160" y="4407408"/>
            <a:ext cx="256032" cy="256032"/>
          </a:xfrm>
          <a:prstGeom prst="rect">
            <a:avLst/>
          </a:prstGeom>
        </p:spPr>
      </p:pic>
      <p:sp>
        <p:nvSpPr>
          <p:cNvPr id="28" name="Text 20"/>
          <p:cNvSpPr txBox="1"/>
          <p:nvPr/>
        </p:nvSpPr>
        <p:spPr>
          <a:xfrm>
            <a:off x="685800" y="4892040"/>
            <a:ext cx="1444752" cy="777240"/>
          </a:xfrm>
          <a:prstGeom prst="rect">
            <a:avLst/>
          </a:prstGeom>
          <a:noFill/>
          <a:ln/>
        </p:spPr>
        <p:txBody>
          <a:bodyPr wrap="square" lIns="0" tIns="0" rIns="0" bIns="0" rtlCol="0" anchor="t"/>
          <a:lstStyle/>
          <a:p>
            <a:pPr algn="ctr" indent="0" marL="0">
              <a:buNone/>
            </a:pPr>
            <a:r>
              <a:rPr lang="en-US" sz="1400" b="1" dirty="0">
                <a:solidFill>
                  <a:schemeClr val="bg1"/>
                </a:solidFill>
              </a:rPr>
              <a:t>User input</a:t>
            </a:r>
            <a:endParaRPr lang="en-US" sz="1400" dirty="0"/>
          </a:p>
        </p:txBody>
      </p:sp>
      <p:pic>
        <p:nvPicPr>
          <p:cNvPr id="29" name="Image 6" descr="Next">    </p:cNvPr>
          <p:cNvPicPr>
            <a:picLocks noChangeAspect="1"/>
          </p:cNvPicPr>
          <p:nvPr/>
        </p:nvPicPr>
        <p:blipFill>
          <a:blip r:embed="rId7"/>
          <a:stretch>
            <a:fillRect/>
          </a:stretch>
        </p:blipFill>
        <p:spPr>
          <a:xfrm>
            <a:off x="2240280" y="4805172"/>
            <a:ext cx="219456" cy="219456"/>
          </a:xfrm>
          <a:prstGeom prst="rect">
            <a:avLst/>
          </a:prstGeom>
        </p:spPr>
      </p:pic>
      <p:sp>
        <p:nvSpPr>
          <p:cNvPr id="30" name="Inference box Streamlit interface"/>
          <p:cNvSpPr/>
          <p:nvPr/>
        </p:nvSpPr>
        <p:spPr>
          <a:xfrm>
            <a:off x="2478024" y="4114800"/>
            <a:ext cx="1627632" cy="1600200"/>
          </a:xfrm>
          <a:prstGeom prst="roundRect">
            <a:avLst>
              <a:gd name="adj" fmla="val 6857"/>
            </a:avLst>
          </a:prstGeom>
          <a:solidFill>
            <a:schemeClr val="tx2"/>
          </a:solidFill>
          <a:ln/>
        </p:spPr>
      </p:sp>
      <p:sp>
        <p:nvSpPr>
          <p:cNvPr id="31" name="Icon circle FaDesktop"/>
          <p:cNvSpPr/>
          <p:nvPr/>
        </p:nvSpPr>
        <p:spPr>
          <a:xfrm>
            <a:off x="3035808" y="4279392"/>
            <a:ext cx="512064" cy="512064"/>
          </a:xfrm>
          <a:prstGeom prst="ellipse">
            <a:avLst/>
          </a:prstGeom>
          <a:solidFill>
            <a:schemeClr val="accent1"/>
          </a:solidFill>
          <a:ln/>
        </p:spPr>
      </p:sp>
      <p:pic>
        <p:nvPicPr>
          <p:cNvPr id="32" name="Image 7" descr="Desktop icon">    </p:cNvPr>
          <p:cNvPicPr>
            <a:picLocks noChangeAspect="1"/>
          </p:cNvPicPr>
          <p:nvPr/>
        </p:nvPicPr>
        <p:blipFill>
          <a:blip r:embed="rId8"/>
          <a:stretch>
            <a:fillRect/>
          </a:stretch>
        </p:blipFill>
        <p:spPr>
          <a:xfrm>
            <a:off x="3163824" y="4407408"/>
            <a:ext cx="256032" cy="256032"/>
          </a:xfrm>
          <a:prstGeom prst="rect">
            <a:avLst/>
          </a:prstGeom>
        </p:spPr>
      </p:pic>
      <p:sp>
        <p:nvSpPr>
          <p:cNvPr id="33" name="Text 23"/>
          <p:cNvSpPr txBox="1"/>
          <p:nvPr/>
        </p:nvSpPr>
        <p:spPr>
          <a:xfrm>
            <a:off x="2569464" y="4892040"/>
            <a:ext cx="1444752" cy="777240"/>
          </a:xfrm>
          <a:prstGeom prst="rect">
            <a:avLst/>
          </a:prstGeom>
          <a:noFill/>
          <a:ln/>
        </p:spPr>
        <p:txBody>
          <a:bodyPr wrap="square" lIns="0" tIns="0" rIns="0" bIns="0" rtlCol="0" anchor="t"/>
          <a:lstStyle/>
          <a:p>
            <a:pPr algn="ctr" indent="0" marL="0">
              <a:buNone/>
            </a:pPr>
            <a:r>
              <a:rPr lang="en-US" sz="1400" b="1" dirty="0">
                <a:solidFill>
                  <a:schemeClr val="bg1"/>
                </a:solidFill>
              </a:rPr>
              <a:t>Streamlit interface</a:t>
            </a:r>
            <a:endParaRPr lang="en-US" sz="1400" dirty="0"/>
          </a:p>
        </p:txBody>
      </p:sp>
      <p:pic>
        <p:nvPicPr>
          <p:cNvPr id="34" name="Image 8" descr="Next">    </p:cNvPr>
          <p:cNvPicPr>
            <a:picLocks noChangeAspect="1"/>
          </p:cNvPicPr>
          <p:nvPr/>
        </p:nvPicPr>
        <p:blipFill>
          <a:blip r:embed="rId9"/>
          <a:stretch>
            <a:fillRect/>
          </a:stretch>
        </p:blipFill>
        <p:spPr>
          <a:xfrm>
            <a:off x="4123944" y="4805172"/>
            <a:ext cx="219456" cy="219456"/>
          </a:xfrm>
          <a:prstGeom prst="rect">
            <a:avLst/>
          </a:prstGeom>
        </p:spPr>
      </p:pic>
      <p:sp>
        <p:nvSpPr>
          <p:cNvPr id="35" name="Inference box Feature preparation"/>
          <p:cNvSpPr/>
          <p:nvPr/>
        </p:nvSpPr>
        <p:spPr>
          <a:xfrm>
            <a:off x="4361688" y="4114800"/>
            <a:ext cx="1627632" cy="1600200"/>
          </a:xfrm>
          <a:prstGeom prst="roundRect">
            <a:avLst>
              <a:gd name="adj" fmla="val 6857"/>
            </a:avLst>
          </a:prstGeom>
          <a:solidFill>
            <a:schemeClr val="tx2"/>
          </a:solidFill>
          <a:ln/>
        </p:spPr>
      </p:sp>
      <p:sp>
        <p:nvSpPr>
          <p:cNvPr id="36" name="Icon circle FaTable"/>
          <p:cNvSpPr/>
          <p:nvPr/>
        </p:nvSpPr>
        <p:spPr>
          <a:xfrm>
            <a:off x="4919472" y="4279392"/>
            <a:ext cx="512064" cy="512064"/>
          </a:xfrm>
          <a:prstGeom prst="ellipse">
            <a:avLst/>
          </a:prstGeom>
          <a:solidFill>
            <a:schemeClr val="accent1"/>
          </a:solidFill>
          <a:ln/>
        </p:spPr>
      </p:sp>
      <p:pic>
        <p:nvPicPr>
          <p:cNvPr id="37" name="Image 9" descr="Table icon">    </p:cNvPr>
          <p:cNvPicPr>
            <a:picLocks noChangeAspect="1"/>
          </p:cNvPicPr>
          <p:nvPr/>
        </p:nvPicPr>
        <p:blipFill>
          <a:blip r:embed="rId10"/>
          <a:stretch>
            <a:fillRect/>
          </a:stretch>
        </p:blipFill>
        <p:spPr>
          <a:xfrm>
            <a:off x="5047488" y="4407408"/>
            <a:ext cx="256032" cy="256032"/>
          </a:xfrm>
          <a:prstGeom prst="rect">
            <a:avLst/>
          </a:prstGeom>
        </p:spPr>
      </p:pic>
      <p:sp>
        <p:nvSpPr>
          <p:cNvPr id="38" name="Text 26"/>
          <p:cNvSpPr txBox="1"/>
          <p:nvPr/>
        </p:nvSpPr>
        <p:spPr>
          <a:xfrm>
            <a:off x="4453128" y="4892040"/>
            <a:ext cx="1444752" cy="777240"/>
          </a:xfrm>
          <a:prstGeom prst="rect">
            <a:avLst/>
          </a:prstGeom>
          <a:noFill/>
          <a:ln/>
        </p:spPr>
        <p:txBody>
          <a:bodyPr wrap="square" lIns="0" tIns="0" rIns="0" bIns="0" rtlCol="0" anchor="t"/>
          <a:lstStyle/>
          <a:p>
            <a:pPr algn="ctr" indent="0" marL="0">
              <a:buNone/>
            </a:pPr>
            <a:r>
              <a:rPr lang="en-US" sz="1400" b="1" dirty="0">
                <a:solidFill>
                  <a:schemeClr val="bg1"/>
                </a:solidFill>
              </a:rPr>
              <a:t>Feature preparation</a:t>
            </a:r>
            <a:endParaRPr lang="en-US" sz="1400" dirty="0"/>
          </a:p>
        </p:txBody>
      </p:sp>
      <p:pic>
        <p:nvPicPr>
          <p:cNvPr id="39" name="Image 10" descr="Next">    </p:cNvPr>
          <p:cNvPicPr>
            <a:picLocks noChangeAspect="1"/>
          </p:cNvPicPr>
          <p:nvPr/>
        </p:nvPicPr>
        <p:blipFill>
          <a:blip r:embed="rId11"/>
          <a:stretch>
            <a:fillRect/>
          </a:stretch>
        </p:blipFill>
        <p:spPr>
          <a:xfrm>
            <a:off x="6007608" y="4805172"/>
            <a:ext cx="219456" cy="219456"/>
          </a:xfrm>
          <a:prstGeom prst="rect">
            <a:avLst/>
          </a:prstGeom>
        </p:spPr>
      </p:pic>
      <p:sp>
        <p:nvSpPr>
          <p:cNvPr id="40" name="Inference box Trained ML pipeline"/>
          <p:cNvSpPr/>
          <p:nvPr/>
        </p:nvSpPr>
        <p:spPr>
          <a:xfrm>
            <a:off x="6245352" y="4114800"/>
            <a:ext cx="1627632" cy="1600200"/>
          </a:xfrm>
          <a:prstGeom prst="roundRect">
            <a:avLst>
              <a:gd name="adj" fmla="val 6857"/>
            </a:avLst>
          </a:prstGeom>
          <a:solidFill>
            <a:schemeClr val="tx2"/>
          </a:solidFill>
          <a:ln/>
        </p:spPr>
      </p:sp>
      <p:sp>
        <p:nvSpPr>
          <p:cNvPr id="41" name="Icon circle FaMicrochip"/>
          <p:cNvSpPr/>
          <p:nvPr/>
        </p:nvSpPr>
        <p:spPr>
          <a:xfrm>
            <a:off x="6803136" y="4279392"/>
            <a:ext cx="512064" cy="512064"/>
          </a:xfrm>
          <a:prstGeom prst="ellipse">
            <a:avLst/>
          </a:prstGeom>
          <a:solidFill>
            <a:schemeClr val="accent1"/>
          </a:solidFill>
          <a:ln/>
        </p:spPr>
      </p:sp>
      <p:pic>
        <p:nvPicPr>
          <p:cNvPr id="42" name="Image 11" descr="Microchip icon">    </p:cNvPr>
          <p:cNvPicPr>
            <a:picLocks noChangeAspect="1"/>
          </p:cNvPicPr>
          <p:nvPr/>
        </p:nvPicPr>
        <p:blipFill>
          <a:blip r:embed="rId12"/>
          <a:stretch>
            <a:fillRect/>
          </a:stretch>
        </p:blipFill>
        <p:spPr>
          <a:xfrm>
            <a:off x="6931152" y="4407408"/>
            <a:ext cx="256032" cy="256032"/>
          </a:xfrm>
          <a:prstGeom prst="rect">
            <a:avLst/>
          </a:prstGeom>
        </p:spPr>
      </p:pic>
      <p:sp>
        <p:nvSpPr>
          <p:cNvPr id="43" name="Text 29"/>
          <p:cNvSpPr txBox="1"/>
          <p:nvPr/>
        </p:nvSpPr>
        <p:spPr>
          <a:xfrm>
            <a:off x="6336792" y="4892040"/>
            <a:ext cx="1444752" cy="777240"/>
          </a:xfrm>
          <a:prstGeom prst="rect">
            <a:avLst/>
          </a:prstGeom>
          <a:noFill/>
          <a:ln/>
        </p:spPr>
        <p:txBody>
          <a:bodyPr wrap="square" lIns="0" tIns="0" rIns="0" bIns="0" rtlCol="0" anchor="t"/>
          <a:lstStyle/>
          <a:p>
            <a:pPr algn="ctr" indent="0" marL="0">
              <a:buNone/>
            </a:pPr>
            <a:r>
              <a:rPr lang="en-US" sz="1400" b="1" dirty="0">
                <a:solidFill>
                  <a:schemeClr val="bg1"/>
                </a:solidFill>
              </a:rPr>
              <a:t>Trained ML pipeline</a:t>
            </a:r>
            <a:endParaRPr lang="en-US" sz="1400" dirty="0"/>
          </a:p>
        </p:txBody>
      </p:sp>
      <p:pic>
        <p:nvPicPr>
          <p:cNvPr id="44" name="Image 12" descr="Next">    </p:cNvPr>
          <p:cNvPicPr>
            <a:picLocks noChangeAspect="1"/>
          </p:cNvPicPr>
          <p:nvPr/>
        </p:nvPicPr>
        <p:blipFill>
          <a:blip r:embed="rId13"/>
          <a:stretch>
            <a:fillRect/>
          </a:stretch>
        </p:blipFill>
        <p:spPr>
          <a:xfrm>
            <a:off x="7891272" y="4805172"/>
            <a:ext cx="219456" cy="219456"/>
          </a:xfrm>
          <a:prstGeom prst="rect">
            <a:avLst/>
          </a:prstGeom>
        </p:spPr>
      </p:pic>
      <p:sp>
        <p:nvSpPr>
          <p:cNvPr id="45" name="Inference box Prediction and estimated probability"/>
          <p:cNvSpPr/>
          <p:nvPr/>
        </p:nvSpPr>
        <p:spPr>
          <a:xfrm>
            <a:off x="8129016" y="4114800"/>
            <a:ext cx="1627632" cy="1600200"/>
          </a:xfrm>
          <a:prstGeom prst="roundRect">
            <a:avLst>
              <a:gd name="adj" fmla="val 6857"/>
            </a:avLst>
          </a:prstGeom>
          <a:solidFill>
            <a:schemeClr val="tx2"/>
          </a:solidFill>
          <a:ln/>
        </p:spPr>
      </p:sp>
      <p:sp>
        <p:nvSpPr>
          <p:cNvPr id="46" name="Icon circle FaPercent"/>
          <p:cNvSpPr/>
          <p:nvPr/>
        </p:nvSpPr>
        <p:spPr>
          <a:xfrm>
            <a:off x="8686800" y="4279392"/>
            <a:ext cx="512064" cy="512064"/>
          </a:xfrm>
          <a:prstGeom prst="ellipse">
            <a:avLst/>
          </a:prstGeom>
          <a:solidFill>
            <a:schemeClr val="accent1"/>
          </a:solidFill>
          <a:ln/>
        </p:spPr>
      </p:sp>
      <p:pic>
        <p:nvPicPr>
          <p:cNvPr id="47" name="Image 13" descr="Percent icon">    </p:cNvPr>
          <p:cNvPicPr>
            <a:picLocks noChangeAspect="1"/>
          </p:cNvPicPr>
          <p:nvPr/>
        </p:nvPicPr>
        <p:blipFill>
          <a:blip r:embed="rId14"/>
          <a:stretch>
            <a:fillRect/>
          </a:stretch>
        </p:blipFill>
        <p:spPr>
          <a:xfrm>
            <a:off x="8814816" y="4407408"/>
            <a:ext cx="256032" cy="256032"/>
          </a:xfrm>
          <a:prstGeom prst="rect">
            <a:avLst/>
          </a:prstGeom>
        </p:spPr>
      </p:pic>
      <p:sp>
        <p:nvSpPr>
          <p:cNvPr id="48" name="Text 32"/>
          <p:cNvSpPr txBox="1"/>
          <p:nvPr/>
        </p:nvSpPr>
        <p:spPr>
          <a:xfrm>
            <a:off x="8220456" y="4892040"/>
            <a:ext cx="1444752" cy="777240"/>
          </a:xfrm>
          <a:prstGeom prst="rect">
            <a:avLst/>
          </a:prstGeom>
          <a:noFill/>
          <a:ln/>
        </p:spPr>
        <p:txBody>
          <a:bodyPr wrap="square" lIns="0" tIns="0" rIns="0" bIns="0" rtlCol="0" anchor="t"/>
          <a:lstStyle/>
          <a:p>
            <a:pPr algn="ctr" indent="0" marL="0">
              <a:buNone/>
            </a:pPr>
            <a:r>
              <a:rPr lang="en-US" sz="1400" b="1" dirty="0">
                <a:solidFill>
                  <a:schemeClr val="bg1"/>
                </a:solidFill>
              </a:rPr>
              <a:t>Prediction and estimated probability</a:t>
            </a:r>
            <a:endParaRPr lang="en-US" sz="1400" dirty="0"/>
          </a:p>
        </p:txBody>
      </p:sp>
      <p:pic>
        <p:nvPicPr>
          <p:cNvPr id="49" name="Image 14" descr="Next">    </p:cNvPr>
          <p:cNvPicPr>
            <a:picLocks noChangeAspect="1"/>
          </p:cNvPicPr>
          <p:nvPr/>
        </p:nvPicPr>
        <p:blipFill>
          <a:blip r:embed="rId15"/>
          <a:stretch>
            <a:fillRect/>
          </a:stretch>
        </p:blipFill>
        <p:spPr>
          <a:xfrm>
            <a:off x="9774936" y="4805172"/>
            <a:ext cx="219456" cy="219456"/>
          </a:xfrm>
          <a:prstGeom prst="rect">
            <a:avLst/>
          </a:prstGeom>
        </p:spPr>
      </p:pic>
      <p:sp>
        <p:nvSpPr>
          <p:cNvPr id="50" name="Inference box Results display"/>
          <p:cNvSpPr/>
          <p:nvPr/>
        </p:nvSpPr>
        <p:spPr>
          <a:xfrm>
            <a:off x="10012680" y="4114800"/>
            <a:ext cx="1627632" cy="1600200"/>
          </a:xfrm>
          <a:prstGeom prst="roundRect">
            <a:avLst>
              <a:gd name="adj" fmla="val 6857"/>
            </a:avLst>
          </a:prstGeom>
          <a:solidFill>
            <a:schemeClr val="tx2"/>
          </a:solidFill>
          <a:ln/>
        </p:spPr>
      </p:sp>
      <p:sp>
        <p:nvSpPr>
          <p:cNvPr id="51" name="Icon circle FaClipboardCheck"/>
          <p:cNvSpPr/>
          <p:nvPr/>
        </p:nvSpPr>
        <p:spPr>
          <a:xfrm>
            <a:off x="10570464" y="4279392"/>
            <a:ext cx="512064" cy="512064"/>
          </a:xfrm>
          <a:prstGeom prst="ellipse">
            <a:avLst/>
          </a:prstGeom>
          <a:solidFill>
            <a:schemeClr val="accent1"/>
          </a:solidFill>
          <a:ln/>
        </p:spPr>
      </p:sp>
      <p:pic>
        <p:nvPicPr>
          <p:cNvPr id="52" name="Image 15" descr="ClipboardCheck icon">    </p:cNvPr>
          <p:cNvPicPr>
            <a:picLocks noChangeAspect="1"/>
          </p:cNvPicPr>
          <p:nvPr/>
        </p:nvPicPr>
        <p:blipFill>
          <a:blip r:embed="rId16"/>
          <a:stretch>
            <a:fillRect/>
          </a:stretch>
        </p:blipFill>
        <p:spPr>
          <a:xfrm>
            <a:off x="10698480" y="4407408"/>
            <a:ext cx="256032" cy="256032"/>
          </a:xfrm>
          <a:prstGeom prst="rect">
            <a:avLst/>
          </a:prstGeom>
        </p:spPr>
      </p:pic>
      <p:sp>
        <p:nvSpPr>
          <p:cNvPr id="53" name="Text 35"/>
          <p:cNvSpPr txBox="1"/>
          <p:nvPr/>
        </p:nvSpPr>
        <p:spPr>
          <a:xfrm>
            <a:off x="10104120" y="4892040"/>
            <a:ext cx="1444752" cy="777240"/>
          </a:xfrm>
          <a:prstGeom prst="rect">
            <a:avLst/>
          </a:prstGeom>
          <a:noFill/>
          <a:ln/>
        </p:spPr>
        <p:txBody>
          <a:bodyPr wrap="square" lIns="0" tIns="0" rIns="0" bIns="0" rtlCol="0" anchor="t"/>
          <a:lstStyle/>
          <a:p>
            <a:pPr algn="ctr" indent="0" marL="0">
              <a:buNone/>
            </a:pPr>
            <a:r>
              <a:rPr lang="en-US" sz="1400" b="1" dirty="0">
                <a:solidFill>
                  <a:schemeClr val="bg1"/>
                </a:solidFill>
              </a:rPr>
              <a:t>Results display</a:t>
            </a:r>
            <a:endParaRPr lang="en-US" sz="1400" dirty="0"/>
          </a:p>
        </p:txBody>
      </p:sp>
      <p:sp>
        <p:nvSpPr>
          <p:cNvPr id="54" name="Loaded-by connector"/>
          <p:cNvSpPr/>
          <p:nvPr/>
        </p:nvSpPr>
        <p:spPr>
          <a:xfrm>
            <a:off x="7059168" y="2971800"/>
            <a:ext cx="0" cy="1143000"/>
          </a:xfrm>
          <a:prstGeom prst="line">
            <a:avLst/>
          </a:prstGeom>
          <a:noFill/>
          <a:ln w="31750">
            <a:solidFill>
              <a:srgbClr val="14B8A6"/>
            </a:solidFill>
            <a:prstDash val="dash"/>
            <a:tailEnd type="triangle"/>
          </a:ln>
        </p:spPr>
      </p:sp>
      <p:sp>
        <p:nvSpPr>
          <p:cNvPr id="55" name="Text 37"/>
          <p:cNvSpPr txBox="1"/>
          <p:nvPr/>
        </p:nvSpPr>
        <p:spPr>
          <a:xfrm>
            <a:off x="7196328" y="3611880"/>
            <a:ext cx="1737360" cy="274320"/>
          </a:xfrm>
          <a:prstGeom prst="rect">
            <a:avLst/>
          </a:prstGeom>
          <a:noFill/>
          <a:ln/>
        </p:spPr>
        <p:txBody>
          <a:bodyPr wrap="square" lIns="0" tIns="0" rIns="0" bIns="0" rtlCol="0" anchor="ctr"/>
          <a:lstStyle/>
          <a:p>
            <a:pPr indent="0" marL="0">
              <a:buNone/>
            </a:pPr>
            <a:r>
              <a:rPr lang="en-US" sz="1200" b="1" dirty="0">
                <a:solidFill>
                  <a:schemeClr val="accent2"/>
                </a:solidFill>
              </a:rPr>
              <a:t>loaded at run time</a:t>
            </a:r>
            <a:endParaRPr lang="en-US" sz="1200" dirty="0"/>
          </a:p>
        </p:txBody>
      </p:sp>
      <p:sp>
        <p:nvSpPr>
          <p:cNvPr id="56" name="Text 38"/>
          <p:cNvSpPr txBox="1"/>
          <p:nvPr/>
        </p:nvSpPr>
        <p:spPr>
          <a:xfrm>
            <a:off x="685800" y="5806440"/>
            <a:ext cx="10789920" cy="274320"/>
          </a:xfrm>
          <a:prstGeom prst="rect">
            <a:avLst/>
          </a:prstGeom>
          <a:noFill/>
          <a:ln/>
        </p:spPr>
        <p:txBody>
          <a:bodyPr wrap="square" lIns="0" tIns="0" rIns="0" bIns="0" rtlCol="0" anchor="ctr"/>
          <a:lstStyle/>
          <a:p>
            <a:pPr indent="0" marL="0">
              <a:buNone/>
            </a:pPr>
            <a:r>
              <a:rPr lang="en-US" sz="1300" i="1" dirty="0">
                <a:solidFill>
                  <a:schemeClr val="bg2"/>
                </a:solidFill>
              </a:rPr>
              <a:t>Inference only: the app loads the saved pipelines and predicts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Algorithms Used</a:t>
            </a:r>
            <a:endParaRPr lang="en-US" sz="3800" dirty="0"/>
          </a:p>
        </p:txBody>
      </p:sp>
      <p:sp>
        <p:nvSpPr>
          <p:cNvPr id="3" name="Logistic Regression card"/>
          <p:cNvSpPr/>
          <p:nvPr/>
        </p:nvSpPr>
        <p:spPr>
          <a:xfrm>
            <a:off x="548640" y="1371600"/>
            <a:ext cx="5413248" cy="3886200"/>
          </a:xfrm>
          <a:prstGeom prst="roundRect">
            <a:avLst>
              <a:gd name="adj" fmla="val 2824"/>
            </a:avLst>
          </a:prstGeom>
          <a:solidFill>
            <a:schemeClr val="bg2"/>
          </a:solidFill>
          <a:ln/>
          <a:effectLst>
            <a:outerShdw sx="100000" sy="100000" kx="0" ky="0" algn="bl" rotWithShape="0" blurRad="127000" dist="38100" dir="5400000">
              <a:srgbClr val="0B1F3A">
                <a:alpha val="14000"/>
              </a:srgbClr>
            </a:outerShdw>
          </a:effectLst>
        </p:spPr>
      </p:sp>
      <p:sp>
        <p:nvSpPr>
          <p:cNvPr id="4" name="Icon circle FaChartLine"/>
          <p:cNvSpPr/>
          <p:nvPr/>
        </p:nvSpPr>
        <p:spPr>
          <a:xfrm>
            <a:off x="822960" y="1600200"/>
            <a:ext cx="640080" cy="640080"/>
          </a:xfrm>
          <a:prstGeom prst="ellipse">
            <a:avLst/>
          </a:prstGeom>
          <a:solidFill>
            <a:schemeClr val="accent1"/>
          </a:solidFill>
          <a:ln/>
        </p:spPr>
      </p:sp>
      <p:pic>
        <p:nvPicPr>
          <p:cNvPr id="5" name="Image 0" descr="ChartLine icon">    </p:cNvPr>
          <p:cNvPicPr>
            <a:picLocks noChangeAspect="1"/>
          </p:cNvPicPr>
          <p:nvPr/>
        </p:nvPicPr>
        <p:blipFill>
          <a:blip r:embed="rId1"/>
          <a:stretch>
            <a:fillRect/>
          </a:stretch>
        </p:blipFill>
        <p:spPr>
          <a:xfrm>
            <a:off x="982980" y="1760220"/>
            <a:ext cx="320040" cy="320040"/>
          </a:xfrm>
          <a:prstGeom prst="rect">
            <a:avLst/>
          </a:prstGeom>
        </p:spPr>
      </p:pic>
      <p:sp>
        <p:nvSpPr>
          <p:cNvPr id="6" name="Text 3"/>
          <p:cNvSpPr txBox="1"/>
          <p:nvPr/>
        </p:nvSpPr>
        <p:spPr>
          <a:xfrm>
            <a:off x="1645920" y="1600200"/>
            <a:ext cx="4041648" cy="640080"/>
          </a:xfrm>
          <a:prstGeom prst="rect">
            <a:avLst/>
          </a:prstGeom>
          <a:noFill/>
          <a:ln/>
        </p:spPr>
        <p:txBody>
          <a:bodyPr wrap="square" lIns="0" tIns="0" rIns="0" bIns="0" rtlCol="0" anchor="ctr"/>
          <a:lstStyle/>
          <a:p>
            <a:pPr indent="0" marL="0">
              <a:buNone/>
            </a:pPr>
            <a:r>
              <a:rPr lang="en-US" sz="2400" b="1" dirty="0">
                <a:solidFill>
                  <a:schemeClr val="tx1"/>
                </a:solidFill>
              </a:rPr>
              <a:t>Logistic Regression</a:t>
            </a:r>
            <a:endParaRPr lang="en-US" sz="2400" dirty="0"/>
          </a:p>
        </p:txBody>
      </p:sp>
      <p:sp>
        <p:nvSpPr>
          <p:cNvPr id="7" name="Text 4"/>
          <p:cNvSpPr txBox="1"/>
          <p:nvPr/>
        </p:nvSpPr>
        <p:spPr>
          <a:xfrm>
            <a:off x="822960" y="2423160"/>
            <a:ext cx="4864608" cy="731520"/>
          </a:xfrm>
          <a:prstGeom prst="rect">
            <a:avLst/>
          </a:prstGeom>
          <a:noFill/>
          <a:ln/>
        </p:spPr>
        <p:txBody>
          <a:bodyPr wrap="square" lIns="0" tIns="0" rIns="0" bIns="0" rtlCol="0" anchor="t"/>
          <a:lstStyle/>
          <a:p>
            <a:pPr indent="0" marL="0">
              <a:buNone/>
            </a:pPr>
            <a:r>
              <a:rPr lang="en-US" sz="1700" dirty="0">
                <a:solidFill>
                  <a:schemeClr val="tx2"/>
                </a:solidFill>
              </a:rPr>
              <a:t>Classification model that estimates the probability of the positive class.</a:t>
            </a:r>
            <a:endParaRPr lang="en-US" sz="1700" dirty="0"/>
          </a:p>
        </p:txBody>
      </p:sp>
      <p:graphicFrame>
        <p:nvGraphicFramePr>
          <p:cNvPr id="8" name="Chart 0" descr=""/>
          <p:cNvGraphicFramePr/>
          <p:nvPr/>
        </p:nvGraphicFramePr>
        <p:xfrm>
          <a:off x="822960" y="3154680"/>
          <a:ext cx="4864608" cy="178308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822960" y="4937760"/>
            <a:ext cx="4864608" cy="228600"/>
          </a:xfrm>
          <a:prstGeom prst="rect">
            <a:avLst/>
          </a:prstGeom>
          <a:noFill/>
          <a:ln/>
        </p:spPr>
        <p:txBody>
          <a:bodyPr wrap="square" lIns="0" tIns="0" rIns="0" bIns="0" rtlCol="0" anchor="t"/>
          <a:lstStyle/>
          <a:p>
            <a:pPr indent="0" marL="0">
              <a:buNone/>
            </a:pPr>
            <a:r>
              <a:rPr lang="en-US" sz="1100" i="1" dirty="0">
                <a:solidFill>
                  <a:schemeClr val="accent5"/>
                </a:solidFill>
              </a:rPr>
              <a:t>Conceptual illustration: S-shaped probability curve</a:t>
            </a:r>
            <a:endParaRPr lang="en-US" sz="1100" dirty="0"/>
          </a:p>
        </p:txBody>
      </p:sp>
      <p:sp>
        <p:nvSpPr>
          <p:cNvPr id="10" name="Random Forest card"/>
          <p:cNvSpPr/>
          <p:nvPr/>
        </p:nvSpPr>
        <p:spPr>
          <a:xfrm>
            <a:off x="6227064" y="1371600"/>
            <a:ext cx="5413248" cy="3886200"/>
          </a:xfrm>
          <a:prstGeom prst="roundRect">
            <a:avLst>
              <a:gd name="adj" fmla="val 2824"/>
            </a:avLst>
          </a:prstGeom>
          <a:solidFill>
            <a:schemeClr val="bg2"/>
          </a:solidFill>
          <a:ln/>
          <a:effectLst>
            <a:outerShdw sx="100000" sy="100000" kx="0" ky="0" algn="bl" rotWithShape="0" blurRad="127000" dist="38100" dir="5400000">
              <a:srgbClr val="0B1F3A">
                <a:alpha val="14000"/>
              </a:srgbClr>
            </a:outerShdw>
          </a:effectLst>
        </p:spPr>
      </p:sp>
      <p:sp>
        <p:nvSpPr>
          <p:cNvPr id="11" name="Icon circle FaSitemap"/>
          <p:cNvSpPr/>
          <p:nvPr/>
        </p:nvSpPr>
        <p:spPr>
          <a:xfrm>
            <a:off x="6501384" y="1600200"/>
            <a:ext cx="640080" cy="640080"/>
          </a:xfrm>
          <a:prstGeom prst="ellipse">
            <a:avLst/>
          </a:prstGeom>
          <a:solidFill>
            <a:schemeClr val="accent1"/>
          </a:solidFill>
          <a:ln/>
        </p:spPr>
      </p:sp>
      <p:pic>
        <p:nvPicPr>
          <p:cNvPr id="12" name="Image 1" descr="Sitemap icon">    </p:cNvPr>
          <p:cNvPicPr>
            <a:picLocks noChangeAspect="1"/>
          </p:cNvPicPr>
          <p:nvPr/>
        </p:nvPicPr>
        <p:blipFill>
          <a:blip r:embed="rId3"/>
          <a:stretch>
            <a:fillRect/>
          </a:stretch>
        </p:blipFill>
        <p:spPr>
          <a:xfrm>
            <a:off x="6661404" y="1760220"/>
            <a:ext cx="320040" cy="320040"/>
          </a:xfrm>
          <a:prstGeom prst="rect">
            <a:avLst/>
          </a:prstGeom>
        </p:spPr>
      </p:pic>
      <p:sp>
        <p:nvSpPr>
          <p:cNvPr id="13" name="Text 8"/>
          <p:cNvSpPr txBox="1"/>
          <p:nvPr/>
        </p:nvSpPr>
        <p:spPr>
          <a:xfrm>
            <a:off x="7324344" y="1600200"/>
            <a:ext cx="4041648" cy="640080"/>
          </a:xfrm>
          <a:prstGeom prst="rect">
            <a:avLst/>
          </a:prstGeom>
          <a:noFill/>
          <a:ln/>
        </p:spPr>
        <p:txBody>
          <a:bodyPr wrap="square" lIns="0" tIns="0" rIns="0" bIns="0" rtlCol="0" anchor="ctr"/>
          <a:lstStyle/>
          <a:p>
            <a:pPr indent="0" marL="0">
              <a:buNone/>
            </a:pPr>
            <a:r>
              <a:rPr lang="en-US" sz="2400" b="1" dirty="0">
                <a:solidFill>
                  <a:schemeClr val="tx1"/>
                </a:solidFill>
              </a:rPr>
              <a:t>Random Forest</a:t>
            </a:r>
            <a:endParaRPr lang="en-US" sz="2400" dirty="0"/>
          </a:p>
        </p:txBody>
      </p:sp>
      <p:sp>
        <p:nvSpPr>
          <p:cNvPr id="14" name="Text 9"/>
          <p:cNvSpPr txBox="1"/>
          <p:nvPr/>
        </p:nvSpPr>
        <p:spPr>
          <a:xfrm>
            <a:off x="6501384" y="2423160"/>
            <a:ext cx="4864608" cy="731520"/>
          </a:xfrm>
          <a:prstGeom prst="rect">
            <a:avLst/>
          </a:prstGeom>
          <a:noFill/>
          <a:ln/>
        </p:spPr>
        <p:txBody>
          <a:bodyPr wrap="square" lIns="0" tIns="0" rIns="0" bIns="0" rtlCol="0" anchor="t"/>
          <a:lstStyle/>
          <a:p>
            <a:pPr indent="0" marL="0">
              <a:buNone/>
            </a:pPr>
            <a:r>
              <a:rPr lang="en-US" sz="1700" dirty="0">
                <a:solidFill>
                  <a:schemeClr val="tx2"/>
                </a:solidFill>
              </a:rPr>
              <a:t>Ensemble of decision trees that combines their predictions.</a:t>
            </a:r>
            <a:endParaRPr lang="en-US" sz="1700" dirty="0"/>
          </a:p>
        </p:txBody>
      </p:sp>
      <p:sp>
        <p:nvSpPr>
          <p:cNvPr id="15" name="Tree circle 1"/>
          <p:cNvSpPr/>
          <p:nvPr/>
        </p:nvSpPr>
        <p:spPr>
          <a:xfrm>
            <a:off x="6638544" y="3429000"/>
            <a:ext cx="777240" cy="777240"/>
          </a:xfrm>
          <a:prstGeom prst="ellipse">
            <a:avLst/>
          </a:prstGeom>
          <a:solidFill>
            <a:schemeClr val="bg1"/>
          </a:solidFill>
          <a:ln w="19050">
            <a:solidFill>
              <a:srgbClr val="14B8A6"/>
            </a:solidFill>
            <a:prstDash val="solid"/>
          </a:ln>
        </p:spPr>
      </p:sp>
      <p:pic>
        <p:nvPicPr>
          <p:cNvPr id="16" name="Image 2" descr="Decision tree 1">    </p:cNvPr>
          <p:cNvPicPr>
            <a:picLocks noChangeAspect="1"/>
          </p:cNvPicPr>
          <p:nvPr/>
        </p:nvPicPr>
        <p:blipFill>
          <a:blip r:embed="rId4"/>
          <a:stretch>
            <a:fillRect/>
          </a:stretch>
        </p:blipFill>
        <p:spPr>
          <a:xfrm>
            <a:off x="6821424" y="3611880"/>
            <a:ext cx="411480" cy="411480"/>
          </a:xfrm>
          <a:prstGeom prst="rect">
            <a:avLst/>
          </a:prstGeom>
        </p:spPr>
      </p:pic>
      <p:sp>
        <p:nvSpPr>
          <p:cNvPr id="17" name="Text 11"/>
          <p:cNvSpPr txBox="1"/>
          <p:nvPr/>
        </p:nvSpPr>
        <p:spPr>
          <a:xfrm>
            <a:off x="6547104" y="4270248"/>
            <a:ext cx="960120" cy="274320"/>
          </a:xfrm>
          <a:prstGeom prst="rect">
            <a:avLst/>
          </a:prstGeom>
          <a:noFill/>
          <a:ln/>
        </p:spPr>
        <p:txBody>
          <a:bodyPr wrap="square" lIns="0" tIns="0" rIns="0" bIns="0" rtlCol="0" anchor="t"/>
          <a:lstStyle/>
          <a:p>
            <a:pPr algn="ctr" indent="0" marL="0">
              <a:buNone/>
            </a:pPr>
            <a:r>
              <a:rPr lang="en-US" sz="1200" dirty="0">
                <a:solidFill>
                  <a:schemeClr val="tx2"/>
                </a:solidFill>
              </a:rPr>
              <a:t>Tree 1</a:t>
            </a:r>
            <a:endParaRPr lang="en-US" sz="1200" dirty="0"/>
          </a:p>
        </p:txBody>
      </p:sp>
      <p:sp>
        <p:nvSpPr>
          <p:cNvPr id="18" name="Tree circle 2"/>
          <p:cNvSpPr/>
          <p:nvPr/>
        </p:nvSpPr>
        <p:spPr>
          <a:xfrm>
            <a:off x="7644384" y="3429000"/>
            <a:ext cx="777240" cy="777240"/>
          </a:xfrm>
          <a:prstGeom prst="ellipse">
            <a:avLst/>
          </a:prstGeom>
          <a:solidFill>
            <a:schemeClr val="bg1"/>
          </a:solidFill>
          <a:ln w="19050">
            <a:solidFill>
              <a:srgbClr val="14B8A6"/>
            </a:solidFill>
            <a:prstDash val="solid"/>
          </a:ln>
        </p:spPr>
      </p:sp>
      <p:pic>
        <p:nvPicPr>
          <p:cNvPr id="19" name="Image 3" descr="Decision tree 2">    </p:cNvPr>
          <p:cNvPicPr>
            <a:picLocks noChangeAspect="1"/>
          </p:cNvPicPr>
          <p:nvPr/>
        </p:nvPicPr>
        <p:blipFill>
          <a:blip r:embed="rId5"/>
          <a:stretch>
            <a:fillRect/>
          </a:stretch>
        </p:blipFill>
        <p:spPr>
          <a:xfrm>
            <a:off x="7827264" y="3611880"/>
            <a:ext cx="411480" cy="411480"/>
          </a:xfrm>
          <a:prstGeom prst="rect">
            <a:avLst/>
          </a:prstGeom>
        </p:spPr>
      </p:pic>
      <p:sp>
        <p:nvSpPr>
          <p:cNvPr id="20" name="Text 13"/>
          <p:cNvSpPr txBox="1"/>
          <p:nvPr/>
        </p:nvSpPr>
        <p:spPr>
          <a:xfrm>
            <a:off x="7552944" y="4270248"/>
            <a:ext cx="960120" cy="274320"/>
          </a:xfrm>
          <a:prstGeom prst="rect">
            <a:avLst/>
          </a:prstGeom>
          <a:noFill/>
          <a:ln/>
        </p:spPr>
        <p:txBody>
          <a:bodyPr wrap="square" lIns="0" tIns="0" rIns="0" bIns="0" rtlCol="0" anchor="t"/>
          <a:lstStyle/>
          <a:p>
            <a:pPr algn="ctr" indent="0" marL="0">
              <a:buNone/>
            </a:pPr>
            <a:r>
              <a:rPr lang="en-US" sz="1200" dirty="0">
                <a:solidFill>
                  <a:schemeClr val="tx2"/>
                </a:solidFill>
              </a:rPr>
              <a:t>Tree 2</a:t>
            </a:r>
            <a:endParaRPr lang="en-US" sz="1200" dirty="0"/>
          </a:p>
        </p:txBody>
      </p:sp>
      <p:sp>
        <p:nvSpPr>
          <p:cNvPr id="21" name="Tree circle 3"/>
          <p:cNvSpPr/>
          <p:nvPr/>
        </p:nvSpPr>
        <p:spPr>
          <a:xfrm>
            <a:off x="8650224" y="3429000"/>
            <a:ext cx="777240" cy="777240"/>
          </a:xfrm>
          <a:prstGeom prst="ellipse">
            <a:avLst/>
          </a:prstGeom>
          <a:solidFill>
            <a:schemeClr val="bg1"/>
          </a:solidFill>
          <a:ln w="19050">
            <a:solidFill>
              <a:srgbClr val="14B8A6"/>
            </a:solidFill>
            <a:prstDash val="solid"/>
          </a:ln>
        </p:spPr>
      </p:sp>
      <p:pic>
        <p:nvPicPr>
          <p:cNvPr id="22" name="Image 4" descr="Decision tree 3">    </p:cNvPr>
          <p:cNvPicPr>
            <a:picLocks noChangeAspect="1"/>
          </p:cNvPicPr>
          <p:nvPr/>
        </p:nvPicPr>
        <p:blipFill>
          <a:blip r:embed="rId6"/>
          <a:stretch>
            <a:fillRect/>
          </a:stretch>
        </p:blipFill>
        <p:spPr>
          <a:xfrm>
            <a:off x="8833104" y="3611880"/>
            <a:ext cx="411480" cy="411480"/>
          </a:xfrm>
          <a:prstGeom prst="rect">
            <a:avLst/>
          </a:prstGeom>
        </p:spPr>
      </p:pic>
      <p:sp>
        <p:nvSpPr>
          <p:cNvPr id="23" name="Text 15"/>
          <p:cNvSpPr txBox="1"/>
          <p:nvPr/>
        </p:nvSpPr>
        <p:spPr>
          <a:xfrm>
            <a:off x="8558784" y="4270248"/>
            <a:ext cx="960120" cy="274320"/>
          </a:xfrm>
          <a:prstGeom prst="rect">
            <a:avLst/>
          </a:prstGeom>
          <a:noFill/>
          <a:ln/>
        </p:spPr>
        <p:txBody>
          <a:bodyPr wrap="square" lIns="0" tIns="0" rIns="0" bIns="0" rtlCol="0" anchor="t"/>
          <a:lstStyle/>
          <a:p>
            <a:pPr algn="ctr" indent="0" marL="0">
              <a:buNone/>
            </a:pPr>
            <a:r>
              <a:rPr lang="en-US" sz="1200" dirty="0">
                <a:solidFill>
                  <a:schemeClr val="tx2"/>
                </a:solidFill>
              </a:rPr>
              <a:t>Tree 3</a:t>
            </a:r>
            <a:endParaRPr lang="en-US" sz="1200" dirty="0"/>
          </a:p>
        </p:txBody>
      </p:sp>
      <p:pic>
        <p:nvPicPr>
          <p:cNvPr id="24" name="Image 5" descr="Combine">    </p:cNvPr>
          <p:cNvPicPr>
            <a:picLocks noChangeAspect="1"/>
          </p:cNvPicPr>
          <p:nvPr/>
        </p:nvPicPr>
        <p:blipFill>
          <a:blip r:embed="rId7"/>
          <a:stretch>
            <a:fillRect/>
          </a:stretch>
        </p:blipFill>
        <p:spPr>
          <a:xfrm>
            <a:off x="9747504" y="3675888"/>
            <a:ext cx="274320" cy="274320"/>
          </a:xfrm>
          <a:prstGeom prst="rect">
            <a:avLst/>
          </a:prstGeom>
        </p:spPr>
      </p:pic>
      <p:sp>
        <p:nvSpPr>
          <p:cNvPr id="25" name="Combined prediction"/>
          <p:cNvSpPr/>
          <p:nvPr/>
        </p:nvSpPr>
        <p:spPr>
          <a:xfrm>
            <a:off x="10158984" y="3429000"/>
            <a:ext cx="1234440" cy="777240"/>
          </a:xfrm>
          <a:prstGeom prst="roundRect">
            <a:avLst>
              <a:gd name="adj" fmla="val 14118"/>
            </a:avLst>
          </a:prstGeom>
          <a:solidFill>
            <a:schemeClr val="tx1"/>
          </a:solidFill>
          <a:ln/>
        </p:spPr>
      </p:sp>
      <p:sp>
        <p:nvSpPr>
          <p:cNvPr id="26" name="Text 17"/>
          <p:cNvSpPr txBox="1"/>
          <p:nvPr/>
        </p:nvSpPr>
        <p:spPr>
          <a:xfrm>
            <a:off x="10158984" y="3429000"/>
            <a:ext cx="1234440" cy="777240"/>
          </a:xfrm>
          <a:prstGeom prst="rect">
            <a:avLst/>
          </a:prstGeom>
          <a:noFill/>
          <a:ln/>
        </p:spPr>
        <p:txBody>
          <a:bodyPr wrap="square" lIns="0" tIns="0" rIns="0" bIns="0" rtlCol="0" anchor="ctr"/>
          <a:lstStyle/>
          <a:p>
            <a:pPr algn="ctr" indent="0" marL="0">
              <a:buNone/>
            </a:pPr>
            <a:r>
              <a:rPr lang="en-US" sz="1300" b="1" dirty="0">
                <a:solidFill>
                  <a:schemeClr val="bg1"/>
                </a:solidFill>
              </a:rPr>
              <a:t>Combined prediction</a:t>
            </a:r>
            <a:endParaRPr lang="en-US" sz="1300" dirty="0"/>
          </a:p>
        </p:txBody>
      </p:sp>
      <p:sp>
        <p:nvSpPr>
          <p:cNvPr id="27" name="Text 18"/>
          <p:cNvSpPr txBox="1"/>
          <p:nvPr/>
        </p:nvSpPr>
        <p:spPr>
          <a:xfrm>
            <a:off x="6501384" y="4937760"/>
            <a:ext cx="4864608" cy="228600"/>
          </a:xfrm>
          <a:prstGeom prst="rect">
            <a:avLst/>
          </a:prstGeom>
          <a:noFill/>
          <a:ln/>
        </p:spPr>
        <p:txBody>
          <a:bodyPr wrap="square" lIns="0" tIns="0" rIns="0" bIns="0" rtlCol="0" anchor="t"/>
          <a:lstStyle/>
          <a:p>
            <a:pPr indent="0" marL="0">
              <a:buNone/>
            </a:pPr>
            <a:r>
              <a:rPr lang="en-US" sz="1100" i="1" dirty="0">
                <a:solidFill>
                  <a:schemeClr val="accent5"/>
                </a:solidFill>
              </a:rPr>
              <a:t>Conceptual illustration: trees combined into one prediction</a:t>
            </a:r>
            <a:endParaRPr lang="en-US" sz="1100" dirty="0"/>
          </a:p>
        </p:txBody>
      </p:sp>
      <p:sp>
        <p:nvSpPr>
          <p:cNvPr id="28" name="Why compare band"/>
          <p:cNvSpPr/>
          <p:nvPr/>
        </p:nvSpPr>
        <p:spPr>
          <a:xfrm>
            <a:off x="548640" y="5440680"/>
            <a:ext cx="11094415" cy="731520"/>
          </a:xfrm>
          <a:prstGeom prst="roundRect">
            <a:avLst>
              <a:gd name="adj" fmla="val 15000"/>
            </a:avLst>
          </a:prstGeom>
          <a:solidFill>
            <a:schemeClr val="tx1"/>
          </a:solidFill>
          <a:ln/>
        </p:spPr>
      </p:sp>
      <p:sp>
        <p:nvSpPr>
          <p:cNvPr id="29" name="Icon circle FaBalanceScale"/>
          <p:cNvSpPr/>
          <p:nvPr/>
        </p:nvSpPr>
        <p:spPr>
          <a:xfrm>
            <a:off x="777240" y="5550408"/>
            <a:ext cx="512064" cy="512064"/>
          </a:xfrm>
          <a:prstGeom prst="ellipse">
            <a:avLst/>
          </a:prstGeom>
          <a:solidFill>
            <a:schemeClr val="accent1"/>
          </a:solidFill>
          <a:ln/>
        </p:spPr>
      </p:sp>
      <p:pic>
        <p:nvPicPr>
          <p:cNvPr id="30" name="Image 6" descr="BalanceScale icon">    </p:cNvPr>
          <p:cNvPicPr>
            <a:picLocks noChangeAspect="1"/>
          </p:cNvPicPr>
          <p:nvPr/>
        </p:nvPicPr>
        <p:blipFill>
          <a:blip r:embed="rId8"/>
          <a:stretch>
            <a:fillRect/>
          </a:stretch>
        </p:blipFill>
        <p:spPr>
          <a:xfrm>
            <a:off x="905256" y="5678424"/>
            <a:ext cx="256032" cy="256032"/>
          </a:xfrm>
          <a:prstGeom prst="rect">
            <a:avLst/>
          </a:prstGeom>
        </p:spPr>
      </p:pic>
      <p:sp>
        <p:nvSpPr>
          <p:cNvPr id="31" name="Text 21"/>
          <p:cNvSpPr txBox="1"/>
          <p:nvPr/>
        </p:nvSpPr>
        <p:spPr>
          <a:xfrm>
            <a:off x="1508760" y="5440680"/>
            <a:ext cx="9905695" cy="731520"/>
          </a:xfrm>
          <a:prstGeom prst="rect">
            <a:avLst/>
          </a:prstGeom>
          <a:noFill/>
          <a:ln/>
        </p:spPr>
        <p:txBody>
          <a:bodyPr wrap="square" lIns="0" tIns="0" rIns="0" bIns="0" rtlCol="0" anchor="ctr"/>
          <a:lstStyle/>
          <a:p>
            <a:pPr indent="0" marL="0">
              <a:buNone/>
            </a:pPr>
            <a:r>
              <a:rPr lang="en-US" sz="1600" b="1" dirty="0">
                <a:solidFill>
                  <a:schemeClr val="accent2"/>
                </a:solidFill>
              </a:rPr>
              <a:t>Why compare two approaches?  </a:t>
            </a:r>
            <a:pPr indent="0" marL="0">
              <a:buNone/>
            </a:pPr>
            <a:r>
              <a:rPr lang="en-US" sz="1600" dirty="0">
                <a:solidFill>
                  <a:schemeClr val="bg1"/>
                </a:solidFill>
              </a:rPr>
              <a:t>Different models learn differently, so comparing them on the same data shows how each behaves.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Model Evaluation and Comparison</a:t>
            </a:r>
            <a:endParaRPr lang="en-US" sz="3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577840" cy="914400"/>
        </p:xfrm>
        <a:graphic>
          <a:graphicData uri="http://schemas.openxmlformats.org/drawingml/2006/table">
            <a:tbl>
              <a:tblPr/>
              <a:tblGrid>
                <a:gridCol w="1920240"/>
                <a:gridCol w="1828800"/>
                <a:gridCol w="1828800"/>
              </a:tblGrid>
              <a:tr h="420624">
                <a:tc>
                  <a:txBody>
                    <a:bodyPr/>
                    <a:lstStyle/>
                    <a:p>
                      <a:pPr algn="l" indent="0" marL="0">
                        <a:buNone/>
                      </a:pPr>
                      <a:r>
                        <a:rPr lang="en-US" sz="1400" b="1" dirty="0">
                          <a:solidFill>
                            <a:schemeClr val="bg1"/>
                          </a:solidFill>
                        </a:rPr>
                        <a:t>Metric</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Logistic Regression</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Random Forest</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1"/>
                    </a:solidFill>
                  </a:tcPr>
                </a:tc>
              </a:tr>
              <a:tr h="420624">
                <a:tc>
                  <a:txBody>
                    <a:bodyPr/>
                    <a:lstStyle/>
                    <a:p>
                      <a:pPr algn="l" indent="0" marL="0">
                        <a:buNone/>
                      </a:pPr>
                      <a:r>
                        <a:rPr lang="en-US" sz="1400" b="1" dirty="0">
                          <a:solidFill>
                            <a:schemeClr val="tx1"/>
                          </a:solidFill>
                        </a:rPr>
                        <a:t>Accuracy</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95.96%</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6"/>
                          </a:solidFill>
                        </a:rPr>
                        <a:t>96.94%</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Precision</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86.92%</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6"/>
                          </a:solidFill>
                        </a:rPr>
                        <a:t>95.04%</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Recall</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63.86%</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6"/>
                          </a:solidFill>
                        </a:rPr>
                        <a:t>68.87%</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F1-score</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73.62%</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6"/>
                          </a:solidFill>
                        </a:rPr>
                        <a:t>79.86%</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ROC-AUC</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6"/>
                          </a:solidFill>
                        </a:rPr>
                        <a:t>95.99%</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95.62%</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Mean CV Accuracy</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95.87%</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6"/>
                          </a:solidFill>
                        </a:rPr>
                        <a:t>96.82%</a:t>
                      </a:r>
                      <a:endParaRPr lang="en-US" sz="1400" dirty="0"/>
                    </a:p>
                  </a:txBody>
                  <a:tcPr marL="91440" marR="91440"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4389120"/>
            <a:ext cx="5577840" cy="228600"/>
          </a:xfrm>
          <a:prstGeom prst="rect">
            <a:avLst/>
          </a:prstGeom>
          <a:noFill/>
          <a:ln/>
        </p:spPr>
        <p:txBody>
          <a:bodyPr wrap="square" lIns="0" tIns="0" rIns="0" bIns="0" rtlCol="0" anchor="t"/>
          <a:lstStyle/>
          <a:p>
            <a:pPr indent="0" marL="0">
              <a:buNone/>
            </a:pPr>
            <a:r>
              <a:rPr lang="en-US" sz="1200" i="1" dirty="0">
                <a:solidFill>
                  <a:schemeClr val="accent5"/>
                </a:solidFill>
              </a:rPr>
              <a:t>Bold teal = higher value in that row</a:t>
            </a:r>
            <a:endParaRPr lang="en-US" sz="1200" dirty="0"/>
          </a:p>
        </p:txBody>
      </p:sp>
      <p:sp>
        <p:nvSpPr>
          <p:cNvPr id="5" name="Text 2"/>
          <p:cNvSpPr txBox="1"/>
          <p:nvPr/>
        </p:nvSpPr>
        <p:spPr>
          <a:xfrm>
            <a:off x="548640" y="4754880"/>
            <a:ext cx="5577840" cy="1463040"/>
          </a:xfrm>
          <a:prstGeom prst="rect">
            <a:avLst/>
          </a:prstGeom>
          <a:noFill/>
          <a:ln/>
        </p:spPr>
        <p:txBody>
          <a:bodyPr wrap="square" lIns="0" tIns="0" rIns="0" bIns="0" rtlCol="0" anchor="t"/>
          <a:lstStyle/>
          <a:p>
            <a:pPr indent="0" marL="0">
              <a:spcAft>
                <a:spcPts val="300"/>
              </a:spcAft>
              <a:buNone/>
            </a:pPr>
            <a:r>
              <a:rPr lang="en-US" sz="1200" b="1" dirty="0">
                <a:solidFill>
                  <a:schemeClr val="tx2"/>
                </a:solidFill>
              </a:rPr>
              <a:t>Accuracy: </a:t>
            </a:r>
            <a:pPr indent="0" marL="0">
              <a:spcAft>
                <a:spcPts val="300"/>
              </a:spcAft>
              <a:buNone/>
            </a:pPr>
            <a:r>
              <a:rPr lang="en-US" sz="1200" dirty="0">
                <a:solidFill>
                  <a:schemeClr val="tx2"/>
                </a:solidFill>
              </a:rPr>
              <a:t>share of all predictions that are correct</a:t>
            </a:r>
            <a:endParaRPr lang="en-US" sz="1200" dirty="0"/>
          </a:p>
          <a:p>
            <a:pPr indent="0" marL="0">
              <a:spcAft>
                <a:spcPts val="300"/>
              </a:spcAft>
              <a:buNone/>
            </a:pPr>
            <a:r>
              <a:rPr lang="en-US" sz="1200" b="1" dirty="0">
                <a:solidFill>
                  <a:schemeClr val="tx2"/>
                </a:solidFill>
              </a:rPr>
              <a:t>Precision: </a:t>
            </a:r>
            <a:pPr indent="0" marL="0">
              <a:spcAft>
                <a:spcPts val="300"/>
              </a:spcAft>
              <a:buNone/>
            </a:pPr>
            <a:r>
              <a:rPr lang="en-US" sz="1200" dirty="0">
                <a:solidFill>
                  <a:schemeClr val="tx2"/>
                </a:solidFill>
              </a:rPr>
              <a:t>of predicted positives, how many are truly positive</a:t>
            </a:r>
            <a:endParaRPr lang="en-US" sz="1200" dirty="0"/>
          </a:p>
          <a:p>
            <a:pPr indent="0" marL="0">
              <a:spcAft>
                <a:spcPts val="300"/>
              </a:spcAft>
              <a:buNone/>
            </a:pPr>
            <a:r>
              <a:rPr lang="en-US" sz="1200" b="1" dirty="0">
                <a:solidFill>
                  <a:schemeClr val="tx2"/>
                </a:solidFill>
              </a:rPr>
              <a:t>Recall: </a:t>
            </a:r>
            <a:pPr indent="0" marL="0">
              <a:spcAft>
                <a:spcPts val="300"/>
              </a:spcAft>
              <a:buNone/>
            </a:pPr>
            <a:r>
              <a:rPr lang="en-US" sz="1200" dirty="0">
                <a:solidFill>
                  <a:schemeClr val="tx2"/>
                </a:solidFill>
              </a:rPr>
              <a:t>of actual positives, how many are found</a:t>
            </a:r>
            <a:endParaRPr lang="en-US" sz="1200" dirty="0"/>
          </a:p>
          <a:p>
            <a:pPr indent="0" marL="0">
              <a:spcAft>
                <a:spcPts val="300"/>
              </a:spcAft>
              <a:buNone/>
            </a:pPr>
            <a:r>
              <a:rPr lang="en-US" sz="1200" b="1" dirty="0">
                <a:solidFill>
                  <a:schemeClr val="tx2"/>
                </a:solidFill>
              </a:rPr>
              <a:t>F1-score: </a:t>
            </a:r>
            <a:pPr indent="0" marL="0">
              <a:spcAft>
                <a:spcPts val="300"/>
              </a:spcAft>
              <a:buNone/>
            </a:pPr>
            <a:r>
              <a:rPr lang="en-US" sz="1200" dirty="0">
                <a:solidFill>
                  <a:schemeClr val="tx2"/>
                </a:solidFill>
              </a:rPr>
              <a:t>balance of precision and recall</a:t>
            </a:r>
            <a:endParaRPr lang="en-US" sz="1200" dirty="0"/>
          </a:p>
          <a:p>
            <a:pPr indent="0" marL="0">
              <a:spcAft>
                <a:spcPts val="300"/>
              </a:spcAft>
              <a:buNone/>
            </a:pPr>
            <a:r>
              <a:rPr lang="en-US" sz="1200" b="1" dirty="0">
                <a:solidFill>
                  <a:schemeClr val="tx2"/>
                </a:solidFill>
              </a:rPr>
              <a:t>ROC-AUC: </a:t>
            </a:r>
            <a:pPr indent="0" marL="0">
              <a:spcAft>
                <a:spcPts val="300"/>
              </a:spcAft>
              <a:buNone/>
            </a:pPr>
            <a:r>
              <a:rPr lang="en-US" sz="1200" dirty="0">
                <a:solidFill>
                  <a:schemeClr val="tx2"/>
                </a:solidFill>
              </a:rPr>
              <a:t>how well positives are ranked above negatives</a:t>
            </a:r>
            <a:endParaRPr lang="en-US" sz="1200" dirty="0"/>
          </a:p>
          <a:p>
            <a:pPr indent="0" marL="0">
              <a:spcAft>
                <a:spcPts val="300"/>
              </a:spcAft>
              <a:buNone/>
            </a:pPr>
            <a:r>
              <a:rPr lang="en-US" sz="1200" b="1" dirty="0">
                <a:solidFill>
                  <a:schemeClr val="tx2"/>
                </a:solidFill>
              </a:rPr>
              <a:t>Mean CV accuracy: </a:t>
            </a:r>
            <a:pPr indent="0" marL="0">
              <a:spcAft>
                <a:spcPts val="300"/>
              </a:spcAft>
              <a:buNone/>
            </a:pPr>
            <a:r>
              <a:rPr lang="en-US" sz="1200" dirty="0">
                <a:solidFill>
                  <a:schemeClr val="tx2"/>
                </a:solidFill>
              </a:rPr>
              <a:t>average accuracy across validation folds</a:t>
            </a:r>
            <a:endParaRPr lang="en-US" sz="1200" dirty="0"/>
          </a:p>
        </p:txBody>
      </p:sp>
      <p:graphicFrame>
        <p:nvGraphicFramePr>
          <p:cNvPr id="6" name="Chart 0" descr=""/>
          <p:cNvGraphicFramePr/>
          <p:nvPr/>
        </p:nvGraphicFramePr>
        <p:xfrm>
          <a:off x="6355080" y="1325880"/>
          <a:ext cx="5285232" cy="3703320"/>
        </p:xfrm>
        <a:graphic xmlns:a="http://schemas.openxmlformats.org/drawingml/2006/main">
          <a:graphicData uri="http://schemas.openxmlformats.org/drawingml/2006/chart">
            <c:chart xmlns:c="http://schemas.openxmlformats.org/drawingml/2006/chart" r:id="rId1"/>
          </a:graphicData>
        </a:graphic>
      </p:graphicFrame>
      <p:sp>
        <p:nvSpPr>
          <p:cNvPr id="7" name="Takeaway card"/>
          <p:cNvSpPr/>
          <p:nvPr/>
        </p:nvSpPr>
        <p:spPr>
          <a:xfrm>
            <a:off x="6355080" y="5166360"/>
            <a:ext cx="5285232" cy="1051560"/>
          </a:xfrm>
          <a:prstGeom prst="roundRect">
            <a:avLst>
              <a:gd name="adj" fmla="val 10435"/>
            </a:avLst>
          </a:prstGeom>
          <a:solidFill>
            <a:schemeClr val="tx1"/>
          </a:solidFill>
          <a:ln/>
        </p:spPr>
      </p:sp>
      <p:sp>
        <p:nvSpPr>
          <p:cNvPr id="8" name="Text 4"/>
          <p:cNvSpPr txBox="1"/>
          <p:nvPr/>
        </p:nvSpPr>
        <p:spPr>
          <a:xfrm>
            <a:off x="6583680" y="5166360"/>
            <a:ext cx="4846320" cy="1051560"/>
          </a:xfrm>
          <a:prstGeom prst="rect">
            <a:avLst/>
          </a:prstGeom>
          <a:noFill/>
          <a:ln/>
        </p:spPr>
        <p:txBody>
          <a:bodyPr wrap="square" lIns="0" tIns="0" rIns="0" bIns="0" rtlCol="0" anchor="ctr"/>
          <a:lstStyle/>
          <a:p>
            <a:pPr indent="0" marL="0">
              <a:buNone/>
            </a:pPr>
            <a:r>
              <a:rPr lang="en-US" sz="1400" dirty="0">
                <a:solidFill>
                  <a:schemeClr val="bg1"/>
                </a:solidFill>
              </a:rPr>
              <a:t>Random Forest leads on accuracy, precision, recall, F1 and CV accuracy; Logistic Regression is slightly higher on ROC-AUC. Neither model is universally superior.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Application Demonstration</a:t>
            </a:r>
            <a:endParaRPr lang="en-US" sz="3800" dirty="0"/>
          </a:p>
        </p:txBody>
      </p:sp>
      <p:sp>
        <p:nvSpPr>
          <p:cNvPr id="3" name="Step row 1"/>
          <p:cNvSpPr/>
          <p:nvPr/>
        </p:nvSpPr>
        <p:spPr>
          <a:xfrm>
            <a:off x="548640" y="1417320"/>
            <a:ext cx="4297680" cy="822960"/>
          </a:xfrm>
          <a:prstGeom prst="roundRect">
            <a:avLst>
              <a:gd name="adj" fmla="val 13333"/>
            </a:avLst>
          </a:prstGeom>
          <a:solidFill>
            <a:schemeClr val="bg2"/>
          </a:solidFill>
          <a:ln/>
          <a:effectLst>
            <a:outerShdw sx="100000" sy="100000" kx="0" ky="0" algn="bl" rotWithShape="0" blurRad="127000" dist="38100" dir="5400000">
              <a:srgbClr val="0B1F3A">
                <a:alpha val="14000"/>
              </a:srgbClr>
            </a:outerShdw>
          </a:effectLst>
        </p:spPr>
      </p:sp>
      <p:sp>
        <p:nvSpPr>
          <p:cNvPr id="4" name="Step number 1"/>
          <p:cNvSpPr/>
          <p:nvPr/>
        </p:nvSpPr>
        <p:spPr>
          <a:xfrm>
            <a:off x="731520" y="1572768"/>
            <a:ext cx="512064" cy="512064"/>
          </a:xfrm>
          <a:prstGeom prst="ellipse">
            <a:avLst/>
          </a:prstGeom>
          <a:solidFill>
            <a:schemeClr val="tx1"/>
          </a:solidFill>
          <a:ln/>
        </p:spPr>
      </p:sp>
      <p:sp>
        <p:nvSpPr>
          <p:cNvPr id="5" name="Text 3"/>
          <p:cNvSpPr txBox="1"/>
          <p:nvPr/>
        </p:nvSpPr>
        <p:spPr>
          <a:xfrm>
            <a:off x="731520" y="1572768"/>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417320"/>
            <a:ext cx="3246120" cy="822960"/>
          </a:xfrm>
          <a:prstGeom prst="rect">
            <a:avLst/>
          </a:prstGeom>
          <a:noFill/>
          <a:ln/>
        </p:spPr>
        <p:txBody>
          <a:bodyPr wrap="square" lIns="0" tIns="0" rIns="0" bIns="0" rtlCol="0" anchor="ctr"/>
          <a:lstStyle/>
          <a:p>
            <a:pPr indent="0" marL="0">
              <a:buNone/>
            </a:pPr>
            <a:r>
              <a:rPr lang="en-US" sz="1700" b="1" dirty="0">
                <a:solidFill>
                  <a:schemeClr val="tx1"/>
                </a:solidFill>
              </a:rPr>
              <a:t>Enter the input features</a:t>
            </a:r>
            <a:endParaRPr lang="en-US" sz="1700" dirty="0"/>
          </a:p>
        </p:txBody>
      </p:sp>
      <p:sp>
        <p:nvSpPr>
          <p:cNvPr id="7" name="Step row 2"/>
          <p:cNvSpPr/>
          <p:nvPr/>
        </p:nvSpPr>
        <p:spPr>
          <a:xfrm>
            <a:off x="548640" y="2359152"/>
            <a:ext cx="4297680" cy="822960"/>
          </a:xfrm>
          <a:prstGeom prst="roundRect">
            <a:avLst>
              <a:gd name="adj" fmla="val 13333"/>
            </a:avLst>
          </a:prstGeom>
          <a:solidFill>
            <a:schemeClr val="bg2"/>
          </a:solidFill>
          <a:ln/>
          <a:effectLst>
            <a:outerShdw sx="100000" sy="100000" kx="0" ky="0" algn="bl" rotWithShape="0" blurRad="127000" dist="38100" dir="5400000">
              <a:srgbClr val="0B1F3A">
                <a:alpha val="14000"/>
              </a:srgbClr>
            </a:outerShdw>
          </a:effectLst>
        </p:spPr>
      </p:sp>
      <p:sp>
        <p:nvSpPr>
          <p:cNvPr id="8" name="Step number 2"/>
          <p:cNvSpPr/>
          <p:nvPr/>
        </p:nvSpPr>
        <p:spPr>
          <a:xfrm>
            <a:off x="731520" y="2514600"/>
            <a:ext cx="512064" cy="512064"/>
          </a:xfrm>
          <a:prstGeom prst="ellipse">
            <a:avLst/>
          </a:prstGeom>
          <a:solidFill>
            <a:schemeClr val="tx1"/>
          </a:solidFill>
          <a:ln/>
        </p:spPr>
      </p:sp>
      <p:sp>
        <p:nvSpPr>
          <p:cNvPr id="9" name="Text 7"/>
          <p:cNvSpPr txBox="1"/>
          <p:nvPr/>
        </p:nvSpPr>
        <p:spPr>
          <a:xfrm>
            <a:off x="731520" y="251460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359152"/>
            <a:ext cx="3246120" cy="822960"/>
          </a:xfrm>
          <a:prstGeom prst="rect">
            <a:avLst/>
          </a:prstGeom>
          <a:noFill/>
          <a:ln/>
        </p:spPr>
        <p:txBody>
          <a:bodyPr wrap="square" lIns="0" tIns="0" rIns="0" bIns="0" rtlCol="0" anchor="ctr"/>
          <a:lstStyle/>
          <a:p>
            <a:pPr indent="0" marL="0">
              <a:buNone/>
            </a:pPr>
            <a:r>
              <a:rPr lang="en-US" sz="1700" b="1" dirty="0">
                <a:solidFill>
                  <a:schemeClr val="tx1"/>
                </a:solidFill>
              </a:rPr>
              <a:t>Select a model</a:t>
            </a:r>
            <a:endParaRPr lang="en-US" sz="1700" dirty="0"/>
          </a:p>
        </p:txBody>
      </p:sp>
      <p:sp>
        <p:nvSpPr>
          <p:cNvPr id="11" name="Step row 3"/>
          <p:cNvSpPr/>
          <p:nvPr/>
        </p:nvSpPr>
        <p:spPr>
          <a:xfrm>
            <a:off x="548640" y="3300984"/>
            <a:ext cx="4297680" cy="822960"/>
          </a:xfrm>
          <a:prstGeom prst="roundRect">
            <a:avLst>
              <a:gd name="adj" fmla="val 13333"/>
            </a:avLst>
          </a:prstGeom>
          <a:solidFill>
            <a:schemeClr val="bg2"/>
          </a:solidFill>
          <a:ln/>
          <a:effectLst>
            <a:outerShdw sx="100000" sy="100000" kx="0" ky="0" algn="bl" rotWithShape="0" blurRad="127000" dist="38100" dir="5400000">
              <a:srgbClr val="0B1F3A">
                <a:alpha val="14000"/>
              </a:srgbClr>
            </a:outerShdw>
          </a:effectLst>
        </p:spPr>
      </p:sp>
      <p:sp>
        <p:nvSpPr>
          <p:cNvPr id="12" name="Step number 3"/>
          <p:cNvSpPr/>
          <p:nvPr/>
        </p:nvSpPr>
        <p:spPr>
          <a:xfrm>
            <a:off x="731520" y="3456432"/>
            <a:ext cx="512064" cy="512064"/>
          </a:xfrm>
          <a:prstGeom prst="ellipse">
            <a:avLst/>
          </a:prstGeom>
          <a:solidFill>
            <a:schemeClr val="tx1"/>
          </a:solidFill>
          <a:ln/>
        </p:spPr>
      </p:sp>
      <p:sp>
        <p:nvSpPr>
          <p:cNvPr id="13" name="Text 11"/>
          <p:cNvSpPr txBox="1"/>
          <p:nvPr/>
        </p:nvSpPr>
        <p:spPr>
          <a:xfrm>
            <a:off x="731520" y="345643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300984"/>
            <a:ext cx="3246120" cy="822960"/>
          </a:xfrm>
          <a:prstGeom prst="rect">
            <a:avLst/>
          </a:prstGeom>
          <a:noFill/>
          <a:ln/>
        </p:spPr>
        <p:txBody>
          <a:bodyPr wrap="square" lIns="0" tIns="0" rIns="0" bIns="0" rtlCol="0" anchor="ctr"/>
          <a:lstStyle/>
          <a:p>
            <a:pPr indent="0" marL="0">
              <a:buNone/>
            </a:pPr>
            <a:r>
              <a:rPr lang="en-US" sz="1700" b="1" dirty="0">
                <a:solidFill>
                  <a:schemeClr val="tx1"/>
                </a:solidFill>
              </a:rPr>
              <a:t>Generate the prediction</a:t>
            </a:r>
            <a:endParaRPr lang="en-US" sz="1700" dirty="0"/>
          </a:p>
        </p:txBody>
      </p:sp>
      <p:sp>
        <p:nvSpPr>
          <p:cNvPr id="15" name="Step row 4"/>
          <p:cNvSpPr/>
          <p:nvPr/>
        </p:nvSpPr>
        <p:spPr>
          <a:xfrm>
            <a:off x="548640" y="4242816"/>
            <a:ext cx="4297680" cy="822960"/>
          </a:xfrm>
          <a:prstGeom prst="roundRect">
            <a:avLst>
              <a:gd name="adj" fmla="val 13333"/>
            </a:avLst>
          </a:prstGeom>
          <a:solidFill>
            <a:schemeClr val="bg2"/>
          </a:solidFill>
          <a:ln/>
          <a:effectLst>
            <a:outerShdw sx="100000" sy="100000" kx="0" ky="0" algn="bl" rotWithShape="0" blurRad="127000" dist="38100" dir="5400000">
              <a:srgbClr val="0B1F3A">
                <a:alpha val="14000"/>
              </a:srgbClr>
            </a:outerShdw>
          </a:effectLst>
        </p:spPr>
      </p:sp>
      <p:sp>
        <p:nvSpPr>
          <p:cNvPr id="16" name="Step number 4"/>
          <p:cNvSpPr/>
          <p:nvPr/>
        </p:nvSpPr>
        <p:spPr>
          <a:xfrm>
            <a:off x="731520" y="4398264"/>
            <a:ext cx="512064" cy="512064"/>
          </a:xfrm>
          <a:prstGeom prst="ellipse">
            <a:avLst/>
          </a:prstGeom>
          <a:solidFill>
            <a:schemeClr val="tx1"/>
          </a:solidFill>
          <a:ln/>
        </p:spPr>
      </p:sp>
      <p:sp>
        <p:nvSpPr>
          <p:cNvPr id="17" name="Text 15"/>
          <p:cNvSpPr txBox="1"/>
          <p:nvPr/>
        </p:nvSpPr>
        <p:spPr>
          <a:xfrm>
            <a:off x="731520" y="4398264"/>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242816"/>
            <a:ext cx="3246120" cy="822960"/>
          </a:xfrm>
          <a:prstGeom prst="rect">
            <a:avLst/>
          </a:prstGeom>
          <a:noFill/>
          <a:ln/>
        </p:spPr>
        <p:txBody>
          <a:bodyPr wrap="square" lIns="0" tIns="0" rIns="0" bIns="0" rtlCol="0" anchor="ctr"/>
          <a:lstStyle/>
          <a:p>
            <a:pPr indent="0" marL="0">
              <a:buNone/>
            </a:pPr>
            <a:r>
              <a:rPr lang="en-US" sz="1700" b="1" dirty="0">
                <a:solidFill>
                  <a:schemeClr val="tx1"/>
                </a:solidFill>
              </a:rPr>
              <a:t>View the estimated probability</a:t>
            </a:r>
            <a:endParaRPr lang="en-US" sz="1700" dirty="0"/>
          </a:p>
        </p:txBody>
      </p:sp>
      <p:sp>
        <p:nvSpPr>
          <p:cNvPr id="19" name="Step row 5"/>
          <p:cNvSpPr/>
          <p:nvPr/>
        </p:nvSpPr>
        <p:spPr>
          <a:xfrm>
            <a:off x="548640" y="5184648"/>
            <a:ext cx="4297680" cy="822960"/>
          </a:xfrm>
          <a:prstGeom prst="roundRect">
            <a:avLst>
              <a:gd name="adj" fmla="val 13333"/>
            </a:avLst>
          </a:prstGeom>
          <a:solidFill>
            <a:schemeClr val="bg2"/>
          </a:solidFill>
          <a:ln/>
          <a:effectLst>
            <a:outerShdw sx="100000" sy="100000" kx="0" ky="0" algn="bl" rotWithShape="0" blurRad="127000" dist="38100" dir="5400000">
              <a:srgbClr val="0B1F3A">
                <a:alpha val="14000"/>
              </a:srgbClr>
            </a:outerShdw>
          </a:effectLst>
        </p:spPr>
      </p:sp>
      <p:sp>
        <p:nvSpPr>
          <p:cNvPr id="20" name="Step number 5"/>
          <p:cNvSpPr/>
          <p:nvPr/>
        </p:nvSpPr>
        <p:spPr>
          <a:xfrm>
            <a:off x="731520" y="5340096"/>
            <a:ext cx="512064" cy="512064"/>
          </a:xfrm>
          <a:prstGeom prst="ellipse">
            <a:avLst/>
          </a:prstGeom>
          <a:solidFill>
            <a:schemeClr val="tx1"/>
          </a:solidFill>
          <a:ln/>
        </p:spPr>
      </p:sp>
      <p:sp>
        <p:nvSpPr>
          <p:cNvPr id="21" name="Text 19"/>
          <p:cNvSpPr txBox="1"/>
          <p:nvPr/>
        </p:nvSpPr>
        <p:spPr>
          <a:xfrm>
            <a:off x="731520" y="5340096"/>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1463040" y="5184648"/>
            <a:ext cx="3246120" cy="822960"/>
          </a:xfrm>
          <a:prstGeom prst="rect">
            <a:avLst/>
          </a:prstGeom>
          <a:noFill/>
          <a:ln/>
        </p:spPr>
        <p:txBody>
          <a:bodyPr wrap="square" lIns="0" tIns="0" rIns="0" bIns="0" rtlCol="0" anchor="ctr"/>
          <a:lstStyle/>
          <a:p>
            <a:pPr indent="0" marL="0">
              <a:buNone/>
            </a:pPr>
            <a:r>
              <a:rPr lang="en-US" sz="1700" b="1" dirty="0">
                <a:solidFill>
                  <a:schemeClr val="tx1"/>
                </a:solidFill>
              </a:rPr>
              <a:t>Use “Compare Both” to compare outputs</a:t>
            </a:r>
            <a:endParaRPr lang="en-US" sz="1700" dirty="0"/>
          </a:p>
        </p:txBody>
      </p:sp>
      <p:sp>
        <p:nvSpPr>
          <p:cNvPr id="23" name="Screenshot placeholder input"/>
          <p:cNvSpPr/>
          <p:nvPr/>
        </p:nvSpPr>
        <p:spPr>
          <a:xfrm>
            <a:off x="5120640" y="1417320"/>
            <a:ext cx="3200400" cy="4709160"/>
          </a:xfrm>
          <a:prstGeom prst="roundRect">
            <a:avLst>
              <a:gd name="adj" fmla="val 2857"/>
            </a:avLst>
          </a:prstGeom>
          <a:solidFill>
            <a:schemeClr val="bg2"/>
          </a:solidFill>
          <a:ln w="19050">
            <a:solidFill>
              <a:schemeClr val="accent1"/>
            </a:solidFill>
            <a:prstDash val="dash"/>
          </a:ln>
        </p:spPr>
      </p:sp>
      <p:sp>
        <p:nvSpPr>
          <p:cNvPr id="24" name="Window dot"/>
          <p:cNvSpPr/>
          <p:nvPr/>
        </p:nvSpPr>
        <p:spPr>
          <a:xfrm>
            <a:off x="5303520" y="1581912"/>
            <a:ext cx="109728" cy="109728"/>
          </a:xfrm>
          <a:prstGeom prst="ellipse">
            <a:avLst/>
          </a:prstGeom>
          <a:solidFill>
            <a:schemeClr val="accent5"/>
          </a:solidFill>
          <a:ln/>
        </p:spPr>
      </p:sp>
      <p:sp>
        <p:nvSpPr>
          <p:cNvPr id="25" name="Window dot"/>
          <p:cNvSpPr/>
          <p:nvPr/>
        </p:nvSpPr>
        <p:spPr>
          <a:xfrm>
            <a:off x="5486400" y="1581912"/>
            <a:ext cx="109728" cy="109728"/>
          </a:xfrm>
          <a:prstGeom prst="ellipse">
            <a:avLst/>
          </a:prstGeom>
          <a:solidFill>
            <a:schemeClr val="accent5"/>
          </a:solidFill>
          <a:ln/>
        </p:spPr>
      </p:sp>
      <p:sp>
        <p:nvSpPr>
          <p:cNvPr id="26" name="Window dot"/>
          <p:cNvSpPr/>
          <p:nvPr/>
        </p:nvSpPr>
        <p:spPr>
          <a:xfrm>
            <a:off x="5669280" y="1581912"/>
            <a:ext cx="109728" cy="109728"/>
          </a:xfrm>
          <a:prstGeom prst="ellipse">
            <a:avLst/>
          </a:prstGeom>
          <a:solidFill>
            <a:schemeClr val="accent5"/>
          </a:solidFill>
          <a:ln/>
        </p:spPr>
      </p:sp>
      <p:pic>
        <p:nvPicPr>
          <p:cNvPr id="27" name="Image 0" descr="Screenshot placeholder icon">    </p:cNvPr>
          <p:cNvPicPr>
            <a:picLocks noChangeAspect="1"/>
          </p:cNvPicPr>
          <p:nvPr/>
        </p:nvPicPr>
        <p:blipFill>
          <a:blip r:embed="rId1"/>
          <a:stretch>
            <a:fillRect/>
          </a:stretch>
        </p:blipFill>
        <p:spPr>
          <a:xfrm>
            <a:off x="6446520" y="3177540"/>
            <a:ext cx="548640" cy="548640"/>
          </a:xfrm>
          <a:prstGeom prst="rect">
            <a:avLst/>
          </a:prstGeom>
        </p:spPr>
      </p:pic>
      <p:sp>
        <p:nvSpPr>
          <p:cNvPr id="28" name="Text 25"/>
          <p:cNvSpPr txBox="1"/>
          <p:nvPr/>
        </p:nvSpPr>
        <p:spPr>
          <a:xfrm>
            <a:off x="5120640" y="3817620"/>
            <a:ext cx="3200400" cy="274320"/>
          </a:xfrm>
          <a:prstGeom prst="rect">
            <a:avLst/>
          </a:prstGeom>
          <a:noFill/>
          <a:ln/>
        </p:spPr>
        <p:txBody>
          <a:bodyPr wrap="square" lIns="0" tIns="0" rIns="0" bIns="0" rtlCol="0" anchor="t"/>
          <a:lstStyle/>
          <a:p>
            <a:pPr algn="ctr" indent="0" marL="0">
              <a:buNone/>
            </a:pPr>
            <a:r>
              <a:rPr lang="en-US" sz="1200" b="1" spc="200" kern="0" dirty="0">
                <a:solidFill>
                  <a:schemeClr val="accent6"/>
                </a:solidFill>
              </a:rPr>
              <a:t>SCREENSHOT PLACEHOLDER</a:t>
            </a:r>
            <a:endParaRPr lang="en-US" sz="1200" dirty="0"/>
          </a:p>
        </p:txBody>
      </p:sp>
      <p:sp>
        <p:nvSpPr>
          <p:cNvPr id="29" name="Text 26"/>
          <p:cNvSpPr txBox="1"/>
          <p:nvPr/>
        </p:nvSpPr>
        <p:spPr>
          <a:xfrm>
            <a:off x="5257800" y="4119372"/>
            <a:ext cx="2926080" cy="457200"/>
          </a:xfrm>
          <a:prstGeom prst="rect">
            <a:avLst/>
          </a:prstGeom>
          <a:noFill/>
          <a:ln/>
        </p:spPr>
        <p:txBody>
          <a:bodyPr wrap="square" lIns="0" tIns="0" rIns="0" bIns="0" rtlCol="0" anchor="t"/>
          <a:lstStyle/>
          <a:p>
            <a:pPr algn="ctr" indent="0" marL="0">
              <a:buNone/>
            </a:pPr>
            <a:r>
              <a:rPr lang="en-US" sz="1400" dirty="0">
                <a:solidFill>
                  <a:schemeClr val="tx1"/>
                </a:solidFill>
              </a:rPr>
              <a:t>Streamlit input form and model selection</a:t>
            </a:r>
            <a:endParaRPr lang="en-US" sz="1400" dirty="0"/>
          </a:p>
        </p:txBody>
      </p:sp>
      <p:sp>
        <p:nvSpPr>
          <p:cNvPr id="30" name="Screenshot placeholder prediction"/>
          <p:cNvSpPr/>
          <p:nvPr/>
        </p:nvSpPr>
        <p:spPr>
          <a:xfrm>
            <a:off x="8503920" y="1417320"/>
            <a:ext cx="3136392" cy="2286000"/>
          </a:xfrm>
          <a:prstGeom prst="roundRect">
            <a:avLst>
              <a:gd name="adj" fmla="val 4000"/>
            </a:avLst>
          </a:prstGeom>
          <a:solidFill>
            <a:schemeClr val="bg2"/>
          </a:solidFill>
          <a:ln w="19050">
            <a:solidFill>
              <a:schemeClr val="accent1"/>
            </a:solidFill>
            <a:prstDash val="dash"/>
          </a:ln>
        </p:spPr>
      </p:sp>
      <p:sp>
        <p:nvSpPr>
          <p:cNvPr id="31" name="Window dot"/>
          <p:cNvSpPr/>
          <p:nvPr/>
        </p:nvSpPr>
        <p:spPr>
          <a:xfrm>
            <a:off x="8686800" y="1581912"/>
            <a:ext cx="109728" cy="109728"/>
          </a:xfrm>
          <a:prstGeom prst="ellipse">
            <a:avLst/>
          </a:prstGeom>
          <a:solidFill>
            <a:schemeClr val="accent5"/>
          </a:solidFill>
          <a:ln/>
        </p:spPr>
      </p:sp>
      <p:sp>
        <p:nvSpPr>
          <p:cNvPr id="32" name="Window dot"/>
          <p:cNvSpPr/>
          <p:nvPr/>
        </p:nvSpPr>
        <p:spPr>
          <a:xfrm>
            <a:off x="8869680" y="1581912"/>
            <a:ext cx="109728" cy="109728"/>
          </a:xfrm>
          <a:prstGeom prst="ellipse">
            <a:avLst/>
          </a:prstGeom>
          <a:solidFill>
            <a:schemeClr val="accent5"/>
          </a:solidFill>
          <a:ln/>
        </p:spPr>
      </p:sp>
      <p:sp>
        <p:nvSpPr>
          <p:cNvPr id="33" name="Window dot"/>
          <p:cNvSpPr/>
          <p:nvPr/>
        </p:nvSpPr>
        <p:spPr>
          <a:xfrm>
            <a:off x="9052560" y="1581912"/>
            <a:ext cx="109728" cy="109728"/>
          </a:xfrm>
          <a:prstGeom prst="ellipse">
            <a:avLst/>
          </a:prstGeom>
          <a:solidFill>
            <a:schemeClr val="accent5"/>
          </a:solidFill>
          <a:ln/>
        </p:spPr>
      </p:sp>
      <p:pic>
        <p:nvPicPr>
          <p:cNvPr id="34" name="Image 1" descr="Screenshot placeholder icon">    </p:cNvPr>
          <p:cNvPicPr>
            <a:picLocks noChangeAspect="1"/>
          </p:cNvPicPr>
          <p:nvPr/>
        </p:nvPicPr>
        <p:blipFill>
          <a:blip r:embed="rId2"/>
          <a:stretch>
            <a:fillRect/>
          </a:stretch>
        </p:blipFill>
        <p:spPr>
          <a:xfrm>
            <a:off x="9797796" y="1965960"/>
            <a:ext cx="548640" cy="548640"/>
          </a:xfrm>
          <a:prstGeom prst="rect">
            <a:avLst/>
          </a:prstGeom>
        </p:spPr>
      </p:pic>
      <p:sp>
        <p:nvSpPr>
          <p:cNvPr id="35" name="Text 31"/>
          <p:cNvSpPr txBox="1"/>
          <p:nvPr/>
        </p:nvSpPr>
        <p:spPr>
          <a:xfrm>
            <a:off x="8503920" y="2606040"/>
            <a:ext cx="3136392" cy="274320"/>
          </a:xfrm>
          <a:prstGeom prst="rect">
            <a:avLst/>
          </a:prstGeom>
          <a:noFill/>
          <a:ln/>
        </p:spPr>
        <p:txBody>
          <a:bodyPr wrap="square" lIns="0" tIns="0" rIns="0" bIns="0" rtlCol="0" anchor="t"/>
          <a:lstStyle/>
          <a:p>
            <a:pPr algn="ctr" indent="0" marL="0">
              <a:buNone/>
            </a:pPr>
            <a:r>
              <a:rPr lang="en-US" sz="1200" b="1" spc="200" kern="0" dirty="0">
                <a:solidFill>
                  <a:schemeClr val="accent6"/>
                </a:solidFill>
              </a:rPr>
              <a:t>SCREENSHOT PLACEHOLDER</a:t>
            </a:r>
            <a:endParaRPr lang="en-US" sz="1200" dirty="0"/>
          </a:p>
        </p:txBody>
      </p:sp>
      <p:sp>
        <p:nvSpPr>
          <p:cNvPr id="36" name="Text 32"/>
          <p:cNvSpPr txBox="1"/>
          <p:nvPr/>
        </p:nvSpPr>
        <p:spPr>
          <a:xfrm>
            <a:off x="8641080" y="2907792"/>
            <a:ext cx="2862072" cy="457200"/>
          </a:xfrm>
          <a:prstGeom prst="rect">
            <a:avLst/>
          </a:prstGeom>
          <a:noFill/>
          <a:ln/>
        </p:spPr>
        <p:txBody>
          <a:bodyPr wrap="square" lIns="0" tIns="0" rIns="0" bIns="0" rtlCol="0" anchor="t"/>
          <a:lstStyle/>
          <a:p>
            <a:pPr algn="ctr" indent="0" marL="0">
              <a:buNone/>
            </a:pPr>
            <a:r>
              <a:rPr lang="en-US" sz="1400" dirty="0">
                <a:solidFill>
                  <a:schemeClr val="tx1"/>
                </a:solidFill>
              </a:rPr>
              <a:t>Prediction and estimated probability</a:t>
            </a:r>
            <a:endParaRPr lang="en-US" sz="1400" dirty="0"/>
          </a:p>
        </p:txBody>
      </p:sp>
      <p:sp>
        <p:nvSpPr>
          <p:cNvPr id="37" name="Screenshot placeholder compare"/>
          <p:cNvSpPr/>
          <p:nvPr/>
        </p:nvSpPr>
        <p:spPr>
          <a:xfrm>
            <a:off x="8503920" y="3840480"/>
            <a:ext cx="3136392" cy="2286000"/>
          </a:xfrm>
          <a:prstGeom prst="roundRect">
            <a:avLst>
              <a:gd name="adj" fmla="val 4000"/>
            </a:avLst>
          </a:prstGeom>
          <a:solidFill>
            <a:schemeClr val="bg2"/>
          </a:solidFill>
          <a:ln w="19050">
            <a:solidFill>
              <a:schemeClr val="accent1"/>
            </a:solidFill>
            <a:prstDash val="dash"/>
          </a:ln>
        </p:spPr>
      </p:sp>
      <p:sp>
        <p:nvSpPr>
          <p:cNvPr id="38" name="Window dot"/>
          <p:cNvSpPr/>
          <p:nvPr/>
        </p:nvSpPr>
        <p:spPr>
          <a:xfrm>
            <a:off x="8686800" y="4005072"/>
            <a:ext cx="109728" cy="109728"/>
          </a:xfrm>
          <a:prstGeom prst="ellipse">
            <a:avLst/>
          </a:prstGeom>
          <a:solidFill>
            <a:schemeClr val="accent5"/>
          </a:solidFill>
          <a:ln/>
        </p:spPr>
      </p:sp>
      <p:sp>
        <p:nvSpPr>
          <p:cNvPr id="39" name="Window dot"/>
          <p:cNvSpPr/>
          <p:nvPr/>
        </p:nvSpPr>
        <p:spPr>
          <a:xfrm>
            <a:off x="8869680" y="4005072"/>
            <a:ext cx="109728" cy="109728"/>
          </a:xfrm>
          <a:prstGeom prst="ellipse">
            <a:avLst/>
          </a:prstGeom>
          <a:solidFill>
            <a:schemeClr val="accent5"/>
          </a:solidFill>
          <a:ln/>
        </p:spPr>
      </p:sp>
      <p:sp>
        <p:nvSpPr>
          <p:cNvPr id="40" name="Window dot"/>
          <p:cNvSpPr/>
          <p:nvPr/>
        </p:nvSpPr>
        <p:spPr>
          <a:xfrm>
            <a:off x="9052560" y="4005072"/>
            <a:ext cx="109728" cy="109728"/>
          </a:xfrm>
          <a:prstGeom prst="ellipse">
            <a:avLst/>
          </a:prstGeom>
          <a:solidFill>
            <a:schemeClr val="accent5"/>
          </a:solidFill>
          <a:ln/>
        </p:spPr>
      </p:sp>
      <p:pic>
        <p:nvPicPr>
          <p:cNvPr id="41" name="Image 2" descr="Screenshot placeholder icon">    </p:cNvPr>
          <p:cNvPicPr>
            <a:picLocks noChangeAspect="1"/>
          </p:cNvPicPr>
          <p:nvPr/>
        </p:nvPicPr>
        <p:blipFill>
          <a:blip r:embed="rId3"/>
          <a:stretch>
            <a:fillRect/>
          </a:stretch>
        </p:blipFill>
        <p:spPr>
          <a:xfrm>
            <a:off x="9797796" y="4389120"/>
            <a:ext cx="548640" cy="548640"/>
          </a:xfrm>
          <a:prstGeom prst="rect">
            <a:avLst/>
          </a:prstGeom>
        </p:spPr>
      </p:pic>
      <p:sp>
        <p:nvSpPr>
          <p:cNvPr id="42" name="Text 37"/>
          <p:cNvSpPr txBox="1"/>
          <p:nvPr/>
        </p:nvSpPr>
        <p:spPr>
          <a:xfrm>
            <a:off x="8503920" y="5029200"/>
            <a:ext cx="3136392" cy="274320"/>
          </a:xfrm>
          <a:prstGeom prst="rect">
            <a:avLst/>
          </a:prstGeom>
          <a:noFill/>
          <a:ln/>
        </p:spPr>
        <p:txBody>
          <a:bodyPr wrap="square" lIns="0" tIns="0" rIns="0" bIns="0" rtlCol="0" anchor="t"/>
          <a:lstStyle/>
          <a:p>
            <a:pPr algn="ctr" indent="0" marL="0">
              <a:buNone/>
            </a:pPr>
            <a:r>
              <a:rPr lang="en-US" sz="1200" b="1" spc="200" kern="0" dirty="0">
                <a:solidFill>
                  <a:schemeClr val="accent6"/>
                </a:solidFill>
              </a:rPr>
              <a:t>SCREENSHOT PLACEHOLDER</a:t>
            </a:r>
            <a:endParaRPr lang="en-US" sz="1200" dirty="0"/>
          </a:p>
        </p:txBody>
      </p:sp>
      <p:sp>
        <p:nvSpPr>
          <p:cNvPr id="43" name="Text 38"/>
          <p:cNvSpPr txBox="1"/>
          <p:nvPr/>
        </p:nvSpPr>
        <p:spPr>
          <a:xfrm>
            <a:off x="8641080" y="5330952"/>
            <a:ext cx="2862072" cy="457200"/>
          </a:xfrm>
          <a:prstGeom prst="rect">
            <a:avLst/>
          </a:prstGeom>
          <a:noFill/>
          <a:ln/>
        </p:spPr>
        <p:txBody>
          <a:bodyPr wrap="square" lIns="0" tIns="0" rIns="0" bIns="0" rtlCol="0" anchor="t"/>
          <a:lstStyle/>
          <a:p>
            <a:pPr algn="ctr" indent="0" marL="0">
              <a:buNone/>
            </a:pPr>
            <a:r>
              <a:rPr lang="en-US" sz="1400" dirty="0">
                <a:solidFill>
                  <a:schemeClr val="tx1"/>
                </a:solidFill>
              </a:rPr>
              <a:t>“Compare Both” 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Implementation and Technology Stack</a:t>
            </a:r>
            <a:endParaRPr lang="en-US" sz="3800" dirty="0"/>
          </a:p>
        </p:txBody>
      </p:sp>
      <p:sp>
        <p:nvSpPr>
          <p:cNvPr id="3" name="Stack card Model development"/>
          <p:cNvSpPr/>
          <p:nvPr/>
        </p:nvSpPr>
        <p:spPr>
          <a:xfrm>
            <a:off x="548640" y="1371600"/>
            <a:ext cx="3383280" cy="3611880"/>
          </a:xfrm>
          <a:prstGeom prst="roundRect">
            <a:avLst>
              <a:gd name="adj" fmla="val 3243"/>
            </a:avLst>
          </a:prstGeom>
          <a:solidFill>
            <a:schemeClr val="bg2"/>
          </a:solidFill>
          <a:ln/>
          <a:effectLst>
            <a:outerShdw sx="100000" sy="100000" kx="0" ky="0" algn="bl" rotWithShape="0" blurRad="127000" dist="38100" dir="5400000">
              <a:srgbClr val="0B1F3A">
                <a:alpha val="14000"/>
              </a:srgbClr>
            </a:outerShdw>
          </a:effectLst>
        </p:spPr>
      </p:sp>
      <p:sp>
        <p:nvSpPr>
          <p:cNvPr id="4" name="Icon circle FaFlask"/>
          <p:cNvSpPr/>
          <p:nvPr/>
        </p:nvSpPr>
        <p:spPr>
          <a:xfrm>
            <a:off x="822960" y="1627632"/>
            <a:ext cx="640080" cy="640080"/>
          </a:xfrm>
          <a:prstGeom prst="ellipse">
            <a:avLst/>
          </a:prstGeom>
          <a:solidFill>
            <a:schemeClr val="accent1"/>
          </a:solidFill>
          <a:ln/>
        </p:spPr>
      </p:sp>
      <p:pic>
        <p:nvPicPr>
          <p:cNvPr id="5" name="Image 0" descr="Flask icon">    </p:cNvPr>
          <p:cNvPicPr>
            <a:picLocks noChangeAspect="1"/>
          </p:cNvPicPr>
          <p:nvPr/>
        </p:nvPicPr>
        <p:blipFill>
          <a:blip r:embed="rId1"/>
          <a:stretch>
            <a:fillRect/>
          </a:stretch>
        </p:blipFill>
        <p:spPr>
          <a:xfrm>
            <a:off x="982980" y="1787652"/>
            <a:ext cx="320040" cy="320040"/>
          </a:xfrm>
          <a:prstGeom prst="rect">
            <a:avLst/>
          </a:prstGeom>
        </p:spPr>
      </p:pic>
      <p:sp>
        <p:nvSpPr>
          <p:cNvPr id="6" name="Text 3"/>
          <p:cNvSpPr txBox="1"/>
          <p:nvPr/>
        </p:nvSpPr>
        <p:spPr>
          <a:xfrm>
            <a:off x="1645920" y="1627632"/>
            <a:ext cx="2103120" cy="640080"/>
          </a:xfrm>
          <a:prstGeom prst="rect">
            <a:avLst/>
          </a:prstGeom>
          <a:noFill/>
          <a:ln/>
        </p:spPr>
        <p:txBody>
          <a:bodyPr wrap="square" lIns="0" tIns="0" rIns="0" bIns="0" rtlCol="0" anchor="ctr"/>
          <a:lstStyle/>
          <a:p>
            <a:pPr indent="0" marL="0">
              <a:buNone/>
            </a:pPr>
            <a:r>
              <a:rPr lang="en-US" sz="1300" b="1" spc="200" kern="0" dirty="0">
                <a:solidFill>
                  <a:schemeClr val="accent6"/>
                </a:solidFill>
              </a:rPr>
              <a:t>1  TRAIN</a:t>
            </a:r>
            <a:endParaRPr lang="en-US" sz="1300" dirty="0"/>
          </a:p>
        </p:txBody>
      </p:sp>
      <p:sp>
        <p:nvSpPr>
          <p:cNvPr id="7" name="Text 4"/>
          <p:cNvSpPr txBox="1"/>
          <p:nvPr/>
        </p:nvSpPr>
        <p:spPr>
          <a:xfrm>
            <a:off x="822960" y="2423160"/>
            <a:ext cx="2834640" cy="457200"/>
          </a:xfrm>
          <a:prstGeom prst="rect">
            <a:avLst/>
          </a:prstGeom>
          <a:noFill/>
          <a:ln/>
        </p:spPr>
        <p:txBody>
          <a:bodyPr wrap="square" lIns="0" tIns="0" rIns="0" bIns="0" rtlCol="0" anchor="t"/>
          <a:lstStyle/>
          <a:p>
            <a:pPr indent="0" marL="0">
              <a:buNone/>
            </a:pPr>
            <a:r>
              <a:rPr lang="en-US" sz="2000" b="1" dirty="0">
                <a:solidFill>
                  <a:schemeClr val="tx1"/>
                </a:solidFill>
              </a:rPr>
              <a:t>Model development</a:t>
            </a:r>
            <a:endParaRPr lang="en-US" sz="2000" dirty="0"/>
          </a:p>
        </p:txBody>
      </p:sp>
      <p:sp>
        <p:nvSpPr>
          <p:cNvPr id="8" name="Text 5"/>
          <p:cNvSpPr txBox="1"/>
          <p:nvPr/>
        </p:nvSpPr>
        <p:spPr>
          <a:xfrm>
            <a:off x="822960" y="2971800"/>
            <a:ext cx="283464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Python</a:t>
            </a:r>
            <a:endParaRPr lang="en-US" sz="1500" dirty="0"/>
          </a:p>
          <a:p>
            <a:pPr marL="203200" indent="-203200">
              <a:spcAft>
                <a:spcPts val="600"/>
              </a:spcAft>
              <a:buSzPct val="100000"/>
              <a:buChar char="•"/>
            </a:pPr>
            <a:r>
              <a:rPr lang="en-US" sz="1500" dirty="0">
                <a:solidFill>
                  <a:schemeClr val="tx2"/>
                </a:solidFill>
              </a:rPr>
              <a:t>Pandas and NumPy: data processing</a:t>
            </a:r>
            <a:endParaRPr lang="en-US" sz="1500" dirty="0"/>
          </a:p>
          <a:p>
            <a:pPr marL="203200" indent="-203200">
              <a:spcAft>
                <a:spcPts val="600"/>
              </a:spcAft>
              <a:buSzPct val="100000"/>
              <a:buChar char="•"/>
            </a:pPr>
            <a:r>
              <a:rPr lang="en-US" sz="1500" dirty="0">
                <a:solidFill>
                  <a:schemeClr val="tx2"/>
                </a:solidFill>
              </a:rPr>
              <a:t>Scikit-learn: model development</a:t>
            </a:r>
            <a:endParaRPr lang="en-US" sz="1500" dirty="0"/>
          </a:p>
          <a:p>
            <a:pPr marL="203200" indent="-203200">
              <a:spcAft>
                <a:spcPts val="600"/>
              </a:spcAft>
              <a:buSzPct val="100000"/>
              <a:buChar char="•"/>
            </a:pPr>
            <a:r>
              <a:rPr lang="en-US" sz="1500" dirty="0">
                <a:solidFill>
                  <a:schemeClr val="tx2"/>
                </a:solidFill>
              </a:rPr>
              <a:t>Google Colab: training environment</a:t>
            </a:r>
            <a:endParaRPr lang="en-US" sz="1500" dirty="0"/>
          </a:p>
        </p:txBody>
      </p:sp>
      <p:pic>
        <p:nvPicPr>
          <p:cNvPr id="9" name="Image 1" descr="Then">    </p:cNvPr>
          <p:cNvPicPr>
            <a:picLocks noChangeAspect="1"/>
          </p:cNvPicPr>
          <p:nvPr/>
        </p:nvPicPr>
        <p:blipFill>
          <a:blip r:embed="rId2"/>
          <a:stretch>
            <a:fillRect/>
          </a:stretch>
        </p:blipFill>
        <p:spPr>
          <a:xfrm>
            <a:off x="4032504" y="2971800"/>
            <a:ext cx="274320" cy="274320"/>
          </a:xfrm>
          <a:prstGeom prst="rect">
            <a:avLst/>
          </a:prstGeom>
        </p:spPr>
      </p:pic>
      <p:sp>
        <p:nvSpPr>
          <p:cNvPr id="10" name="Stack card Model persistence"/>
          <p:cNvSpPr/>
          <p:nvPr/>
        </p:nvSpPr>
        <p:spPr>
          <a:xfrm>
            <a:off x="4407408" y="1371600"/>
            <a:ext cx="3383280" cy="3611880"/>
          </a:xfrm>
          <a:prstGeom prst="roundRect">
            <a:avLst>
              <a:gd name="adj" fmla="val 3243"/>
            </a:avLst>
          </a:prstGeom>
          <a:solidFill>
            <a:schemeClr val="bg2"/>
          </a:solidFill>
          <a:ln/>
          <a:effectLst>
            <a:outerShdw sx="100000" sy="100000" kx="0" ky="0" algn="bl" rotWithShape="0" blurRad="127000" dist="38100" dir="5400000">
              <a:srgbClr val="0B1F3A">
                <a:alpha val="14000"/>
              </a:srgbClr>
            </a:outerShdw>
          </a:effectLst>
        </p:spPr>
      </p:sp>
      <p:sp>
        <p:nvSpPr>
          <p:cNvPr id="11" name="Icon circle FaSave"/>
          <p:cNvSpPr/>
          <p:nvPr/>
        </p:nvSpPr>
        <p:spPr>
          <a:xfrm>
            <a:off x="4681728" y="1627632"/>
            <a:ext cx="640080" cy="640080"/>
          </a:xfrm>
          <a:prstGeom prst="ellipse">
            <a:avLst/>
          </a:prstGeom>
          <a:solidFill>
            <a:schemeClr val="accent1"/>
          </a:solidFill>
          <a:ln/>
        </p:spPr>
      </p:sp>
      <p:pic>
        <p:nvPicPr>
          <p:cNvPr id="12" name="Image 2" descr="Save icon">    </p:cNvPr>
          <p:cNvPicPr>
            <a:picLocks noChangeAspect="1"/>
          </p:cNvPicPr>
          <p:nvPr/>
        </p:nvPicPr>
        <p:blipFill>
          <a:blip r:embed="rId3"/>
          <a:stretch>
            <a:fillRect/>
          </a:stretch>
        </p:blipFill>
        <p:spPr>
          <a:xfrm>
            <a:off x="4841748" y="1787652"/>
            <a:ext cx="320040" cy="320040"/>
          </a:xfrm>
          <a:prstGeom prst="rect">
            <a:avLst/>
          </a:prstGeom>
        </p:spPr>
      </p:pic>
      <p:sp>
        <p:nvSpPr>
          <p:cNvPr id="13" name="Text 8"/>
          <p:cNvSpPr txBox="1"/>
          <p:nvPr/>
        </p:nvSpPr>
        <p:spPr>
          <a:xfrm>
            <a:off x="5504688" y="1627632"/>
            <a:ext cx="2103120" cy="640080"/>
          </a:xfrm>
          <a:prstGeom prst="rect">
            <a:avLst/>
          </a:prstGeom>
          <a:noFill/>
          <a:ln/>
        </p:spPr>
        <p:txBody>
          <a:bodyPr wrap="square" lIns="0" tIns="0" rIns="0" bIns="0" rtlCol="0" anchor="ctr"/>
          <a:lstStyle/>
          <a:p>
            <a:pPr indent="0" marL="0">
              <a:buNone/>
            </a:pPr>
            <a:r>
              <a:rPr lang="en-US" sz="1300" b="1" spc="200" kern="0" dirty="0">
                <a:solidFill>
                  <a:schemeClr val="accent6"/>
                </a:solidFill>
              </a:rPr>
              <a:t>2  PERSIST</a:t>
            </a:r>
            <a:endParaRPr lang="en-US" sz="1300" dirty="0"/>
          </a:p>
        </p:txBody>
      </p:sp>
      <p:sp>
        <p:nvSpPr>
          <p:cNvPr id="14" name="Text 9"/>
          <p:cNvSpPr txBox="1"/>
          <p:nvPr/>
        </p:nvSpPr>
        <p:spPr>
          <a:xfrm>
            <a:off x="4681728" y="2423160"/>
            <a:ext cx="2834640" cy="457200"/>
          </a:xfrm>
          <a:prstGeom prst="rect">
            <a:avLst/>
          </a:prstGeom>
          <a:noFill/>
          <a:ln/>
        </p:spPr>
        <p:txBody>
          <a:bodyPr wrap="square" lIns="0" tIns="0" rIns="0" bIns="0" rtlCol="0" anchor="t"/>
          <a:lstStyle/>
          <a:p>
            <a:pPr indent="0" marL="0">
              <a:buNone/>
            </a:pPr>
            <a:r>
              <a:rPr lang="en-US" sz="2000" b="1" dirty="0">
                <a:solidFill>
                  <a:schemeClr val="tx1"/>
                </a:solidFill>
              </a:rPr>
              <a:t>Model persistence</a:t>
            </a:r>
            <a:endParaRPr lang="en-US" sz="2000" dirty="0"/>
          </a:p>
        </p:txBody>
      </p:sp>
      <p:sp>
        <p:nvSpPr>
          <p:cNvPr id="15" name="Text 10"/>
          <p:cNvSpPr txBox="1"/>
          <p:nvPr/>
        </p:nvSpPr>
        <p:spPr>
          <a:xfrm>
            <a:off x="4681728" y="2971800"/>
            <a:ext cx="283464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Joblib / pickle</a:t>
            </a:r>
            <a:endParaRPr lang="en-US" sz="1500" dirty="0"/>
          </a:p>
          <a:p>
            <a:pPr marL="203200" indent="-203200">
              <a:spcAft>
                <a:spcPts val="600"/>
              </a:spcAft>
              <a:buSzPct val="100000"/>
              <a:buChar char="•"/>
            </a:pPr>
            <a:r>
              <a:rPr lang="en-US" sz="1500" dirty="0">
                <a:solidFill>
                  <a:schemeClr val="tx2"/>
                </a:solidFill>
              </a:rPr>
              <a:t>Trained pipelines and feature metadata saved as .pkl files</a:t>
            </a:r>
            <a:endParaRPr lang="en-US" sz="1500" dirty="0"/>
          </a:p>
          <a:p>
            <a:pPr marL="203200" indent="-203200">
              <a:spcAft>
                <a:spcPts val="600"/>
              </a:spcAft>
              <a:buSzPct val="100000"/>
              <a:buChar char="•"/>
            </a:pPr>
            <a:r>
              <a:rPr lang="en-US" sz="1500" dirty="0">
                <a:solidFill>
                  <a:schemeClr val="tx2"/>
                </a:solidFill>
              </a:rPr>
              <a:t>Loaded by the app, no retraining</a:t>
            </a:r>
            <a:endParaRPr lang="en-US" sz="1500" dirty="0"/>
          </a:p>
        </p:txBody>
      </p:sp>
      <p:pic>
        <p:nvPicPr>
          <p:cNvPr id="16" name="Image 3" descr="Then">    </p:cNvPr>
          <p:cNvPicPr>
            <a:picLocks noChangeAspect="1"/>
          </p:cNvPicPr>
          <p:nvPr/>
        </p:nvPicPr>
        <p:blipFill>
          <a:blip r:embed="rId4"/>
          <a:stretch>
            <a:fillRect/>
          </a:stretch>
        </p:blipFill>
        <p:spPr>
          <a:xfrm>
            <a:off x="7891272" y="2971800"/>
            <a:ext cx="274320" cy="274320"/>
          </a:xfrm>
          <a:prstGeom prst="rect">
            <a:avLst/>
          </a:prstGeom>
        </p:spPr>
      </p:pic>
      <p:sp>
        <p:nvSpPr>
          <p:cNvPr id="17" name="Stack card Interactive application"/>
          <p:cNvSpPr/>
          <p:nvPr/>
        </p:nvSpPr>
        <p:spPr>
          <a:xfrm>
            <a:off x="8266176" y="1371600"/>
            <a:ext cx="3383280" cy="3611880"/>
          </a:xfrm>
          <a:prstGeom prst="roundRect">
            <a:avLst>
              <a:gd name="adj" fmla="val 3243"/>
            </a:avLst>
          </a:prstGeom>
          <a:solidFill>
            <a:schemeClr val="bg2"/>
          </a:solidFill>
          <a:ln/>
          <a:effectLst>
            <a:outerShdw sx="100000" sy="100000" kx="0" ky="0" algn="bl" rotWithShape="0" blurRad="127000" dist="38100" dir="5400000">
              <a:srgbClr val="0B1F3A">
                <a:alpha val="14000"/>
              </a:srgbClr>
            </a:outerShdw>
          </a:effectLst>
        </p:spPr>
      </p:sp>
      <p:sp>
        <p:nvSpPr>
          <p:cNvPr id="18" name="Icon circle FaDesktop"/>
          <p:cNvSpPr/>
          <p:nvPr/>
        </p:nvSpPr>
        <p:spPr>
          <a:xfrm>
            <a:off x="8540496" y="1627632"/>
            <a:ext cx="640080" cy="640080"/>
          </a:xfrm>
          <a:prstGeom prst="ellipse">
            <a:avLst/>
          </a:prstGeom>
          <a:solidFill>
            <a:schemeClr val="accent1"/>
          </a:solidFill>
          <a:ln/>
        </p:spPr>
      </p:sp>
      <p:pic>
        <p:nvPicPr>
          <p:cNvPr id="19" name="Image 4" descr="Desktop icon">    </p:cNvPr>
          <p:cNvPicPr>
            <a:picLocks noChangeAspect="1"/>
          </p:cNvPicPr>
          <p:nvPr/>
        </p:nvPicPr>
        <p:blipFill>
          <a:blip r:embed="rId5"/>
          <a:stretch>
            <a:fillRect/>
          </a:stretch>
        </p:blipFill>
        <p:spPr>
          <a:xfrm>
            <a:off x="8700516" y="1787652"/>
            <a:ext cx="320040" cy="320040"/>
          </a:xfrm>
          <a:prstGeom prst="rect">
            <a:avLst/>
          </a:prstGeom>
        </p:spPr>
      </p:pic>
      <p:sp>
        <p:nvSpPr>
          <p:cNvPr id="20" name="Text 13"/>
          <p:cNvSpPr txBox="1"/>
          <p:nvPr/>
        </p:nvSpPr>
        <p:spPr>
          <a:xfrm>
            <a:off x="9363456" y="1627632"/>
            <a:ext cx="2103120" cy="640080"/>
          </a:xfrm>
          <a:prstGeom prst="rect">
            <a:avLst/>
          </a:prstGeom>
          <a:noFill/>
          <a:ln/>
        </p:spPr>
        <p:txBody>
          <a:bodyPr wrap="square" lIns="0" tIns="0" rIns="0" bIns="0" rtlCol="0" anchor="ctr"/>
          <a:lstStyle/>
          <a:p>
            <a:pPr indent="0" marL="0">
              <a:buNone/>
            </a:pPr>
            <a:r>
              <a:rPr lang="en-US" sz="1300" b="1" spc="200" kern="0" dirty="0">
                <a:solidFill>
                  <a:schemeClr val="accent6"/>
                </a:solidFill>
              </a:rPr>
              <a:t>3  SERVE</a:t>
            </a:r>
            <a:endParaRPr lang="en-US" sz="1300" dirty="0"/>
          </a:p>
        </p:txBody>
      </p:sp>
      <p:sp>
        <p:nvSpPr>
          <p:cNvPr id="21" name="Text 14"/>
          <p:cNvSpPr txBox="1"/>
          <p:nvPr/>
        </p:nvSpPr>
        <p:spPr>
          <a:xfrm>
            <a:off x="8540496" y="2423160"/>
            <a:ext cx="2834640" cy="457200"/>
          </a:xfrm>
          <a:prstGeom prst="rect">
            <a:avLst/>
          </a:prstGeom>
          <a:noFill/>
          <a:ln/>
        </p:spPr>
        <p:txBody>
          <a:bodyPr wrap="square" lIns="0" tIns="0" rIns="0" bIns="0" rtlCol="0" anchor="t"/>
          <a:lstStyle/>
          <a:p>
            <a:pPr indent="0" marL="0">
              <a:buNone/>
            </a:pPr>
            <a:r>
              <a:rPr lang="en-US" sz="2000" b="1" dirty="0">
                <a:solidFill>
                  <a:schemeClr val="tx1"/>
                </a:solidFill>
              </a:rPr>
              <a:t>Interactive application</a:t>
            </a:r>
            <a:endParaRPr lang="en-US" sz="2000" dirty="0"/>
          </a:p>
        </p:txBody>
      </p:sp>
      <p:sp>
        <p:nvSpPr>
          <p:cNvPr id="22" name="Text 15"/>
          <p:cNvSpPr txBox="1"/>
          <p:nvPr/>
        </p:nvSpPr>
        <p:spPr>
          <a:xfrm>
            <a:off x="8540496" y="2971800"/>
            <a:ext cx="283464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Streamlit: interactive interface</a:t>
            </a:r>
            <a:endParaRPr lang="en-US" sz="1500" dirty="0"/>
          </a:p>
          <a:p>
            <a:pPr marL="203200" indent="-203200">
              <a:spcAft>
                <a:spcPts val="600"/>
              </a:spcAft>
              <a:buSzPct val="100000"/>
              <a:buChar char="•"/>
            </a:pPr>
            <a:r>
              <a:rPr lang="en-US" sz="1500" dirty="0">
                <a:solidFill>
                  <a:schemeClr val="tx2"/>
                </a:solidFill>
              </a:rPr>
              <a:t>Visual Studio Code: application development</a:t>
            </a:r>
            <a:endParaRPr lang="en-US" sz="1500" dirty="0"/>
          </a:p>
          <a:p>
            <a:pPr marL="203200" indent="-203200">
              <a:spcAft>
                <a:spcPts val="600"/>
              </a:spcAft>
              <a:buSzPct val="100000"/>
              <a:buChar char="•"/>
            </a:pPr>
            <a:r>
              <a:rPr lang="en-US" sz="1500" dirty="0">
                <a:solidFill>
                  <a:schemeClr val="tx2"/>
                </a:solidFill>
              </a:rPr>
              <a:t>app.py loads the saved pipelines</a:t>
            </a:r>
            <a:endParaRPr lang="en-US" sz="1500" dirty="0"/>
          </a:p>
        </p:txBody>
      </p:sp>
      <p:sp>
        <p:nvSpPr>
          <p:cNvPr id="23" name="Artifacts strip"/>
          <p:cNvSpPr/>
          <p:nvPr/>
        </p:nvSpPr>
        <p:spPr>
          <a:xfrm>
            <a:off x="548640" y="5166360"/>
            <a:ext cx="11094415" cy="1097280"/>
          </a:xfrm>
          <a:prstGeom prst="roundRect">
            <a:avLst>
              <a:gd name="adj" fmla="val 10000"/>
            </a:avLst>
          </a:prstGeom>
          <a:solidFill>
            <a:schemeClr val="tx1"/>
          </a:solidFill>
          <a:ln/>
        </p:spPr>
      </p:sp>
      <p:sp>
        <p:nvSpPr>
          <p:cNvPr id="24" name="Text 17"/>
          <p:cNvSpPr txBox="1"/>
          <p:nvPr/>
        </p:nvSpPr>
        <p:spPr>
          <a:xfrm>
            <a:off x="822960" y="5166360"/>
            <a:ext cx="2011680" cy="1097280"/>
          </a:xfrm>
          <a:prstGeom prst="rect">
            <a:avLst/>
          </a:prstGeom>
          <a:noFill/>
          <a:ln/>
        </p:spPr>
        <p:txBody>
          <a:bodyPr wrap="square" lIns="0" tIns="0" rIns="0" bIns="0" rtlCol="0" anchor="ctr"/>
          <a:lstStyle/>
          <a:p>
            <a:pPr indent="0" marL="0">
              <a:buNone/>
            </a:pPr>
            <a:r>
              <a:rPr lang="en-US" sz="1300" b="1" spc="200" kern="0" dirty="0">
                <a:solidFill>
                  <a:schemeClr val="accent2"/>
                </a:solidFill>
              </a:rPr>
              <a:t>PROJECT ARTIFACTS</a:t>
            </a:r>
            <a:endParaRPr lang="en-US" sz="1300" dirty="0"/>
          </a:p>
        </p:txBody>
      </p:sp>
      <p:sp>
        <p:nvSpPr>
          <p:cNvPr id="25" name="Chip app.py"/>
          <p:cNvSpPr/>
          <p:nvPr/>
        </p:nvSpPr>
        <p:spPr>
          <a:xfrm>
            <a:off x="2834640" y="5321808"/>
            <a:ext cx="769620" cy="365760"/>
          </a:xfrm>
          <a:prstGeom prst="roundRect">
            <a:avLst>
              <a:gd name="adj" fmla="val 50000"/>
            </a:avLst>
          </a:prstGeom>
          <a:solidFill>
            <a:schemeClr val="tx2"/>
          </a:solidFill>
          <a:ln w="9525">
            <a:solidFill>
              <a:srgbClr val="0E7490"/>
            </a:solidFill>
            <a:prstDash val="solid"/>
          </a:ln>
        </p:spPr>
      </p:sp>
      <p:sp>
        <p:nvSpPr>
          <p:cNvPr id="26" name="Text 19"/>
          <p:cNvSpPr txBox="1"/>
          <p:nvPr/>
        </p:nvSpPr>
        <p:spPr>
          <a:xfrm>
            <a:off x="2834640" y="5321808"/>
            <a:ext cx="769620" cy="365760"/>
          </a:xfrm>
          <a:prstGeom prst="rect">
            <a:avLst/>
          </a:prstGeom>
          <a:noFill/>
          <a:ln/>
        </p:spPr>
        <p:txBody>
          <a:bodyPr wrap="square" lIns="0" tIns="0" rIns="0" bIns="0" rtlCol="0" anchor="ctr"/>
          <a:lstStyle/>
          <a:p>
            <a:pPr algn="ctr" indent="0" marL="0">
              <a:buNone/>
            </a:pPr>
            <a:r>
              <a:rPr lang="en-US" sz="1300" dirty="0">
                <a:solidFill>
                  <a:schemeClr val="bg1"/>
                </a:solidFill>
              </a:rPr>
              <a:t>app.py</a:t>
            </a:r>
            <a:endParaRPr lang="en-US" sz="1300" dirty="0"/>
          </a:p>
        </p:txBody>
      </p:sp>
      <p:sp>
        <p:nvSpPr>
          <p:cNvPr id="27" name="Chip logistic_regression_pipeline.pkl"/>
          <p:cNvSpPr/>
          <p:nvPr/>
        </p:nvSpPr>
        <p:spPr>
          <a:xfrm>
            <a:off x="3713988" y="5321808"/>
            <a:ext cx="2915920" cy="365760"/>
          </a:xfrm>
          <a:prstGeom prst="roundRect">
            <a:avLst>
              <a:gd name="adj" fmla="val 50000"/>
            </a:avLst>
          </a:prstGeom>
          <a:solidFill>
            <a:schemeClr val="tx2"/>
          </a:solidFill>
          <a:ln w="9525">
            <a:solidFill>
              <a:srgbClr val="0E7490"/>
            </a:solidFill>
            <a:prstDash val="solid"/>
          </a:ln>
        </p:spPr>
      </p:sp>
      <p:sp>
        <p:nvSpPr>
          <p:cNvPr id="28" name="Text 21"/>
          <p:cNvSpPr txBox="1"/>
          <p:nvPr/>
        </p:nvSpPr>
        <p:spPr>
          <a:xfrm>
            <a:off x="3713988" y="5321808"/>
            <a:ext cx="2915920" cy="365760"/>
          </a:xfrm>
          <a:prstGeom prst="rect">
            <a:avLst/>
          </a:prstGeom>
          <a:noFill/>
          <a:ln/>
        </p:spPr>
        <p:txBody>
          <a:bodyPr wrap="square" lIns="0" tIns="0" rIns="0" bIns="0" rtlCol="0" anchor="ctr"/>
          <a:lstStyle/>
          <a:p>
            <a:pPr algn="ctr" indent="0" marL="0">
              <a:buNone/>
            </a:pPr>
            <a:r>
              <a:rPr lang="en-US" sz="1300" dirty="0">
                <a:solidFill>
                  <a:schemeClr val="bg1"/>
                </a:solidFill>
              </a:rPr>
              <a:t>logistic_regression_pipeline.pkl</a:t>
            </a:r>
            <a:endParaRPr lang="en-US" sz="1300" dirty="0"/>
          </a:p>
        </p:txBody>
      </p:sp>
      <p:sp>
        <p:nvSpPr>
          <p:cNvPr id="29" name="Chip random_forest_pipeline.pkl"/>
          <p:cNvSpPr/>
          <p:nvPr/>
        </p:nvSpPr>
        <p:spPr>
          <a:xfrm>
            <a:off x="6739636" y="5321808"/>
            <a:ext cx="2420620" cy="365760"/>
          </a:xfrm>
          <a:prstGeom prst="roundRect">
            <a:avLst>
              <a:gd name="adj" fmla="val 50000"/>
            </a:avLst>
          </a:prstGeom>
          <a:solidFill>
            <a:schemeClr val="tx2"/>
          </a:solidFill>
          <a:ln w="9525">
            <a:solidFill>
              <a:srgbClr val="0E7490"/>
            </a:solidFill>
            <a:prstDash val="solid"/>
          </a:ln>
        </p:spPr>
      </p:sp>
      <p:sp>
        <p:nvSpPr>
          <p:cNvPr id="30" name="Text 23"/>
          <p:cNvSpPr txBox="1"/>
          <p:nvPr/>
        </p:nvSpPr>
        <p:spPr>
          <a:xfrm>
            <a:off x="6739636" y="5321808"/>
            <a:ext cx="2420620" cy="365760"/>
          </a:xfrm>
          <a:prstGeom prst="rect">
            <a:avLst/>
          </a:prstGeom>
          <a:noFill/>
          <a:ln/>
        </p:spPr>
        <p:txBody>
          <a:bodyPr wrap="square" lIns="0" tIns="0" rIns="0" bIns="0" rtlCol="0" anchor="ctr"/>
          <a:lstStyle/>
          <a:p>
            <a:pPr algn="ctr" indent="0" marL="0">
              <a:buNone/>
            </a:pPr>
            <a:r>
              <a:rPr lang="en-US" sz="1300" dirty="0">
                <a:solidFill>
                  <a:schemeClr val="bg1"/>
                </a:solidFill>
              </a:rPr>
              <a:t>random_forest_pipeline.pkl</a:t>
            </a:r>
            <a:endParaRPr lang="en-US" sz="1300" dirty="0"/>
          </a:p>
        </p:txBody>
      </p:sp>
      <p:sp>
        <p:nvSpPr>
          <p:cNvPr id="31" name="Chip feature_metadata.pkl"/>
          <p:cNvSpPr/>
          <p:nvPr/>
        </p:nvSpPr>
        <p:spPr>
          <a:xfrm>
            <a:off x="9269984" y="5321808"/>
            <a:ext cx="1925320" cy="365760"/>
          </a:xfrm>
          <a:prstGeom prst="roundRect">
            <a:avLst>
              <a:gd name="adj" fmla="val 50000"/>
            </a:avLst>
          </a:prstGeom>
          <a:solidFill>
            <a:schemeClr val="tx2"/>
          </a:solidFill>
          <a:ln w="9525">
            <a:solidFill>
              <a:srgbClr val="0E7490"/>
            </a:solidFill>
            <a:prstDash val="solid"/>
          </a:ln>
        </p:spPr>
      </p:sp>
      <p:sp>
        <p:nvSpPr>
          <p:cNvPr id="32" name="Text 25"/>
          <p:cNvSpPr txBox="1"/>
          <p:nvPr/>
        </p:nvSpPr>
        <p:spPr>
          <a:xfrm>
            <a:off x="9269984" y="5321808"/>
            <a:ext cx="1925320" cy="365760"/>
          </a:xfrm>
          <a:prstGeom prst="rect">
            <a:avLst/>
          </a:prstGeom>
          <a:noFill/>
          <a:ln/>
        </p:spPr>
        <p:txBody>
          <a:bodyPr wrap="square" lIns="0" tIns="0" rIns="0" bIns="0" rtlCol="0" anchor="ctr"/>
          <a:lstStyle/>
          <a:p>
            <a:pPr algn="ctr" indent="0" marL="0">
              <a:buNone/>
            </a:pPr>
            <a:r>
              <a:rPr lang="en-US" sz="1300" dirty="0">
                <a:solidFill>
                  <a:schemeClr val="bg1"/>
                </a:solidFill>
              </a:rPr>
              <a:t>feature_metadata.pkl</a:t>
            </a:r>
            <a:endParaRPr lang="en-US" sz="1300" dirty="0"/>
          </a:p>
        </p:txBody>
      </p:sp>
      <p:sp>
        <p:nvSpPr>
          <p:cNvPr id="33" name="Chip requirements.txt"/>
          <p:cNvSpPr/>
          <p:nvPr/>
        </p:nvSpPr>
        <p:spPr>
          <a:xfrm>
            <a:off x="2834640" y="5797296"/>
            <a:ext cx="1595120" cy="365760"/>
          </a:xfrm>
          <a:prstGeom prst="roundRect">
            <a:avLst>
              <a:gd name="adj" fmla="val 50000"/>
            </a:avLst>
          </a:prstGeom>
          <a:solidFill>
            <a:schemeClr val="tx2"/>
          </a:solidFill>
          <a:ln w="9525">
            <a:solidFill>
              <a:srgbClr val="0E7490"/>
            </a:solidFill>
            <a:prstDash val="solid"/>
          </a:ln>
        </p:spPr>
      </p:sp>
      <p:sp>
        <p:nvSpPr>
          <p:cNvPr id="34" name="Text 27"/>
          <p:cNvSpPr txBox="1"/>
          <p:nvPr/>
        </p:nvSpPr>
        <p:spPr>
          <a:xfrm>
            <a:off x="2834640" y="5797296"/>
            <a:ext cx="1595120" cy="365760"/>
          </a:xfrm>
          <a:prstGeom prst="rect">
            <a:avLst/>
          </a:prstGeom>
          <a:noFill/>
          <a:ln/>
        </p:spPr>
        <p:txBody>
          <a:bodyPr wrap="square" lIns="0" tIns="0" rIns="0" bIns="0" rtlCol="0" anchor="ctr"/>
          <a:lstStyle/>
          <a:p>
            <a:pPr algn="ctr" indent="0" marL="0">
              <a:buNone/>
            </a:pPr>
            <a:r>
              <a:rPr lang="en-US" sz="1300" dirty="0">
                <a:solidFill>
                  <a:schemeClr val="bg1"/>
                </a:solidFill>
              </a:rPr>
              <a:t>requirements.txt</a:t>
            </a:r>
            <a:endParaRPr lang="en-US" sz="1300" dirty="0"/>
          </a:p>
        </p:txBody>
      </p:sp>
      <p:sp>
        <p:nvSpPr>
          <p:cNvPr id="35" name="Chip README.md"/>
          <p:cNvSpPr/>
          <p:nvPr/>
        </p:nvSpPr>
        <p:spPr>
          <a:xfrm>
            <a:off x="4539488" y="5797296"/>
            <a:ext cx="1017270" cy="365760"/>
          </a:xfrm>
          <a:prstGeom prst="roundRect">
            <a:avLst>
              <a:gd name="adj" fmla="val 50000"/>
            </a:avLst>
          </a:prstGeom>
          <a:solidFill>
            <a:schemeClr val="tx2"/>
          </a:solidFill>
          <a:ln w="9525">
            <a:solidFill>
              <a:srgbClr val="0E7490"/>
            </a:solidFill>
            <a:prstDash val="solid"/>
          </a:ln>
        </p:spPr>
      </p:sp>
      <p:sp>
        <p:nvSpPr>
          <p:cNvPr id="36" name="Text 29"/>
          <p:cNvSpPr txBox="1"/>
          <p:nvPr/>
        </p:nvSpPr>
        <p:spPr>
          <a:xfrm>
            <a:off x="4539488" y="5797296"/>
            <a:ext cx="1017270" cy="365760"/>
          </a:xfrm>
          <a:prstGeom prst="rect">
            <a:avLst/>
          </a:prstGeom>
          <a:noFill/>
          <a:ln/>
        </p:spPr>
        <p:txBody>
          <a:bodyPr wrap="square" lIns="0" tIns="0" rIns="0" bIns="0" rtlCol="0" anchor="ctr"/>
          <a:lstStyle/>
          <a:p>
            <a:pPr algn="ctr" indent="0" marL="0">
              <a:buNone/>
            </a:pPr>
            <a:r>
              <a:rPr lang="en-US" sz="1300" dirty="0">
                <a:solidFill>
                  <a:schemeClr val="bg1"/>
                </a:solidFill>
              </a:rPr>
              <a:t>README.md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tx1"/>
                </a:solidFill>
              </a:rPr>
              <a:t>Limitations and Future Enhancements</a:t>
            </a:r>
            <a:endParaRPr lang="en-US" sz="3800" dirty="0"/>
          </a:p>
        </p:txBody>
      </p:sp>
      <p:sp>
        <p:nvSpPr>
          <p:cNvPr id="3" name="Limitations card"/>
          <p:cNvSpPr/>
          <p:nvPr/>
        </p:nvSpPr>
        <p:spPr>
          <a:xfrm>
            <a:off x="548640" y="1371600"/>
            <a:ext cx="5413248" cy="4800600"/>
          </a:xfrm>
          <a:prstGeom prst="roundRect">
            <a:avLst>
              <a:gd name="adj" fmla="val 2286"/>
            </a:avLst>
          </a:prstGeom>
          <a:solidFill>
            <a:schemeClr val="bg2"/>
          </a:solidFill>
          <a:ln/>
          <a:effectLst>
            <a:outerShdw sx="100000" sy="100000" kx="0" ky="0" algn="bl" rotWithShape="0" blurRad="127000" dist="38100" dir="5400000">
              <a:srgbClr val="0B1F3A">
                <a:alpha val="14000"/>
              </a:srgbClr>
            </a:outerShdw>
          </a:effectLst>
        </p:spPr>
      </p:sp>
      <p:sp>
        <p:nvSpPr>
          <p:cNvPr id="4" name="Icon circle FaExclamationTriangle"/>
          <p:cNvSpPr/>
          <p:nvPr/>
        </p:nvSpPr>
        <p:spPr>
          <a:xfrm>
            <a:off x="822960" y="1600200"/>
            <a:ext cx="548640" cy="548640"/>
          </a:xfrm>
          <a:prstGeom prst="ellipse">
            <a:avLst/>
          </a:prstGeom>
          <a:solidFill>
            <a:schemeClr val="accent4"/>
          </a:solidFill>
          <a:ln/>
        </p:spPr>
      </p:sp>
      <p:pic>
        <p:nvPicPr>
          <p:cNvPr id="5" name="Image 0" descr="ExclamationTriangle icon">    </p:cNvPr>
          <p:cNvPicPr>
            <a:picLocks noChangeAspect="1"/>
          </p:cNvPicPr>
          <p:nvPr/>
        </p:nvPicPr>
        <p:blipFill>
          <a:blip r:embed="rId1"/>
          <a:stretch>
            <a:fillRect/>
          </a:stretch>
        </p:blipFill>
        <p:spPr>
          <a:xfrm>
            <a:off x="960120" y="1737360"/>
            <a:ext cx="274320" cy="274320"/>
          </a:xfrm>
          <a:prstGeom prst="rect">
            <a:avLst/>
          </a:prstGeom>
        </p:spPr>
      </p:pic>
      <p:sp>
        <p:nvSpPr>
          <p:cNvPr id="6" name="Text 3"/>
          <p:cNvSpPr txBox="1"/>
          <p:nvPr/>
        </p:nvSpPr>
        <p:spPr>
          <a:xfrm>
            <a:off x="1554480" y="1600200"/>
            <a:ext cx="3657600" cy="548640"/>
          </a:xfrm>
          <a:prstGeom prst="rect">
            <a:avLst/>
          </a:prstGeom>
          <a:noFill/>
          <a:ln/>
        </p:spPr>
        <p:txBody>
          <a:bodyPr wrap="square" lIns="0" tIns="0" rIns="0" bIns="0" rtlCol="0" anchor="ctr"/>
          <a:lstStyle/>
          <a:p>
            <a:pPr indent="0" marL="0">
              <a:buNone/>
            </a:pPr>
            <a:r>
              <a:rPr lang="en-US" sz="2400" b="1" dirty="0">
                <a:solidFill>
                  <a:schemeClr val="tx1"/>
                </a:solidFill>
              </a:rPr>
              <a:t>Limitations</a:t>
            </a:r>
            <a:endParaRPr lang="en-US" sz="2400" dirty="0"/>
          </a:p>
        </p:txBody>
      </p:sp>
      <p:sp>
        <p:nvSpPr>
          <p:cNvPr id="7" name="Limitation bullet 1"/>
          <p:cNvSpPr/>
          <p:nvPr/>
        </p:nvSpPr>
        <p:spPr>
          <a:xfrm>
            <a:off x="868680" y="2628900"/>
            <a:ext cx="182880" cy="182880"/>
          </a:xfrm>
          <a:prstGeom prst="ellipse">
            <a:avLst/>
          </a:prstGeom>
          <a:solidFill>
            <a:schemeClr val="accent4"/>
          </a:solidFill>
          <a:ln/>
        </p:spPr>
      </p:sp>
      <p:sp>
        <p:nvSpPr>
          <p:cNvPr id="8" name="Text 5"/>
          <p:cNvSpPr txBox="1"/>
          <p:nvPr/>
        </p:nvSpPr>
        <p:spPr>
          <a:xfrm>
            <a:off x="1234440" y="2377440"/>
            <a:ext cx="4453128" cy="685800"/>
          </a:xfrm>
          <a:prstGeom prst="rect">
            <a:avLst/>
          </a:prstGeom>
          <a:noFill/>
          <a:ln/>
        </p:spPr>
        <p:txBody>
          <a:bodyPr wrap="square" lIns="0" tIns="0" rIns="0" bIns="0" rtlCol="0" anchor="ctr"/>
          <a:lstStyle/>
          <a:p>
            <a:pPr indent="0" marL="0">
              <a:buNone/>
            </a:pPr>
            <a:r>
              <a:rPr lang="en-US" sz="1500" dirty="0">
                <a:solidFill>
                  <a:schemeClr val="tx1"/>
                </a:solidFill>
              </a:rPr>
              <a:t>Predictions depend on the quality and representativeness of the training data</a:t>
            </a:r>
            <a:endParaRPr lang="en-US" sz="1500" dirty="0"/>
          </a:p>
        </p:txBody>
      </p:sp>
      <p:sp>
        <p:nvSpPr>
          <p:cNvPr id="9" name="Limitation bullet 2"/>
          <p:cNvSpPr/>
          <p:nvPr/>
        </p:nvSpPr>
        <p:spPr>
          <a:xfrm>
            <a:off x="868680" y="3378708"/>
            <a:ext cx="182880" cy="182880"/>
          </a:xfrm>
          <a:prstGeom prst="ellipse">
            <a:avLst/>
          </a:prstGeom>
          <a:solidFill>
            <a:schemeClr val="accent4"/>
          </a:solidFill>
          <a:ln/>
        </p:spPr>
      </p:sp>
      <p:sp>
        <p:nvSpPr>
          <p:cNvPr id="10" name="Text 7"/>
          <p:cNvSpPr txBox="1"/>
          <p:nvPr/>
        </p:nvSpPr>
        <p:spPr>
          <a:xfrm>
            <a:off x="1234440" y="3127248"/>
            <a:ext cx="4453128" cy="685800"/>
          </a:xfrm>
          <a:prstGeom prst="rect">
            <a:avLst/>
          </a:prstGeom>
          <a:noFill/>
          <a:ln/>
        </p:spPr>
        <p:txBody>
          <a:bodyPr wrap="square" lIns="0" tIns="0" rIns="0" bIns="0" rtlCol="0" anchor="ctr"/>
          <a:lstStyle/>
          <a:p>
            <a:pPr indent="0" marL="0">
              <a:buNone/>
            </a:pPr>
            <a:r>
              <a:rPr lang="en-US" sz="1500" dirty="0">
                <a:solidFill>
                  <a:schemeClr val="tx1"/>
                </a:solidFill>
              </a:rPr>
              <a:t>Model-estimated probabilities are not guaranteed to represent calibrated real-world medical risk</a:t>
            </a:r>
            <a:endParaRPr lang="en-US" sz="1500" dirty="0"/>
          </a:p>
        </p:txBody>
      </p:sp>
      <p:sp>
        <p:nvSpPr>
          <p:cNvPr id="11" name="Limitation bullet 3"/>
          <p:cNvSpPr/>
          <p:nvPr/>
        </p:nvSpPr>
        <p:spPr>
          <a:xfrm>
            <a:off x="868680" y="4128516"/>
            <a:ext cx="182880" cy="182880"/>
          </a:xfrm>
          <a:prstGeom prst="ellipse">
            <a:avLst/>
          </a:prstGeom>
          <a:solidFill>
            <a:schemeClr val="accent4"/>
          </a:solidFill>
          <a:ln/>
        </p:spPr>
      </p:sp>
      <p:sp>
        <p:nvSpPr>
          <p:cNvPr id="12" name="Text 9"/>
          <p:cNvSpPr txBox="1"/>
          <p:nvPr/>
        </p:nvSpPr>
        <p:spPr>
          <a:xfrm>
            <a:off x="1234440" y="3877056"/>
            <a:ext cx="4453128" cy="685800"/>
          </a:xfrm>
          <a:prstGeom prst="rect">
            <a:avLst/>
          </a:prstGeom>
          <a:noFill/>
          <a:ln/>
        </p:spPr>
        <p:txBody>
          <a:bodyPr wrap="square" lIns="0" tIns="0" rIns="0" bIns="0" rtlCol="0" anchor="ctr"/>
          <a:lstStyle/>
          <a:p>
            <a:pPr indent="0" marL="0">
              <a:buNone/>
            </a:pPr>
            <a:r>
              <a:rPr lang="en-US" sz="1500" dirty="0">
                <a:solidFill>
                  <a:schemeClr val="tx1"/>
                </a:solidFill>
              </a:rPr>
              <a:t>Recall is below 70% for both models, so some positive cases may be missed</a:t>
            </a:r>
            <a:endParaRPr lang="en-US" sz="1500" dirty="0"/>
          </a:p>
        </p:txBody>
      </p:sp>
      <p:sp>
        <p:nvSpPr>
          <p:cNvPr id="13" name="Limitation bullet 4"/>
          <p:cNvSpPr/>
          <p:nvPr/>
        </p:nvSpPr>
        <p:spPr>
          <a:xfrm>
            <a:off x="868680" y="4878324"/>
            <a:ext cx="182880" cy="182880"/>
          </a:xfrm>
          <a:prstGeom prst="ellipse">
            <a:avLst/>
          </a:prstGeom>
          <a:solidFill>
            <a:schemeClr val="accent4"/>
          </a:solidFill>
          <a:ln/>
        </p:spPr>
      </p:sp>
      <p:sp>
        <p:nvSpPr>
          <p:cNvPr id="14" name="Text 11"/>
          <p:cNvSpPr txBox="1"/>
          <p:nvPr/>
        </p:nvSpPr>
        <p:spPr>
          <a:xfrm>
            <a:off x="1234440" y="4626864"/>
            <a:ext cx="4453128" cy="685800"/>
          </a:xfrm>
          <a:prstGeom prst="rect">
            <a:avLst/>
          </a:prstGeom>
          <a:noFill/>
          <a:ln/>
        </p:spPr>
        <p:txBody>
          <a:bodyPr wrap="square" lIns="0" tIns="0" rIns="0" bIns="0" rtlCol="0" anchor="ctr"/>
          <a:lstStyle/>
          <a:p>
            <a:pPr indent="0" marL="0">
              <a:buNone/>
            </a:pPr>
            <a:r>
              <a:rPr lang="en-US" sz="1500" dirty="0">
                <a:solidFill>
                  <a:schemeClr val="tx1"/>
                </a:solidFill>
              </a:rPr>
              <a:t>Not a substitute for medical diagnosis</a:t>
            </a:r>
            <a:endParaRPr lang="en-US" sz="1500" dirty="0"/>
          </a:p>
        </p:txBody>
      </p:sp>
      <p:sp>
        <p:nvSpPr>
          <p:cNvPr id="15" name="Recall stat"/>
          <p:cNvSpPr/>
          <p:nvPr/>
        </p:nvSpPr>
        <p:spPr>
          <a:xfrm>
            <a:off x="822960" y="5303520"/>
            <a:ext cx="4864608" cy="640080"/>
          </a:xfrm>
          <a:prstGeom prst="roundRect">
            <a:avLst>
              <a:gd name="adj" fmla="val 17143"/>
            </a:avLst>
          </a:prstGeom>
          <a:solidFill>
            <a:schemeClr val="tx1"/>
          </a:solidFill>
          <a:ln/>
        </p:spPr>
      </p:sp>
      <p:sp>
        <p:nvSpPr>
          <p:cNvPr id="16" name="Text 13"/>
          <p:cNvSpPr txBox="1"/>
          <p:nvPr/>
        </p:nvSpPr>
        <p:spPr>
          <a:xfrm>
            <a:off x="822960" y="5303520"/>
            <a:ext cx="4864608" cy="640080"/>
          </a:xfrm>
          <a:prstGeom prst="rect">
            <a:avLst/>
          </a:prstGeom>
          <a:noFill/>
          <a:ln/>
        </p:spPr>
        <p:txBody>
          <a:bodyPr wrap="square" lIns="0" tIns="0" rIns="0" bIns="0" rtlCol="0" anchor="ctr"/>
          <a:lstStyle/>
          <a:p>
            <a:pPr algn="ctr" indent="0" marL="0">
              <a:buNone/>
            </a:pPr>
            <a:r>
              <a:rPr lang="en-US" sz="1400" b="1" dirty="0">
                <a:solidFill>
                  <a:schemeClr val="accent2"/>
                </a:solidFill>
              </a:rPr>
              <a:t>Recall:  </a:t>
            </a:r>
            <a:pPr algn="ctr" indent="0" marL="0">
              <a:buNone/>
            </a:pPr>
            <a:r>
              <a:rPr lang="en-US" sz="1400" b="1" dirty="0">
                <a:solidFill>
                  <a:schemeClr val="bg1"/>
                </a:solidFill>
              </a:rPr>
              <a:t>Logistic Regression 63.86%  |  Random Forest 68.87%</a:t>
            </a:r>
            <a:endParaRPr lang="en-US" sz="1400" dirty="0"/>
          </a:p>
        </p:txBody>
      </p:sp>
      <p:sp>
        <p:nvSpPr>
          <p:cNvPr id="17" name="Future card"/>
          <p:cNvSpPr/>
          <p:nvPr/>
        </p:nvSpPr>
        <p:spPr>
          <a:xfrm>
            <a:off x="6227064" y="1371600"/>
            <a:ext cx="5413248" cy="4800600"/>
          </a:xfrm>
          <a:prstGeom prst="roundRect">
            <a:avLst>
              <a:gd name="adj" fmla="val 2286"/>
            </a:avLst>
          </a:prstGeom>
          <a:solidFill>
            <a:schemeClr val="bg2"/>
          </a:solidFill>
          <a:ln/>
          <a:effectLst>
            <a:outerShdw sx="100000" sy="100000" kx="0" ky="0" algn="bl" rotWithShape="0" blurRad="127000" dist="38100" dir="5400000">
              <a:srgbClr val="0B1F3A">
                <a:alpha val="14000"/>
              </a:srgbClr>
            </a:outerShdw>
          </a:effectLst>
        </p:spPr>
      </p:sp>
      <p:sp>
        <p:nvSpPr>
          <p:cNvPr id="18" name="Icon circle FaLightbulb"/>
          <p:cNvSpPr/>
          <p:nvPr/>
        </p:nvSpPr>
        <p:spPr>
          <a:xfrm>
            <a:off x="6501384" y="1600200"/>
            <a:ext cx="548640" cy="548640"/>
          </a:xfrm>
          <a:prstGeom prst="ellipse">
            <a:avLst/>
          </a:prstGeom>
          <a:solidFill>
            <a:schemeClr val="accent1"/>
          </a:solidFill>
          <a:ln/>
        </p:spPr>
      </p:sp>
      <p:pic>
        <p:nvPicPr>
          <p:cNvPr id="19" name="Image 1" descr="Lightbulb icon">    </p:cNvPr>
          <p:cNvPicPr>
            <a:picLocks noChangeAspect="1"/>
          </p:cNvPicPr>
          <p:nvPr/>
        </p:nvPicPr>
        <p:blipFill>
          <a:blip r:embed="rId2"/>
          <a:stretch>
            <a:fillRect/>
          </a:stretch>
        </p:blipFill>
        <p:spPr>
          <a:xfrm>
            <a:off x="6638544" y="1737360"/>
            <a:ext cx="274320" cy="274320"/>
          </a:xfrm>
          <a:prstGeom prst="rect">
            <a:avLst/>
          </a:prstGeom>
        </p:spPr>
      </p:pic>
      <p:sp>
        <p:nvSpPr>
          <p:cNvPr id="20" name="Text 16"/>
          <p:cNvSpPr txBox="1"/>
          <p:nvPr/>
        </p:nvSpPr>
        <p:spPr>
          <a:xfrm>
            <a:off x="7232904" y="1600200"/>
            <a:ext cx="4114800" cy="548640"/>
          </a:xfrm>
          <a:prstGeom prst="rect">
            <a:avLst/>
          </a:prstGeom>
          <a:noFill/>
          <a:ln/>
        </p:spPr>
        <p:txBody>
          <a:bodyPr wrap="square" lIns="0" tIns="0" rIns="0" bIns="0" rtlCol="0" anchor="ctr"/>
          <a:lstStyle/>
          <a:p>
            <a:pPr indent="0" marL="0">
              <a:buNone/>
            </a:pPr>
            <a:r>
              <a:rPr lang="en-US" sz="2400" b="1" dirty="0">
                <a:solidFill>
                  <a:schemeClr val="tx1"/>
                </a:solidFill>
              </a:rPr>
              <a:t>Future Enhancements</a:t>
            </a:r>
            <a:endParaRPr lang="en-US" sz="2400" dirty="0"/>
          </a:p>
        </p:txBody>
      </p:sp>
      <p:sp>
        <p:nvSpPr>
          <p:cNvPr id="21" name="Future bullet 1"/>
          <p:cNvSpPr/>
          <p:nvPr/>
        </p:nvSpPr>
        <p:spPr>
          <a:xfrm>
            <a:off x="6547104" y="2628900"/>
            <a:ext cx="182880" cy="182880"/>
          </a:xfrm>
          <a:prstGeom prst="ellipse">
            <a:avLst/>
          </a:prstGeom>
          <a:solidFill>
            <a:schemeClr val="accent1"/>
          </a:solidFill>
          <a:ln/>
        </p:spPr>
      </p:sp>
      <p:sp>
        <p:nvSpPr>
          <p:cNvPr id="22" name="Text 18"/>
          <p:cNvSpPr txBox="1"/>
          <p:nvPr/>
        </p:nvSpPr>
        <p:spPr>
          <a:xfrm>
            <a:off x="6912864" y="2377440"/>
            <a:ext cx="4453128" cy="685800"/>
          </a:xfrm>
          <a:prstGeom prst="rect">
            <a:avLst/>
          </a:prstGeom>
          <a:noFill/>
          <a:ln/>
        </p:spPr>
        <p:txBody>
          <a:bodyPr wrap="square" lIns="0" tIns="0" rIns="0" bIns="0" rtlCol="0" anchor="ctr"/>
          <a:lstStyle/>
          <a:p>
            <a:pPr indent="0" marL="0">
              <a:buNone/>
            </a:pPr>
            <a:r>
              <a:rPr lang="en-US" sz="1500" dirty="0">
                <a:solidFill>
                  <a:schemeClr val="tx1"/>
                </a:solidFill>
              </a:rPr>
              <a:t>Validate performance on independent external datasets</a:t>
            </a:r>
            <a:endParaRPr lang="en-US" sz="1500" dirty="0"/>
          </a:p>
        </p:txBody>
      </p:sp>
      <p:sp>
        <p:nvSpPr>
          <p:cNvPr id="23" name="Future bullet 2"/>
          <p:cNvSpPr/>
          <p:nvPr/>
        </p:nvSpPr>
        <p:spPr>
          <a:xfrm>
            <a:off x="6547104" y="3378708"/>
            <a:ext cx="182880" cy="182880"/>
          </a:xfrm>
          <a:prstGeom prst="ellipse">
            <a:avLst/>
          </a:prstGeom>
          <a:solidFill>
            <a:schemeClr val="accent1"/>
          </a:solidFill>
          <a:ln/>
        </p:spPr>
      </p:sp>
      <p:sp>
        <p:nvSpPr>
          <p:cNvPr id="24" name="Text 20"/>
          <p:cNvSpPr txBox="1"/>
          <p:nvPr/>
        </p:nvSpPr>
        <p:spPr>
          <a:xfrm>
            <a:off x="6912864" y="3127248"/>
            <a:ext cx="4453128" cy="685800"/>
          </a:xfrm>
          <a:prstGeom prst="rect">
            <a:avLst/>
          </a:prstGeom>
          <a:noFill/>
          <a:ln/>
        </p:spPr>
        <p:txBody>
          <a:bodyPr wrap="square" lIns="0" tIns="0" rIns="0" bIns="0" rtlCol="0" anchor="ctr"/>
          <a:lstStyle/>
          <a:p>
            <a:pPr indent="0" marL="0">
              <a:buNone/>
            </a:pPr>
            <a:r>
              <a:rPr lang="en-US" sz="1500" dirty="0">
                <a:solidFill>
                  <a:schemeClr val="tx1"/>
                </a:solidFill>
              </a:rPr>
              <a:t>Evaluate probability calibration and decision thresholds</a:t>
            </a:r>
            <a:endParaRPr lang="en-US" sz="1500" dirty="0"/>
          </a:p>
        </p:txBody>
      </p:sp>
      <p:sp>
        <p:nvSpPr>
          <p:cNvPr id="25" name="Future bullet 3"/>
          <p:cNvSpPr/>
          <p:nvPr/>
        </p:nvSpPr>
        <p:spPr>
          <a:xfrm>
            <a:off x="6547104" y="4128516"/>
            <a:ext cx="182880" cy="182880"/>
          </a:xfrm>
          <a:prstGeom prst="ellipse">
            <a:avLst/>
          </a:prstGeom>
          <a:solidFill>
            <a:schemeClr val="accent1"/>
          </a:solidFill>
          <a:ln/>
        </p:spPr>
      </p:sp>
      <p:sp>
        <p:nvSpPr>
          <p:cNvPr id="26" name="Text 22"/>
          <p:cNvSpPr txBox="1"/>
          <p:nvPr/>
        </p:nvSpPr>
        <p:spPr>
          <a:xfrm>
            <a:off x="6912864" y="3877056"/>
            <a:ext cx="4453128" cy="685800"/>
          </a:xfrm>
          <a:prstGeom prst="rect">
            <a:avLst/>
          </a:prstGeom>
          <a:noFill/>
          <a:ln/>
        </p:spPr>
        <p:txBody>
          <a:bodyPr wrap="square" lIns="0" tIns="0" rIns="0" bIns="0" rtlCol="0" anchor="ctr"/>
          <a:lstStyle/>
          <a:p>
            <a:pPr indent="0" marL="0">
              <a:buNone/>
            </a:pPr>
            <a:r>
              <a:rPr lang="en-US" sz="1500" dirty="0">
                <a:solidFill>
                  <a:schemeClr val="tx1"/>
                </a:solidFill>
              </a:rPr>
              <a:t>Improve recall while monitoring false positives</a:t>
            </a:r>
            <a:endParaRPr lang="en-US" sz="1500" dirty="0"/>
          </a:p>
        </p:txBody>
      </p:sp>
      <p:sp>
        <p:nvSpPr>
          <p:cNvPr id="27" name="Future bullet 4"/>
          <p:cNvSpPr/>
          <p:nvPr/>
        </p:nvSpPr>
        <p:spPr>
          <a:xfrm>
            <a:off x="6547104" y="4878324"/>
            <a:ext cx="182880" cy="182880"/>
          </a:xfrm>
          <a:prstGeom prst="ellipse">
            <a:avLst/>
          </a:prstGeom>
          <a:solidFill>
            <a:schemeClr val="accent1"/>
          </a:solidFill>
          <a:ln/>
        </p:spPr>
      </p:sp>
      <p:sp>
        <p:nvSpPr>
          <p:cNvPr id="28" name="Text 24"/>
          <p:cNvSpPr txBox="1"/>
          <p:nvPr/>
        </p:nvSpPr>
        <p:spPr>
          <a:xfrm>
            <a:off x="6912864" y="4626864"/>
            <a:ext cx="4453128" cy="685800"/>
          </a:xfrm>
          <a:prstGeom prst="rect">
            <a:avLst/>
          </a:prstGeom>
          <a:noFill/>
          <a:ln/>
        </p:spPr>
        <p:txBody>
          <a:bodyPr wrap="square" lIns="0" tIns="0" rIns="0" bIns="0" rtlCol="0" anchor="ctr"/>
          <a:lstStyle/>
          <a:p>
            <a:pPr indent="0" marL="0">
              <a:buNone/>
            </a:pPr>
            <a:r>
              <a:rPr lang="en-US" sz="1500" dirty="0">
                <a:solidFill>
                  <a:schemeClr val="tx1"/>
                </a:solidFill>
              </a:rPr>
              <a:t>Improve interface accessibility and usability</a:t>
            </a:r>
            <a:endParaRPr lang="en-US" sz="1500" dirty="0"/>
          </a:p>
        </p:txBody>
      </p:sp>
      <p:sp>
        <p:nvSpPr>
          <p:cNvPr id="29" name="Future bullet 5"/>
          <p:cNvSpPr/>
          <p:nvPr/>
        </p:nvSpPr>
        <p:spPr>
          <a:xfrm>
            <a:off x="6547104" y="5628132"/>
            <a:ext cx="182880" cy="182880"/>
          </a:xfrm>
          <a:prstGeom prst="ellipse">
            <a:avLst/>
          </a:prstGeom>
          <a:solidFill>
            <a:schemeClr val="accent1"/>
          </a:solidFill>
          <a:ln/>
        </p:spPr>
      </p:sp>
      <p:sp>
        <p:nvSpPr>
          <p:cNvPr id="30" name="Text 26"/>
          <p:cNvSpPr txBox="1"/>
          <p:nvPr/>
        </p:nvSpPr>
        <p:spPr>
          <a:xfrm>
            <a:off x="6912864" y="5376672"/>
            <a:ext cx="4453128" cy="685800"/>
          </a:xfrm>
          <a:prstGeom prst="rect">
            <a:avLst/>
          </a:prstGeom>
          <a:noFill/>
          <a:ln/>
        </p:spPr>
        <p:txBody>
          <a:bodyPr wrap="square" lIns="0" tIns="0" rIns="0" bIns="0" rtlCol="0" anchor="ctr"/>
          <a:lstStyle/>
          <a:p>
            <a:pPr indent="0" marL="0">
              <a:buNone/>
            </a:pPr>
            <a:r>
              <a:rPr lang="en-US" sz="1500" dirty="0">
                <a:solidFill>
                  <a:schemeClr val="tx1"/>
                </a:solidFill>
              </a:rPr>
              <a:t>Consider appropriate clinical validation before any real-world use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800" b="1" dirty="0">
                <a:solidFill>
                  <a:schemeClr val="bg1"/>
                </a:solidFill>
              </a:rPr>
              <a:t>Conclusion</a:t>
            </a:r>
            <a:endParaRPr lang="en-US" sz="3800" dirty="0"/>
          </a:p>
        </p:txBody>
      </p:sp>
      <p:sp>
        <p:nvSpPr>
          <p:cNvPr id="3" name="Summary row 1"/>
          <p:cNvSpPr/>
          <p:nvPr/>
        </p:nvSpPr>
        <p:spPr>
          <a:xfrm>
            <a:off x="548640" y="1554480"/>
            <a:ext cx="5943600" cy="1325880"/>
          </a:xfrm>
          <a:prstGeom prst="roundRect">
            <a:avLst>
              <a:gd name="adj" fmla="val 8276"/>
            </a:avLst>
          </a:prstGeom>
          <a:solidFill>
            <a:schemeClr val="tx2"/>
          </a:solidFill>
          <a:ln/>
        </p:spPr>
      </p:sp>
      <p:sp>
        <p:nvSpPr>
          <p:cNvPr id="4" name="Icon circle FaClipboardCheck"/>
          <p:cNvSpPr/>
          <p:nvPr/>
        </p:nvSpPr>
        <p:spPr>
          <a:xfrm>
            <a:off x="822960" y="1901952"/>
            <a:ext cx="640080" cy="640080"/>
          </a:xfrm>
          <a:prstGeom prst="ellipse">
            <a:avLst/>
          </a:prstGeom>
          <a:solidFill>
            <a:schemeClr val="accent1"/>
          </a:solidFill>
          <a:ln/>
        </p:spPr>
      </p:sp>
      <p:pic>
        <p:nvPicPr>
          <p:cNvPr id="5" name="Image 0" descr="ClipboardCheck icon">    </p:cNvPr>
          <p:cNvPicPr>
            <a:picLocks noChangeAspect="1"/>
          </p:cNvPicPr>
          <p:nvPr/>
        </p:nvPicPr>
        <p:blipFill>
          <a:blip r:embed="rId1"/>
          <a:stretch>
            <a:fillRect/>
          </a:stretch>
        </p:blipFill>
        <p:spPr>
          <a:xfrm>
            <a:off x="982980" y="2061972"/>
            <a:ext cx="320040" cy="320040"/>
          </a:xfrm>
          <a:prstGeom prst="rect">
            <a:avLst/>
          </a:prstGeom>
        </p:spPr>
      </p:pic>
      <p:sp>
        <p:nvSpPr>
          <p:cNvPr id="6" name="Text 3"/>
          <p:cNvSpPr txBox="1"/>
          <p:nvPr/>
        </p:nvSpPr>
        <p:spPr>
          <a:xfrm>
            <a:off x="1783080" y="1810512"/>
            <a:ext cx="4480560" cy="411480"/>
          </a:xfrm>
          <a:prstGeom prst="rect">
            <a:avLst/>
          </a:prstGeom>
          <a:noFill/>
          <a:ln/>
        </p:spPr>
        <p:txBody>
          <a:bodyPr wrap="square" lIns="0" tIns="0" rIns="0" bIns="0" rtlCol="0" anchor="t"/>
          <a:lstStyle/>
          <a:p>
            <a:pPr indent="0" marL="0">
              <a:buNone/>
            </a:pPr>
            <a:r>
              <a:rPr lang="en-US" sz="2100" b="1" dirty="0">
                <a:solidFill>
                  <a:schemeClr val="bg1"/>
                </a:solidFill>
              </a:rPr>
              <a:t>Completed ML workflow</a:t>
            </a:r>
            <a:endParaRPr lang="en-US" sz="2100" dirty="0"/>
          </a:p>
        </p:txBody>
      </p:sp>
      <p:sp>
        <p:nvSpPr>
          <p:cNvPr id="7" name="Text 4"/>
          <p:cNvSpPr txBox="1"/>
          <p:nvPr/>
        </p:nvSpPr>
        <p:spPr>
          <a:xfrm>
            <a:off x="1783080" y="2267712"/>
            <a:ext cx="4480560" cy="457200"/>
          </a:xfrm>
          <a:prstGeom prst="rect">
            <a:avLst/>
          </a:prstGeom>
          <a:noFill/>
          <a:ln/>
        </p:spPr>
        <p:txBody>
          <a:bodyPr wrap="square" lIns="0" tIns="0" rIns="0" bIns="0" rtlCol="0" anchor="t"/>
          <a:lstStyle/>
          <a:p>
            <a:pPr indent="0" marL="0">
              <a:buNone/>
            </a:pPr>
            <a:r>
              <a:rPr lang="en-US" sz="1500" dirty="0">
                <a:solidFill>
                  <a:schemeClr val="accent2"/>
                </a:solidFill>
              </a:rPr>
              <a:t>Data preparation, training and evaluation</a:t>
            </a:r>
            <a:endParaRPr lang="en-US" sz="1500" dirty="0"/>
          </a:p>
        </p:txBody>
      </p:sp>
      <p:sp>
        <p:nvSpPr>
          <p:cNvPr id="8" name="Summary row 2"/>
          <p:cNvSpPr/>
          <p:nvPr/>
        </p:nvSpPr>
        <p:spPr>
          <a:xfrm>
            <a:off x="548640" y="3063240"/>
            <a:ext cx="5943600" cy="1325880"/>
          </a:xfrm>
          <a:prstGeom prst="roundRect">
            <a:avLst>
              <a:gd name="adj" fmla="val 8276"/>
            </a:avLst>
          </a:prstGeom>
          <a:solidFill>
            <a:schemeClr val="tx2"/>
          </a:solidFill>
          <a:ln/>
        </p:spPr>
      </p:sp>
      <p:sp>
        <p:nvSpPr>
          <p:cNvPr id="9" name="Icon circle FaBalanceScale"/>
          <p:cNvSpPr/>
          <p:nvPr/>
        </p:nvSpPr>
        <p:spPr>
          <a:xfrm>
            <a:off x="822960" y="3410712"/>
            <a:ext cx="640080" cy="640080"/>
          </a:xfrm>
          <a:prstGeom prst="ellipse">
            <a:avLst/>
          </a:prstGeom>
          <a:solidFill>
            <a:schemeClr val="accent1"/>
          </a:solidFill>
          <a:ln/>
        </p:spPr>
      </p:sp>
      <p:pic>
        <p:nvPicPr>
          <p:cNvPr id="10" name="Image 1" descr="BalanceScale icon">    </p:cNvPr>
          <p:cNvPicPr>
            <a:picLocks noChangeAspect="1"/>
          </p:cNvPicPr>
          <p:nvPr/>
        </p:nvPicPr>
        <p:blipFill>
          <a:blip r:embed="rId2"/>
          <a:stretch>
            <a:fillRect/>
          </a:stretch>
        </p:blipFill>
        <p:spPr>
          <a:xfrm>
            <a:off x="982980" y="3570732"/>
            <a:ext cx="320040" cy="320040"/>
          </a:xfrm>
          <a:prstGeom prst="rect">
            <a:avLst/>
          </a:prstGeom>
        </p:spPr>
      </p:pic>
      <p:sp>
        <p:nvSpPr>
          <p:cNvPr id="11" name="Text 7"/>
          <p:cNvSpPr txBox="1"/>
          <p:nvPr/>
        </p:nvSpPr>
        <p:spPr>
          <a:xfrm>
            <a:off x="1783080" y="3319272"/>
            <a:ext cx="4480560" cy="411480"/>
          </a:xfrm>
          <a:prstGeom prst="rect">
            <a:avLst/>
          </a:prstGeom>
          <a:noFill/>
          <a:ln/>
        </p:spPr>
        <p:txBody>
          <a:bodyPr wrap="square" lIns="0" tIns="0" rIns="0" bIns="0" rtlCol="0" anchor="t"/>
          <a:lstStyle/>
          <a:p>
            <a:pPr indent="0" marL="0">
              <a:buNone/>
            </a:pPr>
            <a:r>
              <a:rPr lang="en-US" sz="2100" b="1" dirty="0">
                <a:solidFill>
                  <a:schemeClr val="bg1"/>
                </a:solidFill>
              </a:rPr>
              <a:t>Two trained models compared</a:t>
            </a:r>
            <a:endParaRPr lang="en-US" sz="2100" dirty="0"/>
          </a:p>
        </p:txBody>
      </p:sp>
      <p:sp>
        <p:nvSpPr>
          <p:cNvPr id="12" name="Text 8"/>
          <p:cNvSpPr txBox="1"/>
          <p:nvPr/>
        </p:nvSpPr>
        <p:spPr>
          <a:xfrm>
            <a:off x="1783080" y="3776472"/>
            <a:ext cx="4480560" cy="457200"/>
          </a:xfrm>
          <a:prstGeom prst="rect">
            <a:avLst/>
          </a:prstGeom>
          <a:noFill/>
          <a:ln/>
        </p:spPr>
        <p:txBody>
          <a:bodyPr wrap="square" lIns="0" tIns="0" rIns="0" bIns="0" rtlCol="0" anchor="t"/>
          <a:lstStyle/>
          <a:p>
            <a:pPr indent="0" marL="0">
              <a:buNone/>
            </a:pPr>
            <a:r>
              <a:rPr lang="en-US" sz="1500" dirty="0">
                <a:solidFill>
                  <a:schemeClr val="accent2"/>
                </a:solidFill>
              </a:rPr>
              <a:t>Logistic Regression and Random Forest</a:t>
            </a:r>
            <a:endParaRPr lang="en-US" sz="1500" dirty="0"/>
          </a:p>
        </p:txBody>
      </p:sp>
      <p:sp>
        <p:nvSpPr>
          <p:cNvPr id="13" name="Summary row 3"/>
          <p:cNvSpPr/>
          <p:nvPr/>
        </p:nvSpPr>
        <p:spPr>
          <a:xfrm>
            <a:off x="548640" y="4572000"/>
            <a:ext cx="5943600" cy="1325880"/>
          </a:xfrm>
          <a:prstGeom prst="roundRect">
            <a:avLst>
              <a:gd name="adj" fmla="val 8276"/>
            </a:avLst>
          </a:prstGeom>
          <a:solidFill>
            <a:schemeClr val="tx2"/>
          </a:solidFill>
          <a:ln/>
        </p:spPr>
      </p:sp>
      <p:sp>
        <p:nvSpPr>
          <p:cNvPr id="14" name="Icon circle FaDesktop"/>
          <p:cNvSpPr/>
          <p:nvPr/>
        </p:nvSpPr>
        <p:spPr>
          <a:xfrm>
            <a:off x="822960" y="4919472"/>
            <a:ext cx="640080" cy="640080"/>
          </a:xfrm>
          <a:prstGeom prst="ellipse">
            <a:avLst/>
          </a:prstGeom>
          <a:solidFill>
            <a:schemeClr val="accent1"/>
          </a:solidFill>
          <a:ln/>
        </p:spPr>
      </p:sp>
      <p:pic>
        <p:nvPicPr>
          <p:cNvPr id="15" name="Image 2" descr="Desktop icon">    </p:cNvPr>
          <p:cNvPicPr>
            <a:picLocks noChangeAspect="1"/>
          </p:cNvPicPr>
          <p:nvPr/>
        </p:nvPicPr>
        <p:blipFill>
          <a:blip r:embed="rId3"/>
          <a:stretch>
            <a:fillRect/>
          </a:stretch>
        </p:blipFill>
        <p:spPr>
          <a:xfrm>
            <a:off x="982980" y="5079492"/>
            <a:ext cx="320040" cy="320040"/>
          </a:xfrm>
          <a:prstGeom prst="rect">
            <a:avLst/>
          </a:prstGeom>
        </p:spPr>
      </p:pic>
      <p:sp>
        <p:nvSpPr>
          <p:cNvPr id="16" name="Text 11"/>
          <p:cNvSpPr txBox="1"/>
          <p:nvPr/>
        </p:nvSpPr>
        <p:spPr>
          <a:xfrm>
            <a:off x="1783080" y="4828032"/>
            <a:ext cx="4480560" cy="411480"/>
          </a:xfrm>
          <a:prstGeom prst="rect">
            <a:avLst/>
          </a:prstGeom>
          <a:noFill/>
          <a:ln/>
        </p:spPr>
        <p:txBody>
          <a:bodyPr wrap="square" lIns="0" tIns="0" rIns="0" bIns="0" rtlCol="0" anchor="t"/>
          <a:lstStyle/>
          <a:p>
            <a:pPr indent="0" marL="0">
              <a:buNone/>
            </a:pPr>
            <a:r>
              <a:rPr lang="en-US" sz="2100" b="1" dirty="0">
                <a:solidFill>
                  <a:schemeClr val="bg1"/>
                </a:solidFill>
              </a:rPr>
              <a:t>Interactive Streamlit app</a:t>
            </a:r>
            <a:endParaRPr lang="en-US" sz="2100" dirty="0"/>
          </a:p>
        </p:txBody>
      </p:sp>
      <p:sp>
        <p:nvSpPr>
          <p:cNvPr id="17" name="Text 12"/>
          <p:cNvSpPr txBox="1"/>
          <p:nvPr/>
        </p:nvSpPr>
        <p:spPr>
          <a:xfrm>
            <a:off x="1783080" y="5285232"/>
            <a:ext cx="4480560" cy="457200"/>
          </a:xfrm>
          <a:prstGeom prst="rect">
            <a:avLst/>
          </a:prstGeom>
          <a:noFill/>
          <a:ln/>
        </p:spPr>
        <p:txBody>
          <a:bodyPr wrap="square" lIns="0" tIns="0" rIns="0" bIns="0" rtlCol="0" anchor="t"/>
          <a:lstStyle/>
          <a:p>
            <a:pPr indent="0" marL="0">
              <a:buNone/>
            </a:pPr>
            <a:r>
              <a:rPr lang="en-US" sz="1500" dirty="0">
                <a:solidFill>
                  <a:schemeClr val="accent2"/>
                </a:solidFill>
              </a:rPr>
              <a:t>Prediction, probability and “Compare Both”</a:t>
            </a:r>
            <a:endParaRPr lang="en-US" sz="1500" dirty="0"/>
          </a:p>
        </p:txBody>
      </p:sp>
      <p:sp>
        <p:nvSpPr>
          <p:cNvPr id="18" name="Thank you card"/>
          <p:cNvSpPr/>
          <p:nvPr/>
        </p:nvSpPr>
        <p:spPr>
          <a:xfrm>
            <a:off x="6858000" y="1554480"/>
            <a:ext cx="4782312" cy="4343400"/>
          </a:xfrm>
          <a:prstGeom prst="roundRect">
            <a:avLst>
              <a:gd name="adj" fmla="val 2526"/>
            </a:avLst>
          </a:prstGeom>
          <a:solidFill>
            <a:schemeClr val="tx2"/>
          </a:solidFill>
          <a:ln/>
        </p:spPr>
      </p:sp>
      <p:sp>
        <p:nvSpPr>
          <p:cNvPr id="19" name="Icon circle FaHandHoldingHeart"/>
          <p:cNvSpPr/>
          <p:nvPr/>
        </p:nvSpPr>
        <p:spPr>
          <a:xfrm>
            <a:off x="8837676" y="1874520"/>
            <a:ext cx="822960" cy="822960"/>
          </a:xfrm>
          <a:prstGeom prst="ellipse">
            <a:avLst/>
          </a:prstGeom>
          <a:solidFill>
            <a:schemeClr val="accent1"/>
          </a:solidFill>
          <a:ln/>
        </p:spPr>
      </p:sp>
      <p:pic>
        <p:nvPicPr>
          <p:cNvPr id="20" name="Image 3" descr="HandHoldingHeart icon">    </p:cNvPr>
          <p:cNvPicPr>
            <a:picLocks noChangeAspect="1"/>
          </p:cNvPicPr>
          <p:nvPr/>
        </p:nvPicPr>
        <p:blipFill>
          <a:blip r:embed="rId4"/>
          <a:stretch>
            <a:fillRect/>
          </a:stretch>
        </p:blipFill>
        <p:spPr>
          <a:xfrm>
            <a:off x="9043416" y="2080260"/>
            <a:ext cx="411480" cy="411480"/>
          </a:xfrm>
          <a:prstGeom prst="rect">
            <a:avLst/>
          </a:prstGeom>
        </p:spPr>
      </p:pic>
      <p:sp>
        <p:nvSpPr>
          <p:cNvPr id="21" name="Text 15"/>
          <p:cNvSpPr txBox="1"/>
          <p:nvPr/>
        </p:nvSpPr>
        <p:spPr>
          <a:xfrm>
            <a:off x="6858000" y="2926080"/>
            <a:ext cx="4782312" cy="1005840"/>
          </a:xfrm>
          <a:prstGeom prst="rect">
            <a:avLst/>
          </a:prstGeom>
          <a:noFill/>
          <a:ln/>
        </p:spPr>
        <p:txBody>
          <a:bodyPr wrap="square" lIns="0" tIns="0" rIns="0" bIns="0" rtlCol="0" anchor="ctr"/>
          <a:lstStyle/>
          <a:p>
            <a:pPr algn="ctr" indent="0" marL="0">
              <a:buNone/>
            </a:pPr>
            <a:r>
              <a:rPr lang="en-US" sz="5400" b="1" dirty="0">
                <a:solidFill>
                  <a:schemeClr val="bg1"/>
                </a:solidFill>
              </a:rPr>
              <a:t>Thank You</a:t>
            </a:r>
            <a:endParaRPr lang="en-US" sz="5400" dirty="0"/>
          </a:p>
        </p:txBody>
      </p:sp>
      <p:sp>
        <p:nvSpPr>
          <p:cNvPr id="22" name="Text 16"/>
          <p:cNvSpPr txBox="1"/>
          <p:nvPr/>
        </p:nvSpPr>
        <p:spPr>
          <a:xfrm>
            <a:off x="6858000" y="4023360"/>
            <a:ext cx="4782312" cy="640080"/>
          </a:xfrm>
          <a:prstGeom prst="rect">
            <a:avLst/>
          </a:prstGeom>
          <a:noFill/>
          <a:ln/>
        </p:spPr>
        <p:txBody>
          <a:bodyPr wrap="square" lIns="0" tIns="0" rIns="0" bIns="0" rtlCol="0" anchor="ctr"/>
          <a:lstStyle/>
          <a:p>
            <a:pPr algn="ctr" indent="0" marL="0">
              <a:buNone/>
            </a:pPr>
            <a:r>
              <a:rPr lang="en-US" sz="2800" b="1" dirty="0">
                <a:solidFill>
                  <a:schemeClr val="accent2"/>
                </a:solidFill>
              </a:rPr>
              <a:t>Questions &amp; Answers</a:t>
            </a:r>
            <a:endParaRPr lang="en-US" sz="2800" dirty="0"/>
          </a:p>
        </p:txBody>
      </p:sp>
      <p:sp>
        <p:nvSpPr>
          <p:cNvPr id="23" name="Text 17"/>
          <p:cNvSpPr txBox="1"/>
          <p:nvPr/>
        </p:nvSpPr>
        <p:spPr>
          <a:xfrm>
            <a:off x="6858000" y="4846320"/>
            <a:ext cx="4782312" cy="365760"/>
          </a:xfrm>
          <a:prstGeom prst="rect">
            <a:avLst/>
          </a:prstGeom>
          <a:noFill/>
          <a:ln/>
        </p:spPr>
        <p:txBody>
          <a:bodyPr wrap="square" lIns="0" tIns="0" rIns="0" bIns="0" rtlCol="0" anchor="ctr"/>
          <a:lstStyle/>
          <a:p>
            <a:pPr algn="ctr" indent="0" marL="0">
              <a:buNone/>
            </a:pPr>
            <a:r>
              <a:rPr lang="en-US" sz="1400" b="1" spc="300" kern="0" dirty="0">
                <a:solidFill>
                  <a:schemeClr val="bg2"/>
                </a:solidFill>
              </a:rPr>
              <a:t>SECTION 9</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theme/theme1.xml><?xml version="1.0" encoding="utf-8"?>
<a:theme xmlns:a="http://schemas.openxmlformats.org/drawingml/2006/main" name="Healthcare AI Navy Teal">
  <a:themeElements>
    <a:clrScheme name="Healthcare AI Navy Teal">
      <a:dk1>
        <a:srgbClr val="0B1F3A"/>
      </a:dk1>
      <a:lt1>
        <a:srgbClr val="FFFFFF"/>
      </a:lt1>
      <a:dk2>
        <a:srgbClr val="12335B"/>
      </a:dk2>
      <a:lt2>
        <a:srgbClr val="EEF5F9"/>
      </a:lt2>
      <a:accent1>
        <a:srgbClr val="14B8A6"/>
      </a:accent1>
      <a:accent2>
        <a:srgbClr val="22D3EE"/>
      </a:accent2>
      <a:accent3>
        <a:srgbClr val="3B82F6"/>
      </a:accent3>
      <a:accent4>
        <a:srgbClr val="F59E0B"/>
      </a:accent4>
      <a:accent5>
        <a:srgbClr val="64748B"/>
      </a:accent5>
      <a:accent6>
        <a:srgbClr val="0E7490"/>
      </a:accent6>
      <a:hlink>
        <a:srgbClr val="0E7490"/>
      </a:hlink>
      <a:folHlink>
        <a:srgbClr val="64748B"/>
      </a:folHlink>
    </a:clrScheme>
    <a:fontScheme name="Healthcare AI Navy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Risk Prediction Using Machine Learning</dc:title>
  <dc:subject>College project demonstration - Section 9</dc:subject>
  <dc:creator>Jaswanth Bhaskar, Deepak</dc:creator>
  <cp:lastModifiedBy>Jaswanth Bhaskar, Deepak</cp:lastModifiedBy>
  <cp:revision>1</cp:revision>
  <dcterms:created xsi:type="dcterms:W3CDTF">2026-10-13T05:31:53Z</dcterms:created>
  <dcterms:modified xsi:type="dcterms:W3CDTF">2026-10-13T05:31:53Z</dcterms:modified>
</cp:coreProperties>
</file>